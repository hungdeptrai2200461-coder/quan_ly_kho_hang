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8" r:id="rId3"/>
    <p:sldId id="275" r:id="rId4"/>
    <p:sldId id="280" r:id="rId5"/>
    <p:sldId id="281" r:id="rId6"/>
    <p:sldId id="282" r:id="rId7"/>
    <p:sldId id="260" r:id="rId8"/>
    <p:sldId id="267" r:id="rId9"/>
    <p:sldId id="276" r:id="rId10"/>
    <p:sldId id="283" r:id="rId11"/>
    <p:sldId id="277" r:id="rId12"/>
    <p:sldId id="259" r:id="rId13"/>
    <p:sldId id="284" r:id="rId14"/>
    <p:sldId id="285" r:id="rId15"/>
    <p:sldId id="286" r:id="rId16"/>
    <p:sldId id="287" r:id="rId17"/>
    <p:sldId id="288" r:id="rId18"/>
    <p:sldId id="289" r:id="rId19"/>
    <p:sldId id="274" r:id="rId20"/>
    <p:sldId id="264" r:id="rId21"/>
    <p:sldId id="279" r:id="rId22"/>
    <p:sldId id="292" r:id="rId23"/>
    <p:sldId id="293" r:id="rId24"/>
    <p:sldId id="294" r:id="rId25"/>
    <p:sldId id="295" r:id="rId26"/>
    <p:sldId id="290" r:id="rId27"/>
    <p:sldId id="291" r:id="rId28"/>
    <p:sldId id="296" r:id="rId29"/>
    <p:sldId id="297" r:id="rId30"/>
    <p:sldId id="272" r:id="rId31"/>
    <p:sldId id="273" r:id="rId32"/>
    <p:sldId id="298" r:id="rId33"/>
    <p:sldId id="299" r:id="rId34"/>
    <p:sldId id="300" r:id="rId35"/>
    <p:sldId id="301" r:id="rId36"/>
    <p:sldId id="302" r:id="rId37"/>
    <p:sldId id="303" r:id="rId38"/>
    <p:sldId id="304" r:id="rId39"/>
    <p:sldId id="305" r:id="rId40"/>
    <p:sldId id="306" r:id="rId41"/>
    <p:sldId id="307" r:id="rId42"/>
    <p:sldId id="308" r:id="rId43"/>
    <p:sldId id="278" r:id="rId4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uân" initials="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7B755"/>
    <a:srgbClr val="F7B855"/>
    <a:srgbClr val="F6B54D"/>
    <a:srgbClr val="F9CB83"/>
    <a:srgbClr val="F8C779"/>
    <a:srgbClr val="FBE0B6"/>
    <a:srgbClr val="076BB6"/>
    <a:srgbClr val="F8C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p:scale>
          <a:sx n="75" d="100"/>
          <a:sy n="75" d="100"/>
        </p:scale>
        <p:origin x="811" y="216"/>
      </p:cViewPr>
      <p:guideLst/>
    </p:cSldViewPr>
  </p:slideViewPr>
  <p:notesTextViewPr>
    <p:cViewPr>
      <p:scale>
        <a:sx n="1" d="1"/>
        <a:sy n="1" d="1"/>
      </p:scale>
      <p:origin x="0" y="0"/>
    </p:cViewPr>
  </p:notesTextViewPr>
  <p:notesViewPr>
    <p:cSldViewPr snapToGrid="0">
      <p:cViewPr varScale="1">
        <p:scale>
          <a:sx n="87" d="100"/>
          <a:sy n="87" d="100"/>
        </p:scale>
        <p:origin x="298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C5EDC9-480A-40FE-BB02-1B041B0D8ECD}" type="datetimeFigureOut">
              <a:rPr lang="en-US" smtClean="0"/>
              <a:t>1/18/2026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30458-49A6-4B90-BF64-AB69EC26C48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90563" y="1730420"/>
            <a:ext cx="8035636" cy="1779398"/>
          </a:xfrm>
          <a:prstGeom prst="rect">
            <a:avLst/>
          </a:prstGeom>
        </p:spPr>
        <p:txBody>
          <a:bodyPr anchor="ctr">
            <a:normAutofit/>
          </a:bodyPr>
          <a:lstStyle>
            <a:lvl1pPr algn="ctr">
              <a:defRPr sz="3600" b="1">
                <a:solidFill>
                  <a:srgbClr val="C00000"/>
                </a:solidFill>
                <a:latin typeface="Times New Roman" panose="02020603050405020304" pitchFamily="18" charset="0"/>
                <a:cs typeface="Times New Roman" panose="02020603050405020304" pitchFamily="18" charset="0"/>
              </a:defRPr>
            </a:lvl1pPr>
          </a:lstStyle>
          <a:p>
            <a:r>
              <a:rPr lang="en-US" dirty="0"/>
              <a:t>XÂY DỰNG ỨNG DỤNG QUẢN LÝ KHO HÀNG</a:t>
            </a:r>
            <a:endParaRPr lang="vi-VN" dirty="0"/>
          </a:p>
        </p:txBody>
      </p:sp>
      <p:sp>
        <p:nvSpPr>
          <p:cNvPr id="3" name="Subtitle 2"/>
          <p:cNvSpPr>
            <a:spLocks noGrp="1"/>
          </p:cNvSpPr>
          <p:nvPr>
            <p:ph type="subTitle" idx="1" hasCustomPrompt="1"/>
          </p:nvPr>
        </p:nvSpPr>
        <p:spPr>
          <a:xfrm>
            <a:off x="3051111" y="4107875"/>
            <a:ext cx="7772399" cy="2228267"/>
          </a:xfrm>
          <a:prstGeom prst="rect">
            <a:avLst/>
          </a:prstGeom>
        </p:spPr>
        <p:txBody>
          <a:bodyPr>
            <a:normAutofit/>
          </a:bodyPr>
          <a:lstStyle>
            <a:lvl1pPr marL="0" indent="0" algn="l">
              <a:buNone/>
              <a:defRPr sz="2200">
                <a:solidFill>
                  <a:schemeClr val="accent5">
                    <a:lumMod val="50000"/>
                  </a:schemeClr>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Giảng</a:t>
            </a:r>
            <a:r>
              <a:rPr lang="en-US" dirty="0"/>
              <a:t> </a:t>
            </a:r>
            <a:r>
              <a:rPr lang="en-US" dirty="0" err="1"/>
              <a:t>viên</a:t>
            </a:r>
            <a:r>
              <a:rPr lang="en-US" dirty="0"/>
              <a:t> </a:t>
            </a:r>
            <a:r>
              <a:rPr lang="en-US" dirty="0" err="1"/>
              <a:t>hướng</a:t>
            </a:r>
            <a:r>
              <a:rPr lang="en-US" dirty="0"/>
              <a:t> </a:t>
            </a:r>
            <a:r>
              <a:rPr lang="en-US" dirty="0" err="1"/>
              <a:t>dẫn</a:t>
            </a:r>
            <a:r>
              <a:rPr lang="en-US" dirty="0"/>
              <a:t>: </a:t>
            </a:r>
            <a:r>
              <a:rPr lang="en-US" dirty="0" err="1"/>
              <a:t>ThS.Ngô</a:t>
            </a:r>
            <a:r>
              <a:rPr lang="en-US" dirty="0"/>
              <a:t> </a:t>
            </a:r>
            <a:r>
              <a:rPr lang="en-US" dirty="0" err="1"/>
              <a:t>Thị</a:t>
            </a:r>
            <a:r>
              <a:rPr lang="en-US" dirty="0"/>
              <a:t> Lan</a:t>
            </a:r>
          </a:p>
          <a:p>
            <a:r>
              <a:rPr lang="en-US" dirty="0" err="1"/>
              <a:t>Họ</a:t>
            </a:r>
            <a:r>
              <a:rPr lang="en-US" dirty="0"/>
              <a:t> </a:t>
            </a:r>
            <a:r>
              <a:rPr lang="en-US" dirty="0" err="1"/>
              <a:t>và</a:t>
            </a:r>
            <a:r>
              <a:rPr lang="en-US" dirty="0"/>
              <a:t> </a:t>
            </a:r>
            <a:r>
              <a:rPr lang="en-US" dirty="0" err="1"/>
              <a:t>tên</a:t>
            </a:r>
            <a:r>
              <a:rPr lang="en-US" dirty="0"/>
              <a:t>: Cao Văn </a:t>
            </a:r>
            <a:r>
              <a:rPr lang="en-US" dirty="0" err="1"/>
              <a:t>Hưng</a:t>
            </a:r>
            <a:endParaRPr lang="en-US" dirty="0"/>
          </a:p>
          <a:p>
            <a:r>
              <a:rPr lang="en-US" dirty="0" err="1"/>
              <a:t>Mã</a:t>
            </a:r>
            <a:r>
              <a:rPr lang="en-US" dirty="0"/>
              <a:t> </a:t>
            </a:r>
            <a:r>
              <a:rPr lang="en-US" dirty="0" err="1"/>
              <a:t>sinh</a:t>
            </a:r>
            <a:r>
              <a:rPr lang="en-US" dirty="0"/>
              <a:t> </a:t>
            </a:r>
            <a:r>
              <a:rPr lang="en-US" dirty="0" err="1"/>
              <a:t>viên</a:t>
            </a:r>
            <a:r>
              <a:rPr lang="en-US" dirty="0"/>
              <a:t>: 2200461</a:t>
            </a:r>
          </a:p>
          <a:p>
            <a:r>
              <a:rPr lang="en-US" dirty="0" err="1"/>
              <a:t>Lớp</a:t>
            </a:r>
            <a:r>
              <a:rPr lang="en-US" dirty="0"/>
              <a:t>: K4618-CNTT1</a:t>
            </a:r>
          </a:p>
          <a:p>
            <a:r>
              <a:rPr lang="en-US" dirty="0" err="1"/>
              <a:t>Năm</a:t>
            </a:r>
            <a:r>
              <a:rPr lang="en-US" dirty="0"/>
              <a:t> </a:t>
            </a:r>
            <a:r>
              <a:rPr lang="en-US" dirty="0" err="1"/>
              <a:t>học</a:t>
            </a:r>
            <a:r>
              <a:rPr lang="en-US"/>
              <a:t>: 2025-2026</a:t>
            </a:r>
            <a:endParaRPr lang="vi-VN" dirty="0"/>
          </a:p>
        </p:txBody>
      </p:sp>
      <p:cxnSp>
        <p:nvCxnSpPr>
          <p:cNvPr id="7" name="Straight Connector 6"/>
          <p:cNvCxnSpPr/>
          <p:nvPr userDrawn="1"/>
        </p:nvCxnSpPr>
        <p:spPr>
          <a:xfrm>
            <a:off x="3051111" y="3808846"/>
            <a:ext cx="8680984"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sp>
        <p:nvSpPr>
          <p:cNvPr id="9" name="TextBox 8"/>
          <p:cNvSpPr txBox="1"/>
          <p:nvPr userDrawn="1"/>
        </p:nvSpPr>
        <p:spPr>
          <a:xfrm>
            <a:off x="3924449" y="1053311"/>
            <a:ext cx="7367865" cy="677108"/>
          </a:xfrm>
          <a:prstGeom prst="rect">
            <a:avLst/>
          </a:prstGeom>
          <a:noFill/>
        </p:spPr>
        <p:txBody>
          <a:bodyPr wrap="square" rtlCol="0">
            <a:spAutoFit/>
          </a:bodyPr>
          <a:lstStyle/>
          <a:p>
            <a:pPr algn="ctr"/>
            <a:r>
              <a:rPr lang="en-US" sz="3800" b="1" dirty="0">
                <a:latin typeface="Times New Roman" panose="02020603050405020304" pitchFamily="18" charset="0"/>
                <a:cs typeface="Times New Roman" panose="02020603050405020304" pitchFamily="18" charset="0"/>
              </a:rPr>
              <a:t>ĐỒ ÁN HỌC PHẦN 2</a:t>
            </a:r>
            <a:endParaRPr lang="vi-VN" sz="3800" b="1"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a:prstGeom prst="rect">
            <a:avLst/>
          </a:prstGeom>
        </p:spPr>
        <p:txBody>
          <a:bodyPr>
            <a:normAutofit/>
          </a:bodyPr>
          <a:lstStyle>
            <a:lvl1pPr>
              <a:defRPr sz="3600" b="1">
                <a:solidFill>
                  <a:srgbClr val="C00000"/>
                </a:solidFill>
                <a:latin typeface="Times New Roman" panose="02020603050405020304" pitchFamily="18" charset="0"/>
                <a:ea typeface="Cambria" panose="02040503050406030204" pitchFamily="18" charset="0"/>
                <a:cs typeface="Times New Roman" panose="02020603050405020304" pitchFamily="18" charset="0"/>
              </a:defRPr>
            </a:lvl1pPr>
          </a:lstStyle>
          <a:p>
            <a:r>
              <a:rPr lang="en-US"/>
              <a:t>Click to edit Master title style</a:t>
            </a:r>
            <a:endParaRPr lang="vi-VN" dirty="0"/>
          </a:p>
        </p:txBody>
      </p:sp>
      <p:sp>
        <p:nvSpPr>
          <p:cNvPr id="3" name="Content Placeholder 2"/>
          <p:cNvSpPr>
            <a:spLocks noGrp="1"/>
          </p:cNvSpPr>
          <p:nvPr>
            <p:ph idx="1"/>
          </p:nvPr>
        </p:nvSpPr>
        <p:spPr>
          <a:xfrm>
            <a:off x="838200" y="885720"/>
            <a:ext cx="11008807" cy="5191230"/>
          </a:xfrm>
          <a:prstGeom prst="rect">
            <a:avLst/>
          </a:prstGeom>
        </p:spPr>
        <p:txBody>
          <a:bodyPr/>
          <a:lstStyle>
            <a:lvl1pPr marL="228600" indent="-228600">
              <a:buClr>
                <a:schemeClr val="accent1">
                  <a:lumMod val="50000"/>
                </a:schemeClr>
              </a:buClr>
              <a:buFont typeface="Wingdings" panose="05000000000000000000" pitchFamily="2" charset="2"/>
              <a:buChar char="v"/>
              <a:defRPr sz="3000">
                <a:latin typeface="Times New Roman" panose="02020603050405020304" pitchFamily="18" charset="0"/>
                <a:cs typeface="Times New Roman" panose="02020603050405020304" pitchFamily="18" charset="0"/>
              </a:defRPr>
            </a:lvl1pPr>
            <a:lvl2pPr marL="685800" indent="-228600">
              <a:buClr>
                <a:schemeClr val="accent1">
                  <a:lumMod val="50000"/>
                </a:schemeClr>
              </a:buClr>
              <a:buFont typeface="Wingdings" panose="05000000000000000000" pitchFamily="2" charset="2"/>
              <a:buChar char="§"/>
              <a:defRPr sz="2700">
                <a:latin typeface="Times New Roman" panose="02020603050405020304" pitchFamily="18" charset="0"/>
                <a:cs typeface="Times New Roman" panose="02020603050405020304" pitchFamily="18" charset="0"/>
              </a:defRPr>
            </a:lvl2pPr>
            <a:lvl3pPr>
              <a:buClr>
                <a:schemeClr val="accent1">
                  <a:lumMod val="50000"/>
                </a:schemeClr>
              </a:buClr>
              <a:defRPr sz="2500">
                <a:latin typeface="Times New Roman" panose="02020603050405020304" pitchFamily="18" charset="0"/>
                <a:cs typeface="Times New Roman" panose="02020603050405020304" pitchFamily="18" charset="0"/>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Date Placeholder 3"/>
          <p:cNvSpPr>
            <a:spLocks noGrp="1"/>
          </p:cNvSpPr>
          <p:nvPr>
            <p:ph type="dt" sz="half" idx="10"/>
          </p:nvPr>
        </p:nvSpPr>
        <p:spPr>
          <a:xfrm>
            <a:off x="3930153" y="6422538"/>
            <a:ext cx="1557495" cy="365125"/>
          </a:xfrm>
          <a:prstGeom prst="rect">
            <a:avLst/>
          </a:prstGeom>
        </p:spPr>
        <p:txBody>
          <a:bodyPr/>
          <a:lstStyle/>
          <a:p>
            <a:fld id="{70370571-2BE2-4432-AD39-D90B30DCF8A9}" type="datetime1">
              <a:rPr lang="en-US" smtClean="0"/>
              <a:t>1/18/2026</a:t>
            </a:fld>
            <a:endParaRPr lang="en-US"/>
          </a:p>
        </p:txBody>
      </p:sp>
      <p:sp>
        <p:nvSpPr>
          <p:cNvPr id="5" name="Footer Placeholder 4"/>
          <p:cNvSpPr>
            <a:spLocks noGrp="1"/>
          </p:cNvSpPr>
          <p:nvPr>
            <p:ph type="ftr" sz="quarter" idx="11"/>
          </p:nvPr>
        </p:nvSpPr>
        <p:spPr>
          <a:xfrm>
            <a:off x="5932448" y="6422540"/>
            <a:ext cx="4659353" cy="365124"/>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822074" y="6422539"/>
            <a:ext cx="1024933" cy="365125"/>
          </a:xfrm>
          <a:prstGeom prst="rect">
            <a:avLst/>
          </a:prstGeom>
        </p:spPr>
        <p:txBody>
          <a:bodyPr/>
          <a:lstStyle>
            <a:lvl1pPr>
              <a:defRPr sz="1800" b="1"/>
            </a:lvl1pPr>
          </a:lstStyle>
          <a:p>
            <a:fld id="{7ABBADF3-30DB-48D9-82C9-3A079DF6858D}" type="slidenum">
              <a:rPr lang="en-US" smtClean="0"/>
              <a:t>‹#›</a:t>
            </a:fld>
            <a:endParaRPr lang="en-US"/>
          </a:p>
        </p:txBody>
      </p:sp>
      <p:cxnSp>
        <p:nvCxnSpPr>
          <p:cNvPr id="16" name="Straight Connector 15"/>
          <p:cNvCxnSpPr/>
          <p:nvPr userDrawn="1"/>
        </p:nvCxnSpPr>
        <p:spPr>
          <a:xfrm>
            <a:off x="838200" y="760845"/>
            <a:ext cx="11008807"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grpSp>
        <p:nvGrpSpPr>
          <p:cNvPr id="8" name="Group 7"/>
          <p:cNvGrpSpPr/>
          <p:nvPr userDrawn="1"/>
        </p:nvGrpSpPr>
        <p:grpSpPr>
          <a:xfrm>
            <a:off x="204906" y="6137005"/>
            <a:ext cx="11681839" cy="537916"/>
            <a:chOff x="204906" y="6137005"/>
            <a:chExt cx="11681839" cy="537916"/>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4906" y="6137005"/>
              <a:ext cx="573754" cy="537916"/>
            </a:xfrm>
            <a:prstGeom prst="rect">
              <a:avLst/>
            </a:prstGeom>
          </p:spPr>
        </p:pic>
        <p:cxnSp>
          <p:nvCxnSpPr>
            <p:cNvPr id="18" name="Straight Connector 17"/>
            <p:cNvCxnSpPr/>
            <p:nvPr userDrawn="1"/>
          </p:nvCxnSpPr>
          <p:spPr>
            <a:xfrm>
              <a:off x="3498745" y="6320830"/>
              <a:ext cx="8388000" cy="0"/>
            </a:xfrm>
            <a:prstGeom prst="line">
              <a:avLst/>
            </a:prstGeom>
            <a:ln w="57150">
              <a:solidFill>
                <a:srgbClr val="F7B755"/>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userDrawn="1"/>
          </p:nvSpPr>
          <p:spPr>
            <a:xfrm>
              <a:off x="764561" y="6170458"/>
              <a:ext cx="3771659" cy="469359"/>
            </a:xfrm>
            <a:prstGeom prst="rect">
              <a:avLst/>
            </a:prstGeom>
            <a:noFill/>
          </p:spPr>
          <p:txBody>
            <a:bodyPr wrap="square" rtlCol="0">
              <a:spAutoFit/>
            </a:bodyPr>
            <a:lstStyle/>
            <a:p>
              <a:r>
                <a:rPr lang="en-US" sz="1400" b="1" spc="-40" baseline="0" dirty="0">
                  <a:solidFill>
                    <a:srgbClr val="002060"/>
                  </a:solidFill>
                  <a:latin typeface="Times New Roman" panose="02020603050405020304" pitchFamily="18" charset="0"/>
                  <a:cs typeface="Times New Roman" panose="02020603050405020304" pitchFamily="18" charset="0"/>
                </a:rPr>
                <a:t>KHOA CÔNG NGHỆ THÔNG TIN</a:t>
              </a:r>
            </a:p>
            <a:p>
              <a:r>
                <a:rPr lang="en-US" sz="1050" b="1" spc="-20" baseline="0" dirty="0">
                  <a:solidFill>
                    <a:srgbClr val="002060"/>
                  </a:solidFill>
                  <a:latin typeface="Times New Roman" panose="02020603050405020304" pitchFamily="18" charset="0"/>
                  <a:cs typeface="Times New Roman" panose="02020603050405020304" pitchFamily="18" charset="0"/>
                </a:rPr>
                <a:t>FACULTY OF INFORMATION TECHNOLOGY</a:t>
              </a: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7408" y="1371598"/>
            <a:ext cx="7272808" cy="1306287"/>
          </a:xfrm>
          <a:prstGeom prst="rect">
            <a:avLst/>
          </a:prstGeom>
        </p:spPr>
        <p:txBody>
          <a:bodyPr anchor="b">
            <a:normAutofit/>
          </a:bodyPr>
          <a:lstStyle>
            <a:lvl1pPr>
              <a:defRPr sz="4000" b="1">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Text Placeholder 2"/>
          <p:cNvSpPr>
            <a:spLocks noGrp="1"/>
          </p:cNvSpPr>
          <p:nvPr>
            <p:ph type="body" idx="1"/>
          </p:nvPr>
        </p:nvSpPr>
        <p:spPr>
          <a:xfrm>
            <a:off x="767408" y="3197562"/>
            <a:ext cx="7272808" cy="1191558"/>
          </a:xfrm>
          <a:prstGeom prst="rect">
            <a:avLst/>
          </a:prstGeom>
        </p:spPr>
        <p:txBody>
          <a:bodyPr>
            <a:normAutofit/>
          </a:bodyPr>
          <a:lstStyle>
            <a:lvl1pPr marL="342900" indent="-342900">
              <a:buFont typeface="Arial" panose="020B0604020202020204" pitchFamily="34" charset="0"/>
              <a:buChar char="•"/>
              <a:defRPr sz="2600">
                <a:solidFill>
                  <a:schemeClr val="tx2">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5" name="Straight Connector 4"/>
          <p:cNvCxnSpPr/>
          <p:nvPr userDrawn="1"/>
        </p:nvCxnSpPr>
        <p:spPr>
          <a:xfrm>
            <a:off x="767408" y="2885342"/>
            <a:ext cx="7272808"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grpSp>
        <p:nvGrpSpPr>
          <p:cNvPr id="4" name="Group 3"/>
          <p:cNvGrpSpPr/>
          <p:nvPr userDrawn="1"/>
        </p:nvGrpSpPr>
        <p:grpSpPr>
          <a:xfrm>
            <a:off x="204906" y="6137005"/>
            <a:ext cx="4331314" cy="537916"/>
            <a:chOff x="204906" y="6137005"/>
            <a:chExt cx="4331314" cy="537916"/>
          </a:xfrm>
        </p:grpSpPr>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4906" y="6137005"/>
              <a:ext cx="573754" cy="537916"/>
            </a:xfrm>
            <a:prstGeom prst="rect">
              <a:avLst/>
            </a:prstGeom>
          </p:spPr>
        </p:pic>
        <p:sp>
          <p:nvSpPr>
            <p:cNvPr id="10" name="TextBox 9"/>
            <p:cNvSpPr txBox="1"/>
            <p:nvPr userDrawn="1"/>
          </p:nvSpPr>
          <p:spPr>
            <a:xfrm>
              <a:off x="764561" y="6170458"/>
              <a:ext cx="3771659" cy="469359"/>
            </a:xfrm>
            <a:prstGeom prst="rect">
              <a:avLst/>
            </a:prstGeom>
            <a:noFill/>
          </p:spPr>
          <p:txBody>
            <a:bodyPr wrap="square" rtlCol="0">
              <a:spAutoFit/>
            </a:bodyPr>
            <a:lstStyle/>
            <a:p>
              <a:r>
                <a:rPr lang="en-US" sz="1400" b="1" spc="-40" baseline="0" dirty="0">
                  <a:solidFill>
                    <a:srgbClr val="002060"/>
                  </a:solidFill>
                  <a:latin typeface="Times New Roman" panose="02020603050405020304" pitchFamily="18" charset="0"/>
                  <a:cs typeface="Times New Roman" panose="02020603050405020304" pitchFamily="18" charset="0"/>
                </a:rPr>
                <a:t>KHOA CÔNG NGHỆ THÔNG TIN</a:t>
              </a:r>
            </a:p>
            <a:p>
              <a:r>
                <a:rPr lang="en-US" sz="1050" b="1" spc="-20" baseline="0" dirty="0">
                  <a:solidFill>
                    <a:srgbClr val="002060"/>
                  </a:solidFill>
                  <a:latin typeface="Times New Roman" panose="02020603050405020304" pitchFamily="18" charset="0"/>
                  <a:cs typeface="Times New Roman" panose="02020603050405020304" pitchFamily="18" charset="0"/>
                </a:rPr>
                <a:t>FACULTY OF INFORMATION TECHNOLOGY</a:t>
              </a: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9650D505-0A4C-4F20-AE7C-DDD45D3A3D7A}" type="datetime1">
              <a:rPr lang="en-US" smtClean="0"/>
              <a:t>1/18/2026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1344" y="44624"/>
            <a:ext cx="11162456" cy="623713"/>
          </a:xfrm>
          <a:prstGeom prst="rect">
            <a:avLst/>
          </a:prstGeom>
        </p:spPr>
        <p:txBody>
          <a:bodyPr>
            <a:normAutofit/>
          </a:bodyPr>
          <a:lstStyle>
            <a:lvl1pPr>
              <a:defRPr sz="3600" b="1">
                <a:solidFill>
                  <a:srgbClr val="C00000"/>
                </a:solidFill>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Text Placeholder 2"/>
          <p:cNvSpPr>
            <a:spLocks noGrp="1"/>
          </p:cNvSpPr>
          <p:nvPr>
            <p:ph type="body" idx="1"/>
          </p:nvPr>
        </p:nvSpPr>
        <p:spPr>
          <a:xfrm>
            <a:off x="836612" y="876896"/>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1867494"/>
            <a:ext cx="5157787" cy="432216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5" name="Text Placeholder 4"/>
          <p:cNvSpPr>
            <a:spLocks noGrp="1"/>
          </p:cNvSpPr>
          <p:nvPr>
            <p:ph type="body" sz="quarter" idx="3"/>
          </p:nvPr>
        </p:nvSpPr>
        <p:spPr>
          <a:xfrm>
            <a:off x="6169396" y="876896"/>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867496"/>
            <a:ext cx="5183188" cy="432216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7" name="Date Placeholder 6"/>
          <p:cNvSpPr>
            <a:spLocks noGrp="1"/>
          </p:cNvSpPr>
          <p:nvPr>
            <p:ph type="dt" sz="half" idx="10"/>
          </p:nvPr>
        </p:nvSpPr>
        <p:spPr>
          <a:xfrm>
            <a:off x="3791744" y="6394450"/>
            <a:ext cx="1368152" cy="365125"/>
          </a:xfrm>
          <a:prstGeom prst="rect">
            <a:avLst/>
          </a:prstGeom>
        </p:spPr>
        <p:txBody>
          <a:bodyPr/>
          <a:lstStyle/>
          <a:p>
            <a:fld id="{A8FED4E1-75B5-4FC4-A146-06E57269A9FA}" type="datetime1">
              <a:rPr lang="en-US" smtClean="0"/>
              <a:t>1/18/2026</a:t>
            </a:fld>
            <a:endParaRPr lang="en-US"/>
          </a:p>
        </p:txBody>
      </p:sp>
      <p:sp>
        <p:nvSpPr>
          <p:cNvPr id="8" name="Footer Placeholder 7"/>
          <p:cNvSpPr>
            <a:spLocks noGrp="1"/>
          </p:cNvSpPr>
          <p:nvPr>
            <p:ph type="ftr" sz="quarter" idx="11"/>
          </p:nvPr>
        </p:nvSpPr>
        <p:spPr>
          <a:xfrm>
            <a:off x="5375920" y="6403975"/>
            <a:ext cx="4518379"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10128448" y="6394450"/>
            <a:ext cx="1225352" cy="365125"/>
          </a:xfrm>
          <a:prstGeom prst="rect">
            <a:avLst/>
          </a:prstGeom>
        </p:spPr>
        <p:txBody>
          <a:bodyPr/>
          <a:lstStyle/>
          <a:p>
            <a:fld id="{7ABBADF3-30DB-48D9-82C9-3A079DF6858D}" type="slidenum">
              <a:rPr lang="en-US" smtClean="0"/>
              <a:t>‹#›</a:t>
            </a:fld>
            <a:endParaRPr lang="en-US"/>
          </a:p>
        </p:txBody>
      </p:sp>
      <p:grpSp>
        <p:nvGrpSpPr>
          <p:cNvPr id="13" name="Group 12"/>
          <p:cNvGrpSpPr/>
          <p:nvPr userDrawn="1"/>
        </p:nvGrpSpPr>
        <p:grpSpPr>
          <a:xfrm>
            <a:off x="204906" y="6137005"/>
            <a:ext cx="11681839" cy="537916"/>
            <a:chOff x="204906" y="6137005"/>
            <a:chExt cx="11681839" cy="537916"/>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4906" y="6137005"/>
              <a:ext cx="573754" cy="537916"/>
            </a:xfrm>
            <a:prstGeom prst="rect">
              <a:avLst/>
            </a:prstGeom>
          </p:spPr>
        </p:pic>
        <p:cxnSp>
          <p:nvCxnSpPr>
            <p:cNvPr id="15" name="Straight Connector 14"/>
            <p:cNvCxnSpPr/>
            <p:nvPr userDrawn="1"/>
          </p:nvCxnSpPr>
          <p:spPr>
            <a:xfrm>
              <a:off x="3498745" y="6320830"/>
              <a:ext cx="8388000" cy="0"/>
            </a:xfrm>
            <a:prstGeom prst="line">
              <a:avLst/>
            </a:prstGeom>
            <a:ln w="57150">
              <a:solidFill>
                <a:srgbClr val="F7B755"/>
              </a:solidFill>
            </a:ln>
          </p:spPr>
          <p:style>
            <a:lnRef idx="1">
              <a:schemeClr val="accent2"/>
            </a:lnRef>
            <a:fillRef idx="0">
              <a:schemeClr val="accent2"/>
            </a:fillRef>
            <a:effectRef idx="0">
              <a:schemeClr val="accent2"/>
            </a:effectRef>
            <a:fontRef idx="minor">
              <a:schemeClr val="tx1"/>
            </a:fontRef>
          </p:style>
        </p:cxnSp>
        <p:sp>
          <p:nvSpPr>
            <p:cNvPr id="16" name="TextBox 15"/>
            <p:cNvSpPr txBox="1"/>
            <p:nvPr userDrawn="1"/>
          </p:nvSpPr>
          <p:spPr>
            <a:xfrm>
              <a:off x="764561" y="6170458"/>
              <a:ext cx="3771659" cy="469359"/>
            </a:xfrm>
            <a:prstGeom prst="rect">
              <a:avLst/>
            </a:prstGeom>
            <a:noFill/>
          </p:spPr>
          <p:txBody>
            <a:bodyPr wrap="square" rtlCol="0">
              <a:spAutoFit/>
            </a:bodyPr>
            <a:lstStyle/>
            <a:p>
              <a:r>
                <a:rPr lang="en-US" sz="1400" b="1" spc="-40" baseline="0" dirty="0">
                  <a:solidFill>
                    <a:srgbClr val="002060"/>
                  </a:solidFill>
                  <a:latin typeface="Times New Roman" panose="02020603050405020304" pitchFamily="18" charset="0"/>
                  <a:cs typeface="Times New Roman" panose="02020603050405020304" pitchFamily="18" charset="0"/>
                </a:rPr>
                <a:t>KHOA CÔNG NGHỆ THÔNG TIN</a:t>
              </a:r>
            </a:p>
            <a:p>
              <a:r>
                <a:rPr lang="en-US" sz="1050" b="1" spc="-20" baseline="0" dirty="0">
                  <a:solidFill>
                    <a:srgbClr val="002060"/>
                  </a:solidFill>
                  <a:latin typeface="Times New Roman" panose="02020603050405020304" pitchFamily="18" charset="0"/>
                  <a:cs typeface="Times New Roman" panose="02020603050405020304" pitchFamily="18" charset="0"/>
                </a:rPr>
                <a:t>FACULTY OF INFORMATION TECHNOLOGY</a:t>
              </a: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D7515CB-3729-41B7-845B-1CF3706031FB}" type="datetime1">
              <a:rPr lang="en-US" smtClean="0"/>
              <a:t>1/18/2026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1BF25C7-E6BA-44F7-A34D-E5C5755D0636}" type="datetime1">
              <a:rPr lang="en-US" smtClean="0"/>
              <a:t>1/18/2026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19EFE0A-F282-4F33-8B8D-BCD0D42C31B6}" type="datetime1">
              <a:rPr lang="en-US" smtClean="0"/>
              <a:t>1/18/2026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vi-V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937FBE4-F6A7-4119-AE5D-EB877DCD3088}" type="datetime1">
              <a:rPr lang="en-US" smtClean="0"/>
              <a:t>1/18/2026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422AD57-E145-4FC0-869A-8674033FD222}" type="datetime1">
              <a:rPr lang="en-US" smtClean="0"/>
              <a:t>1/18/2026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41FF2DD-D1E4-4A14-9DF4-1655C3497B35}" type="datetime1">
              <a:rPr lang="en-US" smtClean="0"/>
              <a:t>1/18/2026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83191" y="2090972"/>
            <a:ext cx="8429689" cy="1500588"/>
          </a:xfrm>
        </p:spPr>
        <p:txBody>
          <a:bodyPr>
            <a:normAutofit/>
          </a:bodyPr>
          <a:lstStyle/>
          <a:p>
            <a:r>
              <a:rPr lang="en-US" sz="4000" dirty="0"/>
              <a:t>XÂY DỰNG </a:t>
            </a:r>
            <a:r>
              <a:rPr lang="vi-VN" altLang="en-US" sz="4000" dirty="0"/>
              <a:t>ỨNG DỤNG QUẢN LÝ KHO HÀNG</a:t>
            </a:r>
          </a:p>
        </p:txBody>
      </p:sp>
      <p:sp>
        <p:nvSpPr>
          <p:cNvPr id="3" name="Subtitle 2"/>
          <p:cNvSpPr>
            <a:spLocks noGrp="1"/>
          </p:cNvSpPr>
          <p:nvPr>
            <p:ph type="subTitle" idx="1"/>
          </p:nvPr>
        </p:nvSpPr>
        <p:spPr>
          <a:xfrm>
            <a:off x="3051111" y="4341412"/>
            <a:ext cx="7772399" cy="2110188"/>
          </a:xfrm>
        </p:spPr>
        <p:txBody>
          <a:bodyPr>
            <a:normAutofit/>
          </a:bodyPr>
          <a:lstStyle/>
          <a:p>
            <a:r>
              <a:rPr lang="en-US" dirty="0">
                <a:solidFill>
                  <a:srgbClr val="0000FF"/>
                </a:solidFill>
              </a:rPr>
              <a:t>Sinh viên</a:t>
            </a:r>
            <a:r>
              <a:rPr lang="vi-VN" altLang="en-US" dirty="0">
                <a:solidFill>
                  <a:srgbClr val="0000FF"/>
                </a:solidFill>
              </a:rPr>
              <a:t> thực hiện</a:t>
            </a:r>
            <a:r>
              <a:rPr lang="en-US" dirty="0">
                <a:solidFill>
                  <a:srgbClr val="0000FF"/>
                </a:solidFill>
              </a:rPr>
              <a:t>: </a:t>
            </a:r>
            <a:r>
              <a:rPr lang="vi-VN" altLang="en-US" dirty="0">
                <a:solidFill>
                  <a:srgbClr val="0000FF"/>
                </a:solidFill>
              </a:rPr>
              <a:t>Cao Văn Hưng</a:t>
            </a:r>
            <a:endParaRPr lang="en-US" altLang="en-US" dirty="0">
              <a:solidFill>
                <a:srgbClr val="0000FF"/>
              </a:solidFill>
            </a:endParaRPr>
          </a:p>
          <a:p>
            <a:r>
              <a:rPr lang="en-US" dirty="0" err="1">
                <a:solidFill>
                  <a:srgbClr val="0000FF"/>
                </a:solidFill>
              </a:rPr>
              <a:t>Mã</a:t>
            </a:r>
            <a:r>
              <a:rPr lang="en-US" dirty="0">
                <a:solidFill>
                  <a:srgbClr val="0000FF"/>
                </a:solidFill>
              </a:rPr>
              <a:t> </a:t>
            </a:r>
            <a:r>
              <a:rPr lang="en-US" dirty="0" err="1">
                <a:solidFill>
                  <a:srgbClr val="0000FF"/>
                </a:solidFill>
              </a:rPr>
              <a:t>sinh</a:t>
            </a:r>
            <a:r>
              <a:rPr lang="en-US" dirty="0">
                <a:solidFill>
                  <a:srgbClr val="0000FF"/>
                </a:solidFill>
              </a:rPr>
              <a:t> </a:t>
            </a:r>
            <a:r>
              <a:rPr lang="en-US" dirty="0" err="1">
                <a:solidFill>
                  <a:srgbClr val="0000FF"/>
                </a:solidFill>
              </a:rPr>
              <a:t>viên</a:t>
            </a:r>
            <a:r>
              <a:rPr lang="en-US" dirty="0">
                <a:solidFill>
                  <a:srgbClr val="0000FF"/>
                </a:solidFill>
              </a:rPr>
              <a:t>: 2200461</a:t>
            </a:r>
          </a:p>
          <a:p>
            <a:r>
              <a:rPr lang="en-US" dirty="0">
                <a:solidFill>
                  <a:srgbClr val="0000FF"/>
                </a:solidFill>
              </a:rPr>
              <a:t>Lớp: </a:t>
            </a:r>
            <a:r>
              <a:rPr lang="vi-VN" altLang="en-US" dirty="0">
                <a:solidFill>
                  <a:srgbClr val="0000FF"/>
                </a:solidFill>
              </a:rPr>
              <a:t>K</a:t>
            </a:r>
            <a:r>
              <a:rPr lang="en-US" dirty="0">
                <a:solidFill>
                  <a:srgbClr val="0000FF"/>
                </a:solidFill>
              </a:rPr>
              <a:t>4</a:t>
            </a:r>
            <a:r>
              <a:rPr lang="vi-VN" altLang="en-US" dirty="0">
                <a:solidFill>
                  <a:srgbClr val="0000FF"/>
                </a:solidFill>
              </a:rPr>
              <a:t>6</a:t>
            </a:r>
            <a:r>
              <a:rPr lang="en-US" dirty="0">
                <a:solidFill>
                  <a:srgbClr val="0000FF"/>
                </a:solidFill>
              </a:rPr>
              <a:t>18</a:t>
            </a:r>
            <a:r>
              <a:rPr lang="vi-VN" altLang="en-US" dirty="0">
                <a:solidFill>
                  <a:srgbClr val="0000FF"/>
                </a:solidFill>
              </a:rPr>
              <a:t>-</a:t>
            </a:r>
            <a:r>
              <a:rPr lang="en-US" dirty="0">
                <a:solidFill>
                  <a:srgbClr val="0000FF"/>
                </a:solidFill>
              </a:rPr>
              <a:t>CNT1</a:t>
            </a:r>
          </a:p>
          <a:p>
            <a:r>
              <a:rPr lang="vi-VN" altLang="en-US" dirty="0">
                <a:solidFill>
                  <a:srgbClr val="0000FF"/>
                </a:solidFill>
              </a:rPr>
              <a:t>Giảng viên</a:t>
            </a:r>
            <a:r>
              <a:rPr lang="en-US" dirty="0">
                <a:solidFill>
                  <a:srgbClr val="0000FF"/>
                </a:solidFill>
              </a:rPr>
              <a:t> </a:t>
            </a:r>
            <a:r>
              <a:rPr lang="vi-VN" altLang="en-US" dirty="0">
                <a:solidFill>
                  <a:srgbClr val="0000FF"/>
                </a:solidFill>
              </a:rPr>
              <a:t>h</a:t>
            </a:r>
            <a:r>
              <a:rPr lang="en-US" dirty="0">
                <a:solidFill>
                  <a:srgbClr val="0000FF"/>
                </a:solidFill>
              </a:rPr>
              <a:t>ướng dẫn: </a:t>
            </a:r>
            <a:r>
              <a:rPr lang="en-US" dirty="0" err="1">
                <a:solidFill>
                  <a:srgbClr val="0000FF"/>
                </a:solidFill>
              </a:rPr>
              <a:t>ThS</a:t>
            </a:r>
            <a:r>
              <a:rPr lang="en-US" dirty="0">
                <a:solidFill>
                  <a:srgbClr val="0000FF"/>
                </a:solidFill>
              </a:rPr>
              <a:t>.</a:t>
            </a:r>
            <a:r>
              <a:rPr lang="vi-VN" altLang="en-US" dirty="0">
                <a:solidFill>
                  <a:srgbClr val="0000FF"/>
                </a:solidFill>
              </a:rPr>
              <a:t>Ngô Thị Lan</a:t>
            </a:r>
            <a:endParaRPr lang="en-US" altLang="en-US" dirty="0">
              <a:solidFill>
                <a:srgbClr val="0000FF"/>
              </a:solidFill>
            </a:endParaRPr>
          </a:p>
          <a:p>
            <a:r>
              <a:rPr lang="en-US" altLang="en-US" dirty="0" err="1">
                <a:solidFill>
                  <a:srgbClr val="0000FF"/>
                </a:solidFill>
              </a:rPr>
              <a:t>Năm</a:t>
            </a:r>
            <a:r>
              <a:rPr lang="en-US" altLang="en-US" dirty="0">
                <a:solidFill>
                  <a:srgbClr val="0000FF"/>
                </a:solidFill>
              </a:rPr>
              <a:t> </a:t>
            </a:r>
            <a:r>
              <a:rPr lang="en-US" altLang="en-US" dirty="0" err="1">
                <a:solidFill>
                  <a:srgbClr val="0000FF"/>
                </a:solidFill>
              </a:rPr>
              <a:t>học</a:t>
            </a:r>
            <a:r>
              <a:rPr lang="en-US" altLang="en-US" dirty="0">
                <a:solidFill>
                  <a:srgbClr val="0000FF"/>
                </a:solidFill>
              </a:rPr>
              <a:t>: 2025-2026</a:t>
            </a:r>
            <a:endParaRPr lang="vi-VN" altLang="en-US" dirty="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6091"/>
            <a:ext cx="11008807" cy="610701"/>
          </a:xfrm>
        </p:spPr>
        <p:txBody>
          <a:bodyPr>
            <a:normAutofit/>
          </a:bodyPr>
          <a:lstStyle/>
          <a:p>
            <a:r>
              <a:rPr lang="en-US" sz="3200" b="1">
                <a:solidFill>
                  <a:srgbClr val="C00000"/>
                </a:solidFill>
                <a:latin typeface="Times New Roman" panose="02020603050405020304" pitchFamily="18" charset="0"/>
                <a:cs typeface="Times New Roman" panose="02020603050405020304" pitchFamily="18" charset="0"/>
              </a:rPr>
              <a:t>NỘI DUNG CHÍNH</a:t>
            </a:r>
            <a:endParaRPr lang="vi-VN" sz="3200"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982788" y="1386220"/>
            <a:ext cx="7200592" cy="646331"/>
          </a:xfrm>
          <a:prstGeom prst="rect">
            <a:avLst/>
          </a:prstGeom>
          <a:noFill/>
        </p:spPr>
        <p:txBody>
          <a:bodyPr wrap="square">
            <a:spAutoFit/>
          </a:bodyPr>
          <a:lstStyle/>
          <a:p>
            <a:r>
              <a:rPr lang="en-US" sz="3600" b="1" dirty="0" err="1">
                <a:solidFill>
                  <a:schemeClr val="accent1">
                    <a:lumMod val="50000"/>
                  </a:schemeClr>
                </a:solidFill>
                <a:latin typeface="Times New Roman" panose="02020603050405020304" pitchFamily="18" charset="0"/>
                <a:cs typeface="Times New Roman" panose="02020603050405020304" pitchFamily="18" charset="0"/>
              </a:rPr>
              <a:t>Đặt</a:t>
            </a:r>
            <a:r>
              <a:rPr lang="en-US" sz="3600" b="1" dirty="0">
                <a:solidFill>
                  <a:schemeClr val="accent1">
                    <a:lumMod val="50000"/>
                  </a:schemeClr>
                </a:solidFill>
                <a:latin typeface="Times New Roman" panose="02020603050405020304" pitchFamily="18" charset="0"/>
                <a:cs typeface="Times New Roman" panose="02020603050405020304" pitchFamily="18" charset="0"/>
              </a:rPr>
              <a:t> </a:t>
            </a:r>
            <a:r>
              <a:rPr lang="en-US" sz="3600" b="1" dirty="0" err="1">
                <a:solidFill>
                  <a:schemeClr val="accent1">
                    <a:lumMod val="50000"/>
                  </a:schemeClr>
                </a:solidFill>
                <a:latin typeface="Times New Roman" panose="02020603050405020304" pitchFamily="18" charset="0"/>
                <a:cs typeface="Times New Roman" panose="02020603050405020304" pitchFamily="18" charset="0"/>
              </a:rPr>
              <a:t>vấn</a:t>
            </a:r>
            <a:r>
              <a:rPr lang="en-US" sz="3600" b="1" dirty="0">
                <a:solidFill>
                  <a:schemeClr val="accent1">
                    <a:lumMod val="50000"/>
                  </a:schemeClr>
                </a:solidFill>
                <a:latin typeface="Times New Roman" panose="02020603050405020304" pitchFamily="18" charset="0"/>
                <a:cs typeface="Times New Roman" panose="02020603050405020304" pitchFamily="18" charset="0"/>
              </a:rPr>
              <a:t> </a:t>
            </a:r>
            <a:r>
              <a:rPr lang="en-US" sz="3600" b="1" dirty="0" err="1">
                <a:solidFill>
                  <a:schemeClr val="accent1">
                    <a:lumMod val="50000"/>
                  </a:schemeClr>
                </a:solidFill>
                <a:latin typeface="Times New Roman" panose="02020603050405020304" pitchFamily="18" charset="0"/>
                <a:cs typeface="Times New Roman" panose="02020603050405020304" pitchFamily="18" charset="0"/>
              </a:rPr>
              <a:t>đề</a:t>
            </a:r>
            <a:endParaRPr lang="vi-VN" sz="3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990222" y="2177126"/>
            <a:ext cx="6889762" cy="646331"/>
          </a:xfrm>
          <a:prstGeom prst="rect">
            <a:avLst/>
          </a:prstGeom>
          <a:noFill/>
        </p:spPr>
        <p:txBody>
          <a:bodyPr wrap="square">
            <a:spAutoFit/>
          </a:bodyPr>
          <a:lstStyle/>
          <a:p>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Mục</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tiêu</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nghiên</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cứu</a:t>
            </a:r>
            <a:endParaRPr lang="vi-VN"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endParaRPr>
          </a:p>
        </p:txBody>
      </p:sp>
      <p:sp>
        <p:nvSpPr>
          <p:cNvPr id="8" name="TextBox 7"/>
          <p:cNvSpPr txBox="1"/>
          <p:nvPr/>
        </p:nvSpPr>
        <p:spPr>
          <a:xfrm>
            <a:off x="2997656" y="2955172"/>
            <a:ext cx="8610765" cy="646331"/>
          </a:xfrm>
          <a:prstGeom prst="rect">
            <a:avLst/>
          </a:prstGeom>
          <a:noFill/>
        </p:spPr>
        <p:txBody>
          <a:bodyPr wrap="square">
            <a:spAutoFit/>
          </a:bodyPr>
          <a:lstStyle/>
          <a:p>
            <a:r>
              <a:rPr lang="en-US" sz="3600" b="1" dirty="0" err="1">
                <a:solidFill>
                  <a:srgbClr val="002060"/>
                </a:solidFill>
                <a:latin typeface="Times New Roman" panose="02020603050405020304" pitchFamily="18" charset="0"/>
                <a:cs typeface="Times New Roman" panose="02020603050405020304" pitchFamily="18" charset="0"/>
              </a:rPr>
              <a:t>Đối</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tượng</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và</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phạm</a:t>
            </a:r>
            <a:r>
              <a:rPr lang="en-US" sz="3600" b="1" dirty="0">
                <a:solidFill>
                  <a:srgbClr val="002060"/>
                </a:solidFill>
                <a:latin typeface="Times New Roman" panose="02020603050405020304" pitchFamily="18" charset="0"/>
                <a:cs typeface="Times New Roman" panose="02020603050405020304" pitchFamily="18" charset="0"/>
              </a:rPr>
              <a:t> vi </a:t>
            </a:r>
            <a:r>
              <a:rPr lang="en-US" sz="3600" b="1" dirty="0" err="1">
                <a:solidFill>
                  <a:srgbClr val="002060"/>
                </a:solidFill>
                <a:latin typeface="Times New Roman" panose="02020603050405020304" pitchFamily="18" charset="0"/>
                <a:cs typeface="Times New Roman" panose="02020603050405020304" pitchFamily="18" charset="0"/>
              </a:rPr>
              <a:t>nghiên</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cứu</a:t>
            </a:r>
            <a:endParaRPr lang="vi-VN" sz="3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993940" y="3786462"/>
            <a:ext cx="8915563" cy="646331"/>
          </a:xfrm>
          <a:prstGeom prst="rect">
            <a:avLst/>
          </a:prstGeom>
          <a:noFill/>
        </p:spPr>
        <p:txBody>
          <a:bodyPr wrap="square">
            <a:spAutoFit/>
          </a:bodyPr>
          <a:lstStyle/>
          <a:p>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Phương</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pháp</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nghiên</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cứu</a:t>
            </a:r>
            <a:endParaRPr lang="vi-VN"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endParaRPr>
          </a:p>
        </p:txBody>
      </p:sp>
      <p:grpSp>
        <p:nvGrpSpPr>
          <p:cNvPr id="11" name="Group 10"/>
          <p:cNvGrpSpPr/>
          <p:nvPr/>
        </p:nvGrpSpPr>
        <p:grpSpPr>
          <a:xfrm>
            <a:off x="2097431" y="1326674"/>
            <a:ext cx="723258" cy="646331"/>
            <a:chOff x="926549" y="2018050"/>
            <a:chExt cx="723258" cy="646331"/>
          </a:xfrm>
        </p:grpSpPr>
        <p:sp>
          <p:nvSpPr>
            <p:cNvPr id="12" name="TextBox 11"/>
            <p:cNvSpPr txBox="1"/>
            <p:nvPr/>
          </p:nvSpPr>
          <p:spPr>
            <a:xfrm>
              <a:off x="926549" y="2018050"/>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1</a:t>
              </a:r>
            </a:p>
          </p:txBody>
        </p:sp>
        <p:sp>
          <p:nvSpPr>
            <p:cNvPr id="13" name="Oval 12"/>
            <p:cNvSpPr/>
            <p:nvPr/>
          </p:nvSpPr>
          <p:spPr>
            <a:xfrm flipH="1">
              <a:off x="1150470" y="2192293"/>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grpSp>
        <p:nvGrpSpPr>
          <p:cNvPr id="14" name="Group 13"/>
          <p:cNvGrpSpPr/>
          <p:nvPr/>
        </p:nvGrpSpPr>
        <p:grpSpPr>
          <a:xfrm>
            <a:off x="2101779" y="2889369"/>
            <a:ext cx="723258" cy="646331"/>
            <a:chOff x="1029361" y="2787125"/>
            <a:chExt cx="723258" cy="646331"/>
          </a:xfrm>
        </p:grpSpPr>
        <p:sp>
          <p:nvSpPr>
            <p:cNvPr id="15" name="TextBox 14"/>
            <p:cNvSpPr txBox="1"/>
            <p:nvPr/>
          </p:nvSpPr>
          <p:spPr>
            <a:xfrm>
              <a:off x="1029361" y="2787125"/>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3</a:t>
              </a:r>
            </a:p>
          </p:txBody>
        </p:sp>
        <p:sp>
          <p:nvSpPr>
            <p:cNvPr id="16" name="Oval 15"/>
            <p:cNvSpPr/>
            <p:nvPr/>
          </p:nvSpPr>
          <p:spPr>
            <a:xfrm flipH="1">
              <a:off x="1248935" y="2960998"/>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grpSp>
        <p:nvGrpSpPr>
          <p:cNvPr id="17" name="Group 16"/>
          <p:cNvGrpSpPr/>
          <p:nvPr/>
        </p:nvGrpSpPr>
        <p:grpSpPr>
          <a:xfrm>
            <a:off x="2090629" y="3698705"/>
            <a:ext cx="723258" cy="646331"/>
            <a:chOff x="1018210" y="2775974"/>
            <a:chExt cx="723258" cy="646331"/>
          </a:xfrm>
        </p:grpSpPr>
        <p:sp>
          <p:nvSpPr>
            <p:cNvPr id="18" name="TextBox 17"/>
            <p:cNvSpPr txBox="1"/>
            <p:nvPr/>
          </p:nvSpPr>
          <p:spPr>
            <a:xfrm>
              <a:off x="1018210" y="2775974"/>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4</a:t>
              </a:r>
            </a:p>
          </p:txBody>
        </p:sp>
        <p:sp>
          <p:nvSpPr>
            <p:cNvPr id="19" name="Oval 18"/>
            <p:cNvSpPr/>
            <p:nvPr/>
          </p:nvSpPr>
          <p:spPr>
            <a:xfrm flipH="1">
              <a:off x="1248935" y="2960998"/>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grpSp>
        <p:nvGrpSpPr>
          <p:cNvPr id="23" name="Group 22"/>
          <p:cNvGrpSpPr/>
          <p:nvPr/>
        </p:nvGrpSpPr>
        <p:grpSpPr>
          <a:xfrm>
            <a:off x="2114717" y="2090154"/>
            <a:ext cx="723258" cy="646331"/>
            <a:chOff x="1040512" y="2780321"/>
            <a:chExt cx="723258" cy="646331"/>
          </a:xfrm>
        </p:grpSpPr>
        <p:sp>
          <p:nvSpPr>
            <p:cNvPr id="24" name="TextBox 23"/>
            <p:cNvSpPr txBox="1"/>
            <p:nvPr/>
          </p:nvSpPr>
          <p:spPr>
            <a:xfrm>
              <a:off x="1040512" y="2780321"/>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2</a:t>
              </a:r>
            </a:p>
          </p:txBody>
        </p:sp>
        <p:sp>
          <p:nvSpPr>
            <p:cNvPr id="25" name="Oval 24"/>
            <p:cNvSpPr/>
            <p:nvPr/>
          </p:nvSpPr>
          <p:spPr>
            <a:xfrm flipH="1">
              <a:off x="1248935" y="2960998"/>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a:t>Đặt vấn đề</a:t>
            </a:r>
            <a:endParaRPr lang="vi-VN" dirty="0"/>
          </a:p>
        </p:txBody>
      </p:sp>
      <p:sp>
        <p:nvSpPr>
          <p:cNvPr id="4" name="Content Placeholder 3"/>
          <p:cNvSpPr>
            <a:spLocks noGrp="1"/>
          </p:cNvSpPr>
          <p:nvPr>
            <p:ph idx="1"/>
          </p:nvPr>
        </p:nvSpPr>
        <p:spPr/>
        <p:txBody>
          <a:bodyPr/>
          <a:lstStyle/>
          <a:p>
            <a:pPr algn="just"/>
            <a:r>
              <a:rPr lang="en-US" dirty="0"/>
              <a:t> Trong </a:t>
            </a:r>
            <a:r>
              <a:rPr lang="en-US" dirty="0" err="1"/>
              <a:t>bối</a:t>
            </a:r>
            <a:r>
              <a:rPr lang="en-US" dirty="0"/>
              <a:t> </a:t>
            </a:r>
            <a:r>
              <a:rPr lang="en-US" dirty="0" err="1"/>
              <a:t>cảnh</a:t>
            </a:r>
            <a:r>
              <a:rPr lang="en-US" dirty="0"/>
              <a:t> </a:t>
            </a:r>
            <a:r>
              <a:rPr lang="en-US" dirty="0" err="1"/>
              <a:t>kinh</a:t>
            </a:r>
            <a:r>
              <a:rPr lang="en-US" dirty="0"/>
              <a:t> </a:t>
            </a:r>
            <a:r>
              <a:rPr lang="en-US" dirty="0" err="1"/>
              <a:t>tế</a:t>
            </a:r>
            <a:r>
              <a:rPr lang="en-US" dirty="0"/>
              <a:t> </a:t>
            </a:r>
            <a:r>
              <a:rPr lang="en-US" dirty="0" err="1"/>
              <a:t>thị</a:t>
            </a:r>
            <a:r>
              <a:rPr lang="en-US" dirty="0"/>
              <a:t> </a:t>
            </a:r>
            <a:r>
              <a:rPr lang="en-US" dirty="0" err="1"/>
              <a:t>trường</a:t>
            </a:r>
            <a:r>
              <a:rPr lang="en-US" dirty="0"/>
              <a:t> </a:t>
            </a:r>
            <a:r>
              <a:rPr lang="en-US" dirty="0" err="1"/>
              <a:t>cạnh</a:t>
            </a:r>
            <a:r>
              <a:rPr lang="en-US" dirty="0"/>
              <a:t> </a:t>
            </a:r>
            <a:r>
              <a:rPr lang="en-US" dirty="0" err="1"/>
              <a:t>tranh</a:t>
            </a:r>
            <a:r>
              <a:rPr lang="en-US" dirty="0"/>
              <a:t> gay </a:t>
            </a:r>
            <a:r>
              <a:rPr lang="en-US" dirty="0" err="1"/>
              <a:t>gắt</a:t>
            </a:r>
            <a:r>
              <a:rPr lang="en-US" dirty="0"/>
              <a:t>, </a:t>
            </a:r>
            <a:r>
              <a:rPr lang="en-US" dirty="0" err="1"/>
              <a:t>nhu</a:t>
            </a:r>
            <a:r>
              <a:rPr lang="en-US" dirty="0"/>
              <a:t> </a:t>
            </a:r>
            <a:r>
              <a:rPr lang="en-US" dirty="0" err="1"/>
              <a:t>cầu</a:t>
            </a:r>
            <a:r>
              <a:rPr lang="en-US" dirty="0"/>
              <a:t> </a:t>
            </a:r>
            <a:r>
              <a:rPr lang="en-US" dirty="0" err="1"/>
              <a:t>tiêu</a:t>
            </a:r>
            <a:r>
              <a:rPr lang="en-US" dirty="0"/>
              <a:t> </a:t>
            </a:r>
            <a:r>
              <a:rPr lang="en-US" dirty="0" err="1"/>
              <a:t>dùng</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không</a:t>
            </a:r>
            <a:r>
              <a:rPr lang="en-US" dirty="0"/>
              <a:t> </a:t>
            </a:r>
            <a:r>
              <a:rPr lang="en-US" dirty="0" err="1"/>
              <a:t>ngừng</a:t>
            </a:r>
            <a:r>
              <a:rPr lang="en-US" dirty="0"/>
              <a:t> </a:t>
            </a:r>
            <a:r>
              <a:rPr lang="en-US" dirty="0" err="1"/>
              <a:t>tăng</a:t>
            </a:r>
            <a:r>
              <a:rPr lang="en-US" dirty="0"/>
              <a:t> </a:t>
            </a:r>
            <a:r>
              <a:rPr lang="en-US" dirty="0" err="1"/>
              <a:t>lên</a:t>
            </a:r>
            <a:r>
              <a:rPr lang="en-US" dirty="0"/>
              <a:t> </a:t>
            </a:r>
            <a:r>
              <a:rPr lang="en-US" dirty="0" err="1"/>
              <a:t>nhưng</a:t>
            </a:r>
            <a:r>
              <a:rPr lang="en-US" dirty="0"/>
              <a:t> </a:t>
            </a:r>
            <a:r>
              <a:rPr lang="en-US" dirty="0" err="1"/>
              <a:t>thực</a:t>
            </a:r>
            <a:r>
              <a:rPr lang="en-US" dirty="0"/>
              <a:t> </a:t>
            </a:r>
            <a:r>
              <a:rPr lang="en-US" dirty="0" err="1"/>
              <a:t>trạng</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hàng</a:t>
            </a:r>
            <a:r>
              <a:rPr lang="en-US" dirty="0"/>
              <a:t> ở </a:t>
            </a:r>
            <a:r>
              <a:rPr lang="en-US" dirty="0" err="1"/>
              <a:t>nhiều</a:t>
            </a:r>
            <a:r>
              <a:rPr lang="en-US" dirty="0"/>
              <a:t> </a:t>
            </a:r>
            <a:r>
              <a:rPr lang="en-US" dirty="0" err="1"/>
              <a:t>nơi</a:t>
            </a:r>
            <a:r>
              <a:rPr lang="en-US" dirty="0"/>
              <a:t> </a:t>
            </a:r>
            <a:r>
              <a:rPr lang="en-US" dirty="0" err="1"/>
              <a:t>vẫn</a:t>
            </a:r>
            <a:r>
              <a:rPr lang="en-US" dirty="0"/>
              <a:t> </a:t>
            </a:r>
            <a:r>
              <a:rPr lang="en-US" dirty="0" err="1"/>
              <a:t>còn</a:t>
            </a:r>
            <a:r>
              <a:rPr lang="en-US" dirty="0"/>
              <a:t> </a:t>
            </a:r>
            <a:r>
              <a:rPr lang="en-US" dirty="0" err="1"/>
              <a:t>mang</a:t>
            </a:r>
            <a:r>
              <a:rPr lang="en-US" dirty="0"/>
              <a:t> </a:t>
            </a:r>
            <a:r>
              <a:rPr lang="en-US" dirty="0" err="1"/>
              <a:t>tính</a:t>
            </a:r>
            <a:r>
              <a:rPr lang="en-US" dirty="0"/>
              <a:t> </a:t>
            </a:r>
            <a:r>
              <a:rPr lang="en-US" dirty="0" err="1"/>
              <a:t>chất</a:t>
            </a:r>
            <a:r>
              <a:rPr lang="en-US" dirty="0"/>
              <a:t> </a:t>
            </a:r>
            <a:r>
              <a:rPr lang="en-US" dirty="0" err="1"/>
              <a:t>thủ</a:t>
            </a:r>
            <a:r>
              <a:rPr lang="en-US" dirty="0"/>
              <a:t> </a:t>
            </a:r>
            <a:r>
              <a:rPr lang="en-US" dirty="0" err="1"/>
              <a:t>công</a:t>
            </a:r>
            <a:r>
              <a:rPr lang="en-US" dirty="0"/>
              <a:t>. </a:t>
            </a:r>
          </a:p>
          <a:p>
            <a:pPr algn="just"/>
            <a:r>
              <a:rPr lang="vi-VN" dirty="0"/>
              <a:t>Điều này dẫn đến nhiều bất cập trong việc quản lý nhập/xuất, </a:t>
            </a:r>
            <a:r>
              <a:rPr lang="en-US" dirty="0" err="1"/>
              <a:t>quản</a:t>
            </a:r>
            <a:r>
              <a:rPr lang="en-US" dirty="0"/>
              <a:t> </a:t>
            </a:r>
            <a:r>
              <a:rPr lang="en-US" dirty="0" err="1"/>
              <a:t>lý</a:t>
            </a:r>
            <a:r>
              <a:rPr lang="en-US" dirty="0"/>
              <a:t> </a:t>
            </a:r>
            <a:r>
              <a:rPr lang="en-US" dirty="0" err="1"/>
              <a:t>hàng</a:t>
            </a:r>
            <a:r>
              <a:rPr lang="en-US" dirty="0"/>
              <a:t> </a:t>
            </a:r>
            <a:r>
              <a:rPr lang="en-US" dirty="0" err="1"/>
              <a:t>hóa</a:t>
            </a:r>
            <a:r>
              <a:rPr lang="vi-VN" dirty="0"/>
              <a:t>, cũng như trong khâu báo cáo thống kê.</a:t>
            </a:r>
          </a:p>
        </p:txBody>
      </p:sp>
      <p:sp>
        <p:nvSpPr>
          <p:cNvPr id="3" name="Slide Number Placeholder 2"/>
          <p:cNvSpPr>
            <a:spLocks noGrp="1"/>
          </p:cNvSpPr>
          <p:nvPr>
            <p:ph type="sldNum" sz="quarter" idx="12"/>
          </p:nvPr>
        </p:nvSpPr>
        <p:spPr/>
        <p:txBody>
          <a:bodyPr/>
          <a:lstStyle/>
          <a:p>
            <a:fld id="{7ABBADF3-30DB-48D9-82C9-3A079DF6858D}"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7182-E606-B76D-3400-32D1E4FED334}"/>
              </a:ext>
            </a:extLst>
          </p:cNvPr>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FA7B8E64-E2A6-DA8C-F808-721F0641265B}"/>
              </a:ext>
            </a:extLst>
          </p:cNvPr>
          <p:cNvSpPr>
            <a:spLocks noGrp="1"/>
          </p:cNvSpPr>
          <p:nvPr>
            <p:ph idx="1"/>
          </p:nvPr>
        </p:nvSpPr>
        <p:spPr/>
        <p:txBody>
          <a:bodyPr/>
          <a:lstStyle/>
          <a:p>
            <a:pPr algn="just"/>
            <a:r>
              <a:rPr lang="en-US" dirty="0"/>
              <a:t> </a:t>
            </a:r>
            <a:r>
              <a:rPr lang="en-US" dirty="0" err="1"/>
              <a:t>Mục</a:t>
            </a:r>
            <a:r>
              <a:rPr lang="en-US" dirty="0"/>
              <a:t> </a:t>
            </a:r>
            <a:r>
              <a:rPr lang="en-US" dirty="0" err="1"/>
              <a:t>tiêu</a:t>
            </a:r>
            <a:r>
              <a:rPr lang="en-US" dirty="0"/>
              <a:t> </a:t>
            </a:r>
            <a:r>
              <a:rPr lang="en-US" dirty="0" err="1"/>
              <a:t>chính</a:t>
            </a:r>
            <a:r>
              <a:rPr lang="en-US" dirty="0"/>
              <a:t> </a:t>
            </a:r>
            <a:r>
              <a:rPr lang="en-US" dirty="0" err="1"/>
              <a:t>của</a:t>
            </a:r>
            <a:r>
              <a:rPr lang="en-US" dirty="0"/>
              <a:t> </a:t>
            </a:r>
            <a:r>
              <a:rPr lang="en-US" dirty="0" err="1"/>
              <a:t>đề</a:t>
            </a:r>
            <a:r>
              <a:rPr lang="en-US" dirty="0"/>
              <a:t> </a:t>
            </a:r>
            <a:r>
              <a:rPr lang="en-US" dirty="0" err="1"/>
              <a:t>tài</a:t>
            </a:r>
            <a:r>
              <a:rPr lang="en-US" dirty="0"/>
              <a:t> </a:t>
            </a:r>
            <a:r>
              <a:rPr lang="en-US" dirty="0" err="1"/>
              <a:t>là</a:t>
            </a:r>
            <a:r>
              <a:rPr lang="en-US" dirty="0"/>
              <a:t> </a:t>
            </a:r>
            <a:r>
              <a:rPr lang="en-US" dirty="0" err="1"/>
              <a:t>khảo</a:t>
            </a:r>
            <a:r>
              <a:rPr lang="en-US" dirty="0"/>
              <a:t> </a:t>
            </a:r>
            <a:r>
              <a:rPr lang="en-US" dirty="0" err="1"/>
              <a:t>sát</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hàng</a:t>
            </a:r>
            <a:r>
              <a:rPr lang="en-US" dirty="0"/>
              <a:t>.</a:t>
            </a:r>
          </a:p>
          <a:p>
            <a:pPr algn="just"/>
            <a:r>
              <a:rPr lang="en-US" dirty="0"/>
              <a:t> </a:t>
            </a:r>
            <a:r>
              <a:rPr lang="vi-VN" dirty="0"/>
              <a:t>Hệ thống hướng đến việc thay thế phương thức quản lý thủ công bằng giấy tờ nhằm đảm bảo việc lưu trữ, kiểm soát, tra cứu và báo cáo số liệu kho hàng một cách khoa học, chính xác và hiệu quả hơn</a:t>
            </a:r>
            <a:r>
              <a:rPr lang="en-US" dirty="0"/>
              <a:t>.</a:t>
            </a:r>
          </a:p>
        </p:txBody>
      </p:sp>
      <p:sp>
        <p:nvSpPr>
          <p:cNvPr id="4" name="Slide Number Placeholder 3">
            <a:extLst>
              <a:ext uri="{FF2B5EF4-FFF2-40B4-BE49-F238E27FC236}">
                <a16:creationId xmlns:a16="http://schemas.microsoft.com/office/drawing/2014/main" id="{91C79FC2-6BF1-3F80-E297-0A14938B1855}"/>
              </a:ext>
            </a:extLst>
          </p:cNvPr>
          <p:cNvSpPr>
            <a:spLocks noGrp="1"/>
          </p:cNvSpPr>
          <p:nvPr>
            <p:ph type="sldNum" sz="quarter" idx="12"/>
          </p:nvPr>
        </p:nvSpPr>
        <p:spPr/>
        <p:txBody>
          <a:bodyPr/>
          <a:lstStyle/>
          <a:p>
            <a:fld id="{7ABBADF3-30DB-48D9-82C9-3A079DF6858D}" type="slidenum">
              <a:rPr lang="en-US" smtClean="0"/>
              <a:t>4</a:t>
            </a:fld>
            <a:endParaRPr lang="en-US"/>
          </a:p>
        </p:txBody>
      </p:sp>
    </p:spTree>
    <p:extLst>
      <p:ext uri="{BB962C8B-B14F-4D97-AF65-F5344CB8AC3E}">
        <p14:creationId xmlns:p14="http://schemas.microsoft.com/office/powerpoint/2010/main" val="3376025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9A8F-AF69-2649-3737-6C28B987D061}"/>
              </a:ext>
            </a:extLst>
          </p:cNvPr>
          <p:cNvSpPr>
            <a:spLocks noGrp="1"/>
          </p:cNvSpPr>
          <p:nvPr>
            <p:ph type="title"/>
          </p:nvPr>
        </p:nvSpPr>
        <p:spPr/>
        <p:txBody>
          <a:bodyPr/>
          <a:lstStyle/>
          <a:p>
            <a:r>
              <a:rPr lang="en-US" dirty="0" err="1"/>
              <a:t>Đối</a:t>
            </a:r>
            <a:r>
              <a:rPr lang="en-US" dirty="0"/>
              <a:t> </a:t>
            </a:r>
            <a:r>
              <a:rPr lang="en-US" dirty="0" err="1"/>
              <a:t>tượng</a:t>
            </a:r>
            <a:r>
              <a:rPr lang="en-US" dirty="0"/>
              <a:t> </a:t>
            </a:r>
            <a:r>
              <a:rPr lang="en-US" dirty="0" err="1"/>
              <a:t>và</a:t>
            </a:r>
            <a:r>
              <a:rPr lang="en-US" dirty="0"/>
              <a:t> </a:t>
            </a:r>
            <a:r>
              <a:rPr lang="en-US" dirty="0" err="1"/>
              <a:t>phạm</a:t>
            </a:r>
            <a:r>
              <a:rPr lang="en-US" dirty="0"/>
              <a:t> vi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2616A5C9-38C4-C10B-A858-2DC07771F848}"/>
              </a:ext>
            </a:extLst>
          </p:cNvPr>
          <p:cNvSpPr>
            <a:spLocks noGrp="1"/>
          </p:cNvSpPr>
          <p:nvPr>
            <p:ph idx="1"/>
          </p:nvPr>
        </p:nvSpPr>
        <p:spPr/>
        <p:txBody>
          <a:bodyPr/>
          <a:lstStyle/>
          <a:p>
            <a:r>
              <a:rPr lang="en-US" dirty="0"/>
              <a:t> </a:t>
            </a:r>
            <a:r>
              <a:rPr lang="en-US" dirty="0" err="1"/>
              <a:t>Đối</a:t>
            </a:r>
            <a:r>
              <a:rPr lang="en-US" dirty="0"/>
              <a:t> </a:t>
            </a:r>
            <a:r>
              <a:rPr lang="en-US" dirty="0" err="1"/>
              <a:t>tượng</a:t>
            </a:r>
            <a:r>
              <a:rPr lang="en-US" dirty="0"/>
              <a:t> </a:t>
            </a:r>
            <a:r>
              <a:rPr lang="en-US" dirty="0" err="1"/>
              <a:t>nghiên</a:t>
            </a:r>
            <a:r>
              <a:rPr lang="en-US" dirty="0"/>
              <a:t> </a:t>
            </a:r>
            <a:r>
              <a:rPr lang="en-US" dirty="0" err="1"/>
              <a:t>cứu</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và</a:t>
            </a:r>
            <a:r>
              <a:rPr lang="en-US" dirty="0"/>
              <a:t> </a:t>
            </a:r>
            <a:r>
              <a:rPr lang="en-US" dirty="0" err="1"/>
              <a:t>nhân</a:t>
            </a:r>
            <a:r>
              <a:rPr lang="en-US" dirty="0"/>
              <a:t> </a:t>
            </a:r>
            <a:r>
              <a:rPr lang="en-US" dirty="0" err="1"/>
              <a:t>viên</a:t>
            </a:r>
            <a:r>
              <a:rPr lang="en-US" dirty="0"/>
              <a:t> </a:t>
            </a:r>
            <a:r>
              <a:rPr lang="en-US" dirty="0" err="1"/>
              <a:t>kho</a:t>
            </a:r>
            <a:r>
              <a:rPr lang="en-US" dirty="0"/>
              <a:t>.</a:t>
            </a:r>
          </a:p>
          <a:p>
            <a:r>
              <a:rPr lang="en-US" dirty="0"/>
              <a:t> </a:t>
            </a:r>
            <a:r>
              <a:rPr lang="en-US" dirty="0" err="1"/>
              <a:t>Phạm</a:t>
            </a:r>
            <a:r>
              <a:rPr lang="en-US" dirty="0"/>
              <a:t> vi </a:t>
            </a:r>
            <a:r>
              <a:rPr lang="en-US" dirty="0" err="1"/>
              <a:t>nghiên</a:t>
            </a:r>
            <a:r>
              <a:rPr lang="en-US" dirty="0"/>
              <a:t> </a:t>
            </a:r>
            <a:r>
              <a:rPr lang="en-US" dirty="0" err="1"/>
              <a:t>cứu</a:t>
            </a:r>
            <a:r>
              <a:rPr lang="en-US" dirty="0"/>
              <a:t>:</a:t>
            </a:r>
          </a:p>
          <a:p>
            <a:pPr lvl="1">
              <a:buFont typeface="Wingdings" panose="05000000000000000000" pitchFamily="2" charset="2"/>
              <a:buChar char="Ø"/>
            </a:pPr>
            <a:r>
              <a:rPr lang="en-US" dirty="0"/>
              <a:t> </a:t>
            </a:r>
            <a:r>
              <a:rPr lang="en-US" dirty="0" err="1"/>
              <a:t>Phạm</a:t>
            </a:r>
            <a:r>
              <a:rPr lang="en-US" dirty="0"/>
              <a:t> vi </a:t>
            </a:r>
            <a:r>
              <a:rPr lang="en-US" dirty="0" err="1"/>
              <a:t>không</a:t>
            </a:r>
            <a:r>
              <a:rPr lang="en-US" dirty="0"/>
              <a:t> </a:t>
            </a:r>
            <a:r>
              <a:rPr lang="en-US" dirty="0" err="1"/>
              <a:t>gian</a:t>
            </a:r>
            <a:r>
              <a:rPr lang="en-US" dirty="0"/>
              <a:t>: </a:t>
            </a:r>
            <a:r>
              <a:rPr lang="en-US" dirty="0" err="1"/>
              <a:t>Hệ</a:t>
            </a:r>
            <a:r>
              <a:rPr lang="en-US" dirty="0"/>
              <a:t> </a:t>
            </a:r>
            <a:r>
              <a:rPr lang="en-US" dirty="0" err="1"/>
              <a:t>thống</a:t>
            </a:r>
            <a:r>
              <a:rPr lang="en-US" dirty="0"/>
              <a:t> </a:t>
            </a:r>
            <a:r>
              <a:rPr lang="en-US" dirty="0" err="1"/>
              <a:t>đề</a:t>
            </a:r>
            <a:r>
              <a:rPr lang="en-US" dirty="0"/>
              <a:t> </a:t>
            </a:r>
            <a:r>
              <a:rPr lang="en-US" dirty="0" err="1"/>
              <a:t>xuất</a:t>
            </a:r>
            <a:r>
              <a:rPr lang="en-US" dirty="0"/>
              <a:t> </a:t>
            </a:r>
            <a:r>
              <a:rPr lang="en-US" dirty="0" err="1"/>
              <a:t>các</a:t>
            </a:r>
            <a:r>
              <a:rPr lang="en-US" dirty="0"/>
              <a:t> </a:t>
            </a:r>
            <a:r>
              <a:rPr lang="en-US" dirty="0" err="1"/>
              <a:t>giải</a:t>
            </a:r>
            <a:r>
              <a:rPr lang="en-US" dirty="0"/>
              <a:t> </a:t>
            </a:r>
            <a:r>
              <a:rPr lang="en-US" dirty="0" err="1"/>
              <a:t>pháp</a:t>
            </a:r>
            <a:r>
              <a:rPr lang="en-US" dirty="0"/>
              <a:t> </a:t>
            </a:r>
            <a:r>
              <a:rPr lang="en-US" dirty="0" err="1"/>
              <a:t>hoàn</a:t>
            </a:r>
            <a:r>
              <a:rPr lang="en-US" dirty="0"/>
              <a:t> </a:t>
            </a:r>
            <a:r>
              <a:rPr lang="en-US" dirty="0" err="1"/>
              <a:t>thiện</a:t>
            </a:r>
            <a:r>
              <a:rPr lang="en-US" dirty="0"/>
              <a:t> </a:t>
            </a:r>
            <a:r>
              <a:rPr lang="en-US" dirty="0" err="1"/>
              <a:t>vấn</a:t>
            </a:r>
            <a:r>
              <a:rPr lang="en-US" dirty="0"/>
              <a:t> </a:t>
            </a:r>
            <a:r>
              <a:rPr lang="en-US" dirty="0" err="1"/>
              <a:t>đề</a:t>
            </a:r>
            <a:r>
              <a:rPr lang="en-US" dirty="0"/>
              <a:t> </a:t>
            </a:r>
            <a:r>
              <a:rPr lang="en-US" dirty="0" err="1"/>
              <a:t>tại</a:t>
            </a:r>
            <a:r>
              <a:rPr lang="en-US" dirty="0"/>
              <a:t> </a:t>
            </a:r>
            <a:r>
              <a:rPr lang="en-US" dirty="0" err="1"/>
              <a:t>kho</a:t>
            </a:r>
            <a:r>
              <a:rPr lang="en-US" dirty="0"/>
              <a:t> </a:t>
            </a:r>
            <a:r>
              <a:rPr lang="en-US" dirty="0" err="1"/>
              <a:t>hàng</a:t>
            </a:r>
            <a:r>
              <a:rPr lang="en-US" dirty="0"/>
              <a:t> </a:t>
            </a:r>
            <a:r>
              <a:rPr lang="en-US" dirty="0" err="1"/>
              <a:t>giày</a:t>
            </a:r>
            <a:r>
              <a:rPr lang="en-US" dirty="0"/>
              <a:t> </a:t>
            </a:r>
            <a:r>
              <a:rPr lang="en-US" dirty="0" err="1"/>
              <a:t>dép</a:t>
            </a:r>
            <a:r>
              <a:rPr lang="en-US" dirty="0"/>
              <a:t> Văn </a:t>
            </a:r>
            <a:r>
              <a:rPr lang="en-US" dirty="0" err="1"/>
              <a:t>Hưng</a:t>
            </a:r>
            <a:r>
              <a:rPr lang="en-US" dirty="0"/>
              <a:t>.</a:t>
            </a:r>
          </a:p>
          <a:p>
            <a:pPr lvl="1">
              <a:buFont typeface="Wingdings" panose="05000000000000000000" pitchFamily="2" charset="2"/>
              <a:buChar char="Ø"/>
            </a:pPr>
            <a:r>
              <a:rPr lang="en-US" dirty="0"/>
              <a:t> </a:t>
            </a:r>
            <a:r>
              <a:rPr lang="en-US" dirty="0" err="1"/>
              <a:t>Phạm</a:t>
            </a:r>
            <a:r>
              <a:rPr lang="en-US" dirty="0"/>
              <a:t> vi </a:t>
            </a:r>
            <a:r>
              <a:rPr lang="en-US" dirty="0" err="1"/>
              <a:t>thời</a:t>
            </a:r>
            <a:r>
              <a:rPr lang="en-US" dirty="0"/>
              <a:t> </a:t>
            </a:r>
            <a:r>
              <a:rPr lang="en-US" dirty="0" err="1"/>
              <a:t>gian</a:t>
            </a:r>
            <a:r>
              <a:rPr lang="en-US" dirty="0"/>
              <a:t>: </a:t>
            </a:r>
            <a:r>
              <a:rPr lang="en-US" dirty="0" err="1"/>
              <a:t>Từ</a:t>
            </a:r>
            <a:r>
              <a:rPr lang="en-US" dirty="0"/>
              <a:t> </a:t>
            </a:r>
            <a:r>
              <a:rPr lang="en-US" dirty="0" err="1"/>
              <a:t>ngày</a:t>
            </a:r>
            <a:r>
              <a:rPr lang="en-US" dirty="0"/>
              <a:t> 25/9/2025 </a:t>
            </a:r>
            <a:r>
              <a:rPr lang="en-US" dirty="0" err="1"/>
              <a:t>đến</a:t>
            </a:r>
            <a:r>
              <a:rPr lang="en-US" dirty="0"/>
              <a:t> </a:t>
            </a:r>
            <a:r>
              <a:rPr lang="en-US" dirty="0" err="1"/>
              <a:t>ngày</a:t>
            </a:r>
            <a:r>
              <a:rPr lang="en-US" dirty="0"/>
              <a:t> 29/9/2025.</a:t>
            </a:r>
          </a:p>
        </p:txBody>
      </p:sp>
      <p:sp>
        <p:nvSpPr>
          <p:cNvPr id="4" name="Slide Number Placeholder 3">
            <a:extLst>
              <a:ext uri="{FF2B5EF4-FFF2-40B4-BE49-F238E27FC236}">
                <a16:creationId xmlns:a16="http://schemas.microsoft.com/office/drawing/2014/main" id="{44E22BEB-D9D8-D071-CDFA-9EA76C50E71D}"/>
              </a:ext>
            </a:extLst>
          </p:cNvPr>
          <p:cNvSpPr>
            <a:spLocks noGrp="1"/>
          </p:cNvSpPr>
          <p:nvPr>
            <p:ph type="sldNum" sz="quarter" idx="12"/>
          </p:nvPr>
        </p:nvSpPr>
        <p:spPr/>
        <p:txBody>
          <a:bodyPr/>
          <a:lstStyle/>
          <a:p>
            <a:fld id="{7ABBADF3-30DB-48D9-82C9-3A079DF6858D}" type="slidenum">
              <a:rPr lang="en-US" smtClean="0"/>
              <a:t>5</a:t>
            </a:fld>
            <a:endParaRPr lang="en-US"/>
          </a:p>
        </p:txBody>
      </p:sp>
    </p:spTree>
    <p:extLst>
      <p:ext uri="{BB962C8B-B14F-4D97-AF65-F5344CB8AC3E}">
        <p14:creationId xmlns:p14="http://schemas.microsoft.com/office/powerpoint/2010/main" val="3750728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22E8E-6422-0802-F8E9-7112825B2DCF}"/>
              </a:ext>
            </a:extLst>
          </p:cNvPr>
          <p:cNvSpPr>
            <a:spLocks noGrp="1"/>
          </p:cNvSpPr>
          <p:nvPr>
            <p:ph type="title"/>
          </p:nvPr>
        </p:nvSpPr>
        <p:spPr/>
        <p:txBody>
          <a:bodyPr/>
          <a:lstStyle/>
          <a:p>
            <a:r>
              <a:rPr lang="en-US" dirty="0" err="1"/>
              <a:t>Phương</a:t>
            </a:r>
            <a:r>
              <a:rPr lang="en-US" dirty="0"/>
              <a:t> </a:t>
            </a:r>
            <a:r>
              <a:rPr lang="en-US" dirty="0" err="1"/>
              <a:t>pháp</a:t>
            </a:r>
            <a:r>
              <a:rPr lang="en-US" dirty="0"/>
              <a:t>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1F1A48F3-B596-FACC-233C-7E11B331AD80}"/>
              </a:ext>
            </a:extLst>
          </p:cNvPr>
          <p:cNvSpPr>
            <a:spLocks noGrp="1"/>
          </p:cNvSpPr>
          <p:nvPr>
            <p:ph idx="1"/>
          </p:nvPr>
        </p:nvSpPr>
        <p:spPr/>
        <p:txBody>
          <a:bodyPr/>
          <a:lstStyle/>
          <a:p>
            <a:pPr algn="just"/>
            <a:r>
              <a:rPr lang="en-US" dirty="0"/>
              <a:t> </a:t>
            </a:r>
            <a:r>
              <a:rPr lang="en-US" dirty="0" err="1"/>
              <a:t>Khảo</a:t>
            </a:r>
            <a:r>
              <a:rPr lang="en-US" dirty="0"/>
              <a:t> </a:t>
            </a:r>
            <a:r>
              <a:rPr lang="en-US" dirty="0" err="1"/>
              <a:t>sát</a:t>
            </a:r>
            <a:r>
              <a:rPr lang="en-US" dirty="0"/>
              <a:t> </a:t>
            </a:r>
            <a:r>
              <a:rPr lang="en-US" dirty="0" err="1"/>
              <a:t>thực</a:t>
            </a:r>
            <a:r>
              <a:rPr lang="en-US" dirty="0"/>
              <a:t> </a:t>
            </a:r>
            <a:r>
              <a:rPr lang="en-US" dirty="0" err="1"/>
              <a:t>thế</a:t>
            </a:r>
            <a:r>
              <a:rPr lang="en-US" dirty="0"/>
              <a:t>.</a:t>
            </a:r>
          </a:p>
          <a:p>
            <a:pPr algn="just"/>
            <a:r>
              <a:rPr lang="en-US" dirty="0"/>
              <a:t> </a:t>
            </a:r>
            <a:r>
              <a:rPr lang="en-US" dirty="0" err="1"/>
              <a:t>Phương</a:t>
            </a:r>
            <a:r>
              <a:rPr lang="en-US" dirty="0"/>
              <a:t> </a:t>
            </a:r>
            <a:r>
              <a:rPr lang="en-US" dirty="0" err="1"/>
              <a:t>pháp</a:t>
            </a:r>
            <a:r>
              <a:rPr lang="en-US" dirty="0"/>
              <a:t> </a:t>
            </a:r>
            <a:r>
              <a:rPr lang="en-US" dirty="0" err="1"/>
              <a:t>thiết</a:t>
            </a:r>
            <a:r>
              <a:rPr lang="en-US" dirty="0"/>
              <a:t> </a:t>
            </a:r>
            <a:r>
              <a:rPr lang="en-US" dirty="0" err="1"/>
              <a:t>kế</a:t>
            </a:r>
            <a:r>
              <a:rPr lang="en-US" dirty="0"/>
              <a:t> </a:t>
            </a:r>
            <a:r>
              <a:rPr lang="en-US" dirty="0" err="1"/>
              <a:t>hướng</a:t>
            </a:r>
            <a:r>
              <a:rPr lang="en-US" dirty="0"/>
              <a:t> </a:t>
            </a:r>
            <a:r>
              <a:rPr lang="en-US" dirty="0" err="1"/>
              <a:t>cấu</a:t>
            </a:r>
            <a:r>
              <a:rPr lang="en-US" dirty="0"/>
              <a:t> </a:t>
            </a:r>
            <a:r>
              <a:rPr lang="en-US" dirty="0" err="1"/>
              <a:t>trúc</a:t>
            </a:r>
            <a:r>
              <a:rPr lang="en-US" dirty="0"/>
              <a:t>.</a:t>
            </a:r>
          </a:p>
          <a:p>
            <a:pPr marL="0" indent="0" algn="just">
              <a:buNone/>
            </a:pPr>
            <a:r>
              <a:rPr lang="en-US" dirty="0"/>
              <a:t>	</a:t>
            </a:r>
            <a:r>
              <a:rPr lang="en-US" dirty="0" err="1"/>
              <a:t>Các</a:t>
            </a:r>
            <a:r>
              <a:rPr lang="en-US" dirty="0"/>
              <a:t> </a:t>
            </a:r>
            <a:r>
              <a:rPr lang="en-US" dirty="0" err="1"/>
              <a:t>kỹ</a:t>
            </a:r>
            <a:r>
              <a:rPr lang="en-US" dirty="0"/>
              <a:t> </a:t>
            </a:r>
            <a:r>
              <a:rPr lang="en-US" dirty="0" err="1"/>
              <a:t>thuật</a:t>
            </a:r>
            <a:r>
              <a:rPr lang="en-US" dirty="0"/>
              <a:t> </a:t>
            </a:r>
            <a:r>
              <a:rPr lang="en-US" dirty="0" err="1"/>
              <a:t>phân</a:t>
            </a:r>
            <a:r>
              <a:rPr lang="en-US" dirty="0"/>
              <a:t> </a:t>
            </a:r>
            <a:r>
              <a:rPr lang="en-US" dirty="0" err="1"/>
              <a:t>tích</a:t>
            </a:r>
            <a:r>
              <a:rPr lang="en-US" dirty="0"/>
              <a:t> </a:t>
            </a:r>
            <a:r>
              <a:rPr lang="en-US" dirty="0" err="1"/>
              <a:t>hệ</a:t>
            </a:r>
            <a:r>
              <a:rPr lang="en-US" dirty="0"/>
              <a:t> </a:t>
            </a:r>
            <a:r>
              <a:rPr lang="en-US" dirty="0" err="1"/>
              <a:t>thống</a:t>
            </a:r>
            <a:r>
              <a:rPr lang="en-US" dirty="0"/>
              <a:t>:</a:t>
            </a:r>
          </a:p>
          <a:p>
            <a:pPr marL="971550" lvl="1" indent="-514350" algn="just">
              <a:buFont typeface="+mj-lt"/>
              <a:buAutoNum type="arabicPeriod"/>
            </a:pPr>
            <a:r>
              <a:rPr lang="en-US" dirty="0"/>
              <a:t>BFD (Business Function Diagram): </a:t>
            </a:r>
            <a:r>
              <a:rPr lang="en-US" dirty="0" err="1"/>
              <a:t>mô</a:t>
            </a:r>
            <a:r>
              <a:rPr lang="en-US" dirty="0"/>
              <a:t> </a:t>
            </a:r>
            <a:r>
              <a:rPr lang="en-US" dirty="0" err="1"/>
              <a:t>tả</a:t>
            </a:r>
            <a:r>
              <a:rPr lang="en-US" dirty="0"/>
              <a:t> </a:t>
            </a:r>
            <a:r>
              <a:rPr lang="en-US" dirty="0" err="1"/>
              <a:t>chức</a:t>
            </a:r>
            <a:r>
              <a:rPr lang="en-US" dirty="0"/>
              <a:t> </a:t>
            </a:r>
            <a:r>
              <a:rPr lang="en-US" dirty="0" err="1"/>
              <a:t>năng</a:t>
            </a:r>
            <a:r>
              <a:rPr lang="en-US" dirty="0"/>
              <a:t> </a:t>
            </a:r>
            <a:r>
              <a:rPr lang="en-US" dirty="0" err="1"/>
              <a:t>nghiệp</a:t>
            </a:r>
            <a:r>
              <a:rPr lang="en-US" dirty="0"/>
              <a:t> </a:t>
            </a:r>
            <a:r>
              <a:rPr lang="en-US" dirty="0" err="1"/>
              <a:t>vụ</a:t>
            </a:r>
            <a:r>
              <a:rPr lang="en-US" dirty="0"/>
              <a:t>.</a:t>
            </a:r>
          </a:p>
          <a:p>
            <a:pPr marL="971550" lvl="1" indent="-514350" algn="just">
              <a:buFont typeface="+mj-lt"/>
              <a:buAutoNum type="arabicPeriod"/>
            </a:pPr>
            <a:r>
              <a:rPr lang="en-US" dirty="0"/>
              <a:t>DFD (Data Flow Diagram): </a:t>
            </a:r>
            <a:r>
              <a:rPr lang="en-US" dirty="0" err="1"/>
              <a:t>mô</a:t>
            </a:r>
            <a:r>
              <a:rPr lang="en-US" dirty="0"/>
              <a:t> </a:t>
            </a:r>
            <a:r>
              <a:rPr lang="en-US" dirty="0" err="1"/>
              <a:t>tả</a:t>
            </a:r>
            <a:r>
              <a:rPr lang="en-US" dirty="0"/>
              <a:t> </a:t>
            </a:r>
            <a:r>
              <a:rPr lang="en-US" dirty="0" err="1"/>
              <a:t>luồng</a:t>
            </a:r>
            <a:r>
              <a:rPr lang="en-US" dirty="0"/>
              <a:t> </a:t>
            </a:r>
            <a:r>
              <a:rPr lang="en-US" dirty="0" err="1"/>
              <a:t>dữ</a:t>
            </a:r>
            <a:r>
              <a:rPr lang="en-US" dirty="0"/>
              <a:t> </a:t>
            </a:r>
            <a:r>
              <a:rPr lang="en-US" dirty="0" err="1"/>
              <a:t>liệu</a:t>
            </a:r>
            <a:r>
              <a:rPr lang="en-US" dirty="0"/>
              <a:t> </a:t>
            </a:r>
            <a:r>
              <a:rPr lang="en-US" dirty="0" err="1"/>
              <a:t>giữa</a:t>
            </a:r>
            <a:r>
              <a:rPr lang="en-US" dirty="0"/>
              <a:t> </a:t>
            </a:r>
            <a:r>
              <a:rPr lang="en-US" dirty="0" err="1"/>
              <a:t>các</a:t>
            </a:r>
            <a:r>
              <a:rPr lang="en-US" dirty="0"/>
              <a:t> </a:t>
            </a:r>
            <a:r>
              <a:rPr lang="en-US" dirty="0" err="1"/>
              <a:t>tiến</a:t>
            </a:r>
            <a:r>
              <a:rPr lang="en-US" dirty="0"/>
              <a:t> </a:t>
            </a:r>
            <a:r>
              <a:rPr lang="en-US" dirty="0" err="1"/>
              <a:t>trình</a:t>
            </a:r>
            <a:r>
              <a:rPr lang="en-US" dirty="0"/>
              <a:t> </a:t>
            </a:r>
            <a:r>
              <a:rPr lang="en-US" dirty="0" err="1"/>
              <a:t>và</a:t>
            </a:r>
            <a:r>
              <a:rPr lang="en-US" dirty="0"/>
              <a:t> </a:t>
            </a:r>
            <a:r>
              <a:rPr lang="en-US" dirty="0" err="1"/>
              <a:t>kho</a:t>
            </a:r>
            <a:r>
              <a:rPr lang="en-US" dirty="0"/>
              <a:t> </a:t>
            </a:r>
            <a:r>
              <a:rPr lang="en-US" dirty="0" err="1"/>
              <a:t>dữ</a:t>
            </a:r>
            <a:r>
              <a:rPr lang="en-US" dirty="0"/>
              <a:t> </a:t>
            </a:r>
            <a:r>
              <a:rPr lang="en-US" dirty="0" err="1"/>
              <a:t>liệu</a:t>
            </a:r>
            <a:r>
              <a:rPr lang="en-US" dirty="0"/>
              <a:t>.</a:t>
            </a:r>
          </a:p>
        </p:txBody>
      </p:sp>
      <p:sp>
        <p:nvSpPr>
          <p:cNvPr id="4" name="Slide Number Placeholder 3">
            <a:extLst>
              <a:ext uri="{FF2B5EF4-FFF2-40B4-BE49-F238E27FC236}">
                <a16:creationId xmlns:a16="http://schemas.microsoft.com/office/drawing/2014/main" id="{8AAC6FF2-0C2D-37A0-2688-85CE338A33F7}"/>
              </a:ext>
            </a:extLst>
          </p:cNvPr>
          <p:cNvSpPr>
            <a:spLocks noGrp="1"/>
          </p:cNvSpPr>
          <p:nvPr>
            <p:ph type="sldNum" sz="quarter" idx="12"/>
          </p:nvPr>
        </p:nvSpPr>
        <p:spPr/>
        <p:txBody>
          <a:bodyPr/>
          <a:lstStyle/>
          <a:p>
            <a:fld id="{7ABBADF3-30DB-48D9-82C9-3A079DF6858D}" type="slidenum">
              <a:rPr lang="en-US" smtClean="0"/>
              <a:t>6</a:t>
            </a:fld>
            <a:endParaRPr lang="en-US"/>
          </a:p>
        </p:txBody>
      </p:sp>
    </p:spTree>
    <p:extLst>
      <p:ext uri="{BB962C8B-B14F-4D97-AF65-F5344CB8AC3E}">
        <p14:creationId xmlns:p14="http://schemas.microsoft.com/office/powerpoint/2010/main" val="691297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5648" y="1947882"/>
            <a:ext cx="7272808" cy="727165"/>
          </a:xfrm>
        </p:spPr>
        <p:txBody>
          <a:bodyPr>
            <a:normAutofit/>
          </a:bodyPr>
          <a:lstStyle/>
          <a:p>
            <a:r>
              <a:rPr lang="en-US" sz="4200" dirty="0"/>
              <a:t>Khảo sát </a:t>
            </a:r>
          </a:p>
        </p:txBody>
      </p:sp>
      <p:sp>
        <p:nvSpPr>
          <p:cNvPr id="5" name="Text Placeholder 4"/>
          <p:cNvSpPr>
            <a:spLocks noGrp="1"/>
          </p:cNvSpPr>
          <p:nvPr>
            <p:ph type="body" idx="1"/>
          </p:nvPr>
        </p:nvSpPr>
        <p:spPr>
          <a:xfrm>
            <a:off x="767408" y="3197562"/>
            <a:ext cx="7838112" cy="1567478"/>
          </a:xfrm>
        </p:spPr>
        <p:txBody>
          <a:bodyPr>
            <a:normAutofit/>
          </a:bodyPr>
          <a:lstStyle/>
          <a:p>
            <a:r>
              <a:rPr lang="en-US" dirty="0">
                <a:solidFill>
                  <a:schemeClr val="tx1"/>
                </a:solidFill>
              </a:rPr>
              <a:t>Khảo sát hiện trạng </a:t>
            </a:r>
          </a:p>
          <a:p>
            <a:r>
              <a:rPr lang="en-US" dirty="0">
                <a:solidFill>
                  <a:schemeClr val="tx1"/>
                </a:solidFill>
              </a:rPr>
              <a:t>Quy </a:t>
            </a:r>
            <a:r>
              <a:rPr lang="en-US" dirty="0" err="1">
                <a:solidFill>
                  <a:schemeClr val="tx1"/>
                </a:solidFill>
              </a:rPr>
              <a:t>trình</a:t>
            </a:r>
            <a:r>
              <a:rPr lang="en-US" dirty="0">
                <a:solidFill>
                  <a:schemeClr val="tx1"/>
                </a:solidFill>
              </a:rPr>
              <a:t> </a:t>
            </a:r>
            <a:r>
              <a:rPr lang="en-US" dirty="0" err="1">
                <a:solidFill>
                  <a:schemeClr val="tx1"/>
                </a:solidFill>
              </a:rPr>
              <a:t>xử</a:t>
            </a:r>
            <a:r>
              <a:rPr lang="en-US" dirty="0">
                <a:solidFill>
                  <a:schemeClr val="tx1"/>
                </a:solidFill>
              </a:rPr>
              <a:t> </a:t>
            </a:r>
            <a:r>
              <a:rPr lang="en-US" dirty="0" err="1">
                <a:solidFill>
                  <a:schemeClr val="tx1"/>
                </a:solidFill>
              </a:rPr>
              <a:t>lý</a:t>
            </a:r>
            <a:endParaRPr lang="en-US" dirty="0">
              <a:solidFill>
                <a:schemeClr val="tx1"/>
              </a:solidFill>
            </a:endParaRPr>
          </a:p>
          <a:p>
            <a:r>
              <a:rPr lang="en-US" dirty="0" err="1">
                <a:solidFill>
                  <a:schemeClr val="tx1"/>
                </a:solidFill>
              </a:rPr>
              <a:t>Đánh</a:t>
            </a:r>
            <a:r>
              <a:rPr lang="en-US" dirty="0">
                <a:solidFill>
                  <a:schemeClr val="tx1"/>
                </a:solidFill>
              </a:rPr>
              <a:t> </a:t>
            </a:r>
            <a:r>
              <a:rPr lang="en-US" dirty="0" err="1">
                <a:solidFill>
                  <a:schemeClr val="tx1"/>
                </a:solidFill>
              </a:rPr>
              <a:t>giá</a:t>
            </a:r>
            <a:r>
              <a:rPr lang="en-US" dirty="0">
                <a:solidFill>
                  <a:schemeClr val="tx1"/>
                </a:solidFill>
              </a:rPr>
              <a:t> </a:t>
            </a:r>
            <a:r>
              <a:rPr lang="en-US" dirty="0" err="1">
                <a:solidFill>
                  <a:schemeClr val="tx1"/>
                </a:solidFill>
              </a:rPr>
              <a:t>ưu</a:t>
            </a:r>
            <a:r>
              <a:rPr lang="en-US" dirty="0">
                <a:solidFill>
                  <a:schemeClr val="tx1"/>
                </a:solidFill>
              </a:rPr>
              <a:t>, </a:t>
            </a:r>
            <a:r>
              <a:rPr lang="en-US" dirty="0" err="1">
                <a:solidFill>
                  <a:schemeClr val="tx1"/>
                </a:solidFill>
              </a:rPr>
              <a:t>nhược</a:t>
            </a:r>
            <a:r>
              <a:rPr lang="en-US" dirty="0">
                <a:solidFill>
                  <a:schemeClr val="tx1"/>
                </a:solidFill>
              </a:rPr>
              <a:t> </a:t>
            </a:r>
            <a:r>
              <a:rPr lang="en-US" dirty="0" err="1">
                <a:solidFill>
                  <a:schemeClr val="tx1"/>
                </a:solidFill>
              </a:rPr>
              <a:t>điểm</a:t>
            </a:r>
            <a:r>
              <a:rPr lang="en-US" dirty="0">
                <a:solidFill>
                  <a:schemeClr val="tx1"/>
                </a:solidFill>
              </a:rPr>
              <a:t> </a:t>
            </a:r>
            <a:r>
              <a:rPr lang="en-US" dirty="0" err="1">
                <a:solidFill>
                  <a:schemeClr val="tx1"/>
                </a:solidFill>
              </a:rPr>
              <a:t>của</a:t>
            </a:r>
            <a:r>
              <a:rPr lang="en-US" dirty="0">
                <a:solidFill>
                  <a:schemeClr val="tx1"/>
                </a:solidFill>
              </a:rPr>
              <a:t> </a:t>
            </a:r>
            <a:r>
              <a:rPr lang="en-US" dirty="0" err="1">
                <a:solidFill>
                  <a:schemeClr val="tx1"/>
                </a:solidFill>
              </a:rPr>
              <a:t>hệ</a:t>
            </a:r>
            <a:r>
              <a:rPr lang="en-US" dirty="0">
                <a:solidFill>
                  <a:schemeClr val="tx1"/>
                </a:solidFill>
              </a:rPr>
              <a:t> </a:t>
            </a:r>
            <a:r>
              <a:rPr lang="en-US" dirty="0" err="1">
                <a:solidFill>
                  <a:schemeClr val="tx1"/>
                </a:solidFill>
              </a:rPr>
              <a:t>thống</a:t>
            </a:r>
            <a:r>
              <a:rPr lang="en-US" dirty="0">
                <a:solidFill>
                  <a:schemeClr val="tx1"/>
                </a:solidFill>
              </a:rPr>
              <a:t> </a:t>
            </a:r>
            <a:r>
              <a:rPr lang="en-US" dirty="0" err="1">
                <a:solidFill>
                  <a:schemeClr val="tx1"/>
                </a:solidFill>
              </a:rPr>
              <a:t>cũ</a:t>
            </a:r>
            <a:endParaRPr lang="en-US"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70336"/>
            <a:ext cx="11008807" cy="610701"/>
          </a:xfrm>
        </p:spPr>
        <p:txBody>
          <a:bodyPr/>
          <a:lstStyle/>
          <a:p>
            <a:r>
              <a:rPr lang="en-US" dirty="0" err="1"/>
              <a:t>Kết</a:t>
            </a:r>
            <a:r>
              <a:rPr lang="en-US" dirty="0"/>
              <a:t> quả khảo sát</a:t>
            </a:r>
          </a:p>
        </p:txBody>
      </p:sp>
      <p:sp>
        <p:nvSpPr>
          <p:cNvPr id="2" name="Content Placeholder 1"/>
          <p:cNvSpPr>
            <a:spLocks noGrp="1"/>
          </p:cNvSpPr>
          <p:nvPr>
            <p:ph idx="1"/>
          </p:nvPr>
        </p:nvSpPr>
        <p:spPr/>
        <p:txBody>
          <a:bodyPr/>
          <a:lstStyle/>
          <a:p>
            <a:pPr algn="just"/>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ký</a:t>
            </a:r>
            <a:r>
              <a:rPr lang="en-US" dirty="0"/>
              <a:t> </a:t>
            </a:r>
            <a:r>
              <a:rPr lang="en-US" dirty="0" err="1"/>
              <a:t>kho</a:t>
            </a:r>
            <a:r>
              <a:rPr lang="en-US" dirty="0"/>
              <a:t> </a:t>
            </a:r>
            <a:r>
              <a:rPr lang="en-US" dirty="0" err="1"/>
              <a:t>hàng</a:t>
            </a:r>
            <a:r>
              <a:rPr lang="en-US" dirty="0"/>
              <a:t> </a:t>
            </a:r>
            <a:r>
              <a:rPr lang="en-US" dirty="0" err="1"/>
              <a:t>sử</a:t>
            </a:r>
            <a:r>
              <a:rPr lang="en-US" dirty="0"/>
              <a:t> </a:t>
            </a:r>
            <a:r>
              <a:rPr lang="en-US" dirty="0" err="1"/>
              <a:t>dụng</a:t>
            </a:r>
            <a:r>
              <a:rPr lang="en-US" dirty="0"/>
              <a:t> </a:t>
            </a:r>
            <a:r>
              <a:rPr lang="en-US" dirty="0" err="1"/>
              <a:t>phương</a:t>
            </a:r>
            <a:r>
              <a:rPr lang="en-US" dirty="0"/>
              <a:t> </a:t>
            </a:r>
            <a:r>
              <a:rPr lang="en-US" dirty="0" err="1"/>
              <a:t>pháp</a:t>
            </a:r>
            <a:r>
              <a:rPr lang="en-US" dirty="0"/>
              <a:t> </a:t>
            </a:r>
            <a:r>
              <a:rPr lang="en-US" dirty="0" err="1"/>
              <a:t>thủ</a:t>
            </a:r>
            <a:r>
              <a:rPr lang="en-US" dirty="0"/>
              <a:t> </a:t>
            </a:r>
            <a:r>
              <a:rPr lang="en-US" dirty="0" err="1"/>
              <a:t>công</a:t>
            </a:r>
            <a:r>
              <a:rPr lang="en-US" dirty="0"/>
              <a:t>. </a:t>
            </a:r>
            <a:r>
              <a:rPr lang="vi-VN" dirty="0"/>
              <a:t>Tất cả các nghiệp vụ liên quan đến nhập hàng, xuất hàng, quản lý hàng hóa trong kho đều được thực hiện bằng giấy tờ như phiếu nhập, phiếu xuất. Các thông tin này được nhân viên kho ghi chép bằng tay, lưu giữ trong sổ sách để phục vụ cho việc đối chiếu, kiểm tra khi cần thiết</a:t>
            </a:r>
            <a:r>
              <a:rPr lang="en-US" dirty="0"/>
              <a:t>.</a:t>
            </a:r>
            <a:endParaRPr lang="vi-VN" dirty="0"/>
          </a:p>
        </p:txBody>
      </p:sp>
      <p:sp>
        <p:nvSpPr>
          <p:cNvPr id="3" name="Slide Number Placeholder 2"/>
          <p:cNvSpPr>
            <a:spLocks noGrp="1"/>
          </p:cNvSpPr>
          <p:nvPr>
            <p:ph type="sldNum" sz="quarter" idx="12"/>
          </p:nvPr>
        </p:nvSpPr>
        <p:spPr/>
        <p:txBody>
          <a:bodyPr/>
          <a:lstStyle/>
          <a:p>
            <a:fld id="{7ABBADF3-30DB-48D9-82C9-3A079DF6858D}"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dirty="0"/>
              <a:t>Quy </a:t>
            </a:r>
            <a:r>
              <a:rPr lang="en-US" dirty="0" err="1"/>
              <a:t>trình</a:t>
            </a:r>
            <a:r>
              <a:rPr lang="en-US" dirty="0"/>
              <a:t> </a:t>
            </a:r>
            <a:r>
              <a:rPr lang="en-US" dirty="0" err="1"/>
              <a:t>xử</a:t>
            </a:r>
            <a:r>
              <a:rPr lang="en-US" dirty="0"/>
              <a:t> </a:t>
            </a:r>
            <a:r>
              <a:rPr lang="en-US" dirty="0" err="1"/>
              <a:t>lý</a:t>
            </a:r>
            <a:endParaRPr lang="vi-VN" dirty="0"/>
          </a:p>
        </p:txBody>
      </p:sp>
      <p:sp>
        <p:nvSpPr>
          <p:cNvPr id="4" name="Content Placeholder 3"/>
          <p:cNvSpPr>
            <a:spLocks noGrp="1"/>
          </p:cNvSpPr>
          <p:nvPr>
            <p:ph idx="1"/>
          </p:nvPr>
        </p:nvSpPr>
        <p:spPr/>
        <p:txBody>
          <a:bodyPr/>
          <a:lstStyle/>
          <a:p>
            <a:r>
              <a:rPr lang="en-US" dirty="0" err="1"/>
              <a:t>Quản</a:t>
            </a:r>
            <a:r>
              <a:rPr lang="en-US" dirty="0"/>
              <a:t> </a:t>
            </a:r>
            <a:r>
              <a:rPr lang="en-US" dirty="0" err="1"/>
              <a:t>lý</a:t>
            </a:r>
            <a:r>
              <a:rPr lang="en-US" dirty="0"/>
              <a:t> </a:t>
            </a:r>
            <a:r>
              <a:rPr lang="en-US" dirty="0" err="1"/>
              <a:t>hàng</a:t>
            </a:r>
            <a:r>
              <a:rPr lang="en-US" dirty="0"/>
              <a:t> </a:t>
            </a:r>
            <a:r>
              <a:rPr lang="en-US" dirty="0" err="1"/>
              <a:t>hóa</a:t>
            </a:r>
            <a:endParaRPr lang="en-US" dirty="0"/>
          </a:p>
          <a:p>
            <a:r>
              <a:rPr lang="en-US" dirty="0"/>
              <a:t> </a:t>
            </a:r>
            <a:r>
              <a:rPr lang="en-US" dirty="0" err="1"/>
              <a:t>Quản</a:t>
            </a:r>
            <a:r>
              <a:rPr lang="en-US" dirty="0"/>
              <a:t> </a:t>
            </a:r>
            <a:r>
              <a:rPr lang="en-US" dirty="0" err="1"/>
              <a:t>lý</a:t>
            </a:r>
            <a:r>
              <a:rPr lang="en-US" dirty="0"/>
              <a:t> </a:t>
            </a:r>
            <a:r>
              <a:rPr lang="en-US" dirty="0" err="1"/>
              <a:t>phiếu</a:t>
            </a:r>
            <a:r>
              <a:rPr lang="en-US" dirty="0"/>
              <a:t> </a:t>
            </a:r>
            <a:r>
              <a:rPr lang="en-US" dirty="0" err="1"/>
              <a:t>nhập</a:t>
            </a:r>
            <a:endParaRPr lang="en-US" dirty="0"/>
          </a:p>
          <a:p>
            <a:r>
              <a:rPr lang="en-US" dirty="0"/>
              <a:t> </a:t>
            </a:r>
            <a:r>
              <a:rPr lang="en-US" dirty="0" err="1"/>
              <a:t>Quản</a:t>
            </a:r>
            <a:r>
              <a:rPr lang="en-US" dirty="0"/>
              <a:t> </a:t>
            </a:r>
            <a:r>
              <a:rPr lang="en-US" dirty="0" err="1"/>
              <a:t>lý</a:t>
            </a:r>
            <a:r>
              <a:rPr lang="en-US" dirty="0"/>
              <a:t> </a:t>
            </a:r>
            <a:r>
              <a:rPr lang="en-US" dirty="0" err="1"/>
              <a:t>phiếu</a:t>
            </a:r>
            <a:r>
              <a:rPr lang="en-US" dirty="0"/>
              <a:t> </a:t>
            </a:r>
            <a:r>
              <a:rPr lang="en-US" dirty="0" err="1"/>
              <a:t>xuất</a:t>
            </a:r>
            <a:endParaRPr lang="en-US" dirty="0"/>
          </a:p>
        </p:txBody>
      </p:sp>
      <p:sp>
        <p:nvSpPr>
          <p:cNvPr id="3" name="Slide Number Placeholder 2"/>
          <p:cNvSpPr>
            <a:spLocks noGrp="1"/>
          </p:cNvSpPr>
          <p:nvPr>
            <p:ph type="sldNum" sz="quarter" idx="12"/>
          </p:nvPr>
        </p:nvSpPr>
        <p:spPr/>
        <p:txBody>
          <a:bodyPr/>
          <a:lstStyle/>
          <a:p>
            <a:fld id="{7ABBADF3-30DB-48D9-82C9-3A079DF6858D}"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CAA8-8A34-EA2D-8238-3E6F162A0500}"/>
              </a:ext>
            </a:extLst>
          </p:cNvPr>
          <p:cNvSpPr>
            <a:spLocks noGrp="1"/>
          </p:cNvSpPr>
          <p:nvPr>
            <p:ph type="title"/>
          </p:nvPr>
        </p:nvSpPr>
        <p:spPr/>
        <p:txBody>
          <a:bodyPr/>
          <a:lstStyle/>
          <a:p>
            <a:r>
              <a:rPr lang="en-US" dirty="0" err="1"/>
              <a:t>Đánh</a:t>
            </a:r>
            <a:r>
              <a:rPr lang="en-US" dirty="0"/>
              <a:t> </a:t>
            </a:r>
            <a:r>
              <a:rPr lang="en-US" dirty="0" err="1"/>
              <a:t>giá</a:t>
            </a:r>
            <a:r>
              <a:rPr lang="en-US" dirty="0"/>
              <a:t> </a:t>
            </a:r>
            <a:r>
              <a:rPr lang="en-US" dirty="0" err="1"/>
              <a:t>ưu</a:t>
            </a:r>
            <a:r>
              <a:rPr lang="en-US" dirty="0"/>
              <a:t>, </a:t>
            </a:r>
            <a:r>
              <a:rPr lang="en-US" dirty="0" err="1"/>
              <a:t>nhược</a:t>
            </a:r>
            <a:r>
              <a:rPr lang="en-US" dirty="0"/>
              <a:t> </a:t>
            </a:r>
            <a:r>
              <a:rPr lang="en-US" dirty="0" err="1"/>
              <a:t>điểm</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cũ</a:t>
            </a:r>
            <a:endParaRPr lang="en-US" dirty="0"/>
          </a:p>
        </p:txBody>
      </p:sp>
      <p:graphicFrame>
        <p:nvGraphicFramePr>
          <p:cNvPr id="5" name="Content Placeholder 4">
            <a:extLst>
              <a:ext uri="{FF2B5EF4-FFF2-40B4-BE49-F238E27FC236}">
                <a16:creationId xmlns:a16="http://schemas.microsoft.com/office/drawing/2014/main" id="{F1A9D840-2934-B80A-EA23-E6679A613A6E}"/>
              </a:ext>
            </a:extLst>
          </p:cNvPr>
          <p:cNvGraphicFramePr>
            <a:graphicFrameLocks noGrp="1"/>
          </p:cNvGraphicFramePr>
          <p:nvPr>
            <p:ph idx="1"/>
            <p:extLst>
              <p:ext uri="{D42A27DB-BD31-4B8C-83A1-F6EECF244321}">
                <p14:modId xmlns:p14="http://schemas.microsoft.com/office/powerpoint/2010/main" val="943811217"/>
              </p:ext>
            </p:extLst>
          </p:nvPr>
        </p:nvGraphicFramePr>
        <p:xfrm>
          <a:off x="838200" y="1051560"/>
          <a:ext cx="11009314" cy="2133600"/>
        </p:xfrm>
        <a:graphic>
          <a:graphicData uri="http://schemas.openxmlformats.org/drawingml/2006/table">
            <a:tbl>
              <a:tblPr firstRow="1" bandRow="1">
                <a:tableStyleId>{5C22544A-7EE6-4342-B048-85BDC9FD1C3A}</a:tableStyleId>
              </a:tblPr>
              <a:tblGrid>
                <a:gridCol w="5504657">
                  <a:extLst>
                    <a:ext uri="{9D8B030D-6E8A-4147-A177-3AD203B41FA5}">
                      <a16:colId xmlns:a16="http://schemas.microsoft.com/office/drawing/2014/main" val="2321426631"/>
                    </a:ext>
                  </a:extLst>
                </a:gridCol>
                <a:gridCol w="5504657">
                  <a:extLst>
                    <a:ext uri="{9D8B030D-6E8A-4147-A177-3AD203B41FA5}">
                      <a16:colId xmlns:a16="http://schemas.microsoft.com/office/drawing/2014/main" val="224721624"/>
                    </a:ext>
                  </a:extLst>
                </a:gridCol>
              </a:tblGrid>
              <a:tr h="230505">
                <a:tc>
                  <a:txBody>
                    <a:bodyPr/>
                    <a:lstStyle/>
                    <a:p>
                      <a:pPr algn="ctr"/>
                      <a:r>
                        <a:rPr lang="en-US" sz="2200" dirty="0">
                          <a:latin typeface="Times New Roman" panose="02020603050405020304" pitchFamily="18" charset="0"/>
                          <a:cs typeface="Times New Roman" panose="02020603050405020304" pitchFamily="18" charset="0"/>
                        </a:rPr>
                        <a:t>ƯU ĐIỂM</a:t>
                      </a:r>
                    </a:p>
                  </a:txBody>
                  <a:tcPr/>
                </a:tc>
                <a:tc>
                  <a:txBody>
                    <a:bodyPr/>
                    <a:lstStyle/>
                    <a:p>
                      <a:pPr algn="ctr"/>
                      <a:r>
                        <a:rPr lang="en-US" sz="2200" dirty="0">
                          <a:latin typeface="Times New Roman" panose="02020603050405020304" pitchFamily="18" charset="0"/>
                          <a:cs typeface="Times New Roman" panose="02020603050405020304" pitchFamily="18" charset="0"/>
                        </a:rPr>
                        <a:t>NHƯỢC ĐIỂM</a:t>
                      </a:r>
                    </a:p>
                  </a:txBody>
                  <a:tcPr/>
                </a:tc>
                <a:extLst>
                  <a:ext uri="{0D108BD9-81ED-4DB2-BD59-A6C34878D82A}">
                    <a16:rowId xmlns:a16="http://schemas.microsoft.com/office/drawing/2014/main" val="257798704"/>
                  </a:ext>
                </a:extLst>
              </a:tr>
              <a:tr h="370840">
                <a:tc>
                  <a:txBody>
                    <a:bodyPr/>
                    <a:lstStyle/>
                    <a:p>
                      <a:r>
                        <a:rPr lang="en-US" sz="2200" dirty="0" err="1">
                          <a:latin typeface="Times New Roman" panose="02020603050405020304" pitchFamily="18" charset="0"/>
                          <a:cs typeface="Times New Roman" panose="02020603050405020304" pitchFamily="18" charset="0"/>
                        </a:rPr>
                        <a:t>Đơn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dễ</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Khó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lưu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mở</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theo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dõi</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96156617"/>
                  </a:ext>
                </a:extLst>
              </a:tr>
              <a:tr h="370840">
                <a:tc>
                  <a:txBody>
                    <a:bodyPr/>
                    <a:lstStyle/>
                    <a:p>
                      <a:r>
                        <a:rPr lang="en-US" sz="2200" dirty="0">
                          <a:latin typeface="Times New Roman" panose="02020603050405020304" pitchFamily="18" charset="0"/>
                          <a:cs typeface="Times New Roman" panose="02020603050405020304" pitchFamily="18" charset="0"/>
                        </a:rPr>
                        <a:t>Chi </a:t>
                      </a:r>
                      <a:r>
                        <a:rPr lang="en-US" sz="2200" dirty="0" err="1">
                          <a:latin typeface="Times New Roman" panose="02020603050405020304" pitchFamily="18" charset="0"/>
                          <a:cs typeface="Times New Roman" panose="02020603050405020304" pitchFamily="18" charset="0"/>
                        </a:rPr>
                        <a:t>phí</a:t>
                      </a:r>
                      <a:r>
                        <a:rPr lang="en-US" sz="2200" dirty="0">
                          <a:latin typeface="Times New Roman" panose="02020603050405020304" pitchFamily="18" charset="0"/>
                          <a:cs typeface="Times New Roman" panose="02020603050405020304" pitchFamily="18" charset="0"/>
                        </a:rPr>
                        <a:t> ban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thấp</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thấp</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9842060"/>
                  </a:ext>
                </a:extLst>
              </a:tr>
              <a:tr h="370840">
                <a:tc>
                  <a:txBody>
                    <a:bodyPr/>
                    <a:lstStyle/>
                    <a:p>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hoạt</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Tốn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nhiều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gian</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2487472"/>
                  </a:ext>
                </a:extLst>
              </a:tr>
              <a:tr h="370840">
                <a:tc>
                  <a:txBody>
                    <a:bodyPr/>
                    <a:lstStyle/>
                    <a:p>
                      <a:r>
                        <a:rPr lang="en-US" sz="2200" dirty="0" err="1">
                          <a:latin typeface="Times New Roman" panose="02020603050405020304" pitchFamily="18" charset="0"/>
                          <a:cs typeface="Times New Roman" panose="02020603050405020304" pitchFamily="18" charset="0"/>
                        </a:rPr>
                        <a:t>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rủi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mật</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Thiếu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mật</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1705331"/>
                  </a:ext>
                </a:extLst>
              </a:tr>
            </a:tbl>
          </a:graphicData>
        </a:graphic>
      </p:graphicFrame>
      <p:sp>
        <p:nvSpPr>
          <p:cNvPr id="4" name="Slide Number Placeholder 3">
            <a:extLst>
              <a:ext uri="{FF2B5EF4-FFF2-40B4-BE49-F238E27FC236}">
                <a16:creationId xmlns:a16="http://schemas.microsoft.com/office/drawing/2014/main" id="{63F20F6C-D2AA-25CF-84D0-438A604072BF}"/>
              </a:ext>
            </a:extLst>
          </p:cNvPr>
          <p:cNvSpPr>
            <a:spLocks noGrp="1"/>
          </p:cNvSpPr>
          <p:nvPr>
            <p:ph type="sldNum" sz="quarter" idx="12"/>
          </p:nvPr>
        </p:nvSpPr>
        <p:spPr/>
        <p:txBody>
          <a:bodyPr/>
          <a:lstStyle/>
          <a:p>
            <a:fld id="{7ABBADF3-30DB-48D9-82C9-3A079DF6858D}" type="slidenum">
              <a:rPr lang="en-US" smtClean="0"/>
              <a:t>10</a:t>
            </a:fld>
            <a:endParaRPr lang="en-US"/>
          </a:p>
        </p:txBody>
      </p:sp>
    </p:spTree>
    <p:extLst>
      <p:ext uri="{BB962C8B-B14F-4D97-AF65-F5344CB8AC3E}">
        <p14:creationId xmlns:p14="http://schemas.microsoft.com/office/powerpoint/2010/main" val="1113851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Phân tích thiết kế hệ thống</a:t>
            </a:r>
            <a:endParaRPr lang="vi-VN" dirty="0"/>
          </a:p>
        </p:txBody>
      </p:sp>
      <p:sp>
        <p:nvSpPr>
          <p:cNvPr id="5" name="Text Placeholder 4"/>
          <p:cNvSpPr>
            <a:spLocks noGrp="1"/>
          </p:cNvSpPr>
          <p:nvPr>
            <p:ph type="body" idx="1"/>
          </p:nvPr>
        </p:nvSpPr>
        <p:spPr>
          <a:xfrm>
            <a:off x="767408" y="3197562"/>
            <a:ext cx="7533312" cy="2014518"/>
          </a:xfrm>
        </p:spPr>
        <p:txBody>
          <a:bodyPr>
            <a:normAutofit/>
          </a:bodyPr>
          <a:lstStyle/>
          <a:p>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phân</a:t>
            </a:r>
            <a:r>
              <a:rPr lang="en-US" dirty="0">
                <a:solidFill>
                  <a:schemeClr val="tx1"/>
                </a:solidFill>
              </a:rPr>
              <a:t> </a:t>
            </a:r>
            <a:r>
              <a:rPr lang="en-US" dirty="0" err="1">
                <a:solidFill>
                  <a:schemeClr val="tx1"/>
                </a:solidFill>
              </a:rPr>
              <a:t>rã</a:t>
            </a:r>
            <a:r>
              <a:rPr lang="en-US" dirty="0">
                <a:solidFill>
                  <a:schemeClr val="tx1"/>
                </a:solidFill>
              </a:rPr>
              <a:t> </a:t>
            </a:r>
            <a:r>
              <a:rPr lang="en-US" dirty="0" err="1">
                <a:solidFill>
                  <a:schemeClr val="tx1"/>
                </a:solidFill>
              </a:rPr>
              <a:t>chức</a:t>
            </a:r>
            <a:r>
              <a:rPr lang="en-US" dirty="0">
                <a:solidFill>
                  <a:schemeClr val="tx1"/>
                </a:solidFill>
              </a:rPr>
              <a:t> </a:t>
            </a:r>
            <a:r>
              <a:rPr lang="en-US" dirty="0" err="1">
                <a:solidFill>
                  <a:schemeClr val="tx1"/>
                </a:solidFill>
              </a:rPr>
              <a:t>năng</a:t>
            </a:r>
            <a:r>
              <a:rPr lang="en-US" dirty="0">
                <a:solidFill>
                  <a:schemeClr val="tx1"/>
                </a:solidFill>
              </a:rPr>
              <a:t> (BFD)</a:t>
            </a:r>
          </a:p>
          <a:p>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luông</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r>
              <a:rPr lang="en-US" dirty="0">
                <a:solidFill>
                  <a:schemeClr val="tx1"/>
                </a:solidFill>
              </a:rPr>
              <a:t> (DFD)</a:t>
            </a:r>
          </a:p>
          <a:p>
            <a:pPr marL="628650" lvl="1" indent="-514350">
              <a:buFont typeface="+mj-lt"/>
              <a:buAutoNum type="arabicPeriod"/>
            </a:pPr>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mức</a:t>
            </a:r>
            <a:r>
              <a:rPr lang="en-US" dirty="0">
                <a:solidFill>
                  <a:schemeClr val="tx1"/>
                </a:solidFill>
              </a:rPr>
              <a:t> </a:t>
            </a:r>
            <a:r>
              <a:rPr lang="en-US" dirty="0" err="1">
                <a:solidFill>
                  <a:schemeClr val="tx1"/>
                </a:solidFill>
              </a:rPr>
              <a:t>ngữ</a:t>
            </a:r>
            <a:r>
              <a:rPr lang="en-US" dirty="0">
                <a:solidFill>
                  <a:schemeClr val="tx1"/>
                </a:solidFill>
              </a:rPr>
              <a:t> </a:t>
            </a:r>
            <a:r>
              <a:rPr lang="en-US" dirty="0" err="1">
                <a:solidFill>
                  <a:schemeClr val="tx1"/>
                </a:solidFill>
              </a:rPr>
              <a:t>cảnh</a:t>
            </a:r>
            <a:r>
              <a:rPr lang="en-US" dirty="0">
                <a:solidFill>
                  <a:schemeClr val="tx1"/>
                </a:solidFill>
              </a:rPr>
              <a:t> (</a:t>
            </a:r>
            <a:r>
              <a:rPr lang="en-US" dirty="0" err="1">
                <a:solidFill>
                  <a:schemeClr val="tx1"/>
                </a:solidFill>
              </a:rPr>
              <a:t>mức</a:t>
            </a:r>
            <a:r>
              <a:rPr lang="en-US" dirty="0">
                <a:solidFill>
                  <a:schemeClr val="tx1"/>
                </a:solidFill>
              </a:rPr>
              <a:t> 0)</a:t>
            </a:r>
          </a:p>
          <a:p>
            <a:pPr marL="628650" lvl="1" indent="-514350">
              <a:buFont typeface="+mj-lt"/>
              <a:buAutoNum type="arabicPeriod"/>
            </a:pPr>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mức</a:t>
            </a:r>
            <a:r>
              <a:rPr lang="en-US" dirty="0">
                <a:solidFill>
                  <a:schemeClr val="tx1"/>
                </a:solidFill>
              </a:rPr>
              <a:t> </a:t>
            </a:r>
            <a:r>
              <a:rPr lang="en-US" dirty="0" err="1">
                <a:solidFill>
                  <a:schemeClr val="tx1"/>
                </a:solidFill>
              </a:rPr>
              <a:t>đỉnh</a:t>
            </a:r>
            <a:r>
              <a:rPr lang="en-US" dirty="0">
                <a:solidFill>
                  <a:schemeClr val="tx1"/>
                </a:solidFill>
              </a:rPr>
              <a:t> (</a:t>
            </a:r>
            <a:r>
              <a:rPr lang="en-US" dirty="0" err="1">
                <a:solidFill>
                  <a:schemeClr val="tx1"/>
                </a:solidFill>
              </a:rPr>
              <a:t>mức</a:t>
            </a:r>
            <a:r>
              <a:rPr lang="en-US" dirty="0">
                <a:solidFill>
                  <a:schemeClr val="tx1"/>
                </a:solidFill>
              </a:rPr>
              <a:t> 1)</a:t>
            </a:r>
          </a:p>
          <a:p>
            <a:pPr marL="628650" lvl="1" indent="-514350">
              <a:buFont typeface="+mj-lt"/>
              <a:buAutoNum type="arabicPeriod"/>
            </a:pPr>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mức</a:t>
            </a:r>
            <a:r>
              <a:rPr lang="en-US" dirty="0">
                <a:solidFill>
                  <a:schemeClr val="tx1"/>
                </a:solidFill>
              </a:rPr>
              <a:t> </a:t>
            </a:r>
            <a:r>
              <a:rPr lang="en-US" dirty="0" err="1">
                <a:solidFill>
                  <a:schemeClr val="tx1"/>
                </a:solidFill>
              </a:rPr>
              <a:t>dưới</a:t>
            </a:r>
            <a:r>
              <a:rPr lang="en-US" dirty="0">
                <a:solidFill>
                  <a:schemeClr val="tx1"/>
                </a:solidFill>
              </a:rPr>
              <a:t> </a:t>
            </a:r>
            <a:r>
              <a:rPr lang="en-US" dirty="0" err="1">
                <a:solidFill>
                  <a:schemeClr val="tx1"/>
                </a:solidFill>
              </a:rPr>
              <a:t>đỉnh</a:t>
            </a:r>
            <a:r>
              <a:rPr lang="en-US" dirty="0">
                <a:solidFill>
                  <a:schemeClr val="tx1"/>
                </a:solidFill>
              </a:rPr>
              <a:t> (</a:t>
            </a:r>
            <a:r>
              <a:rPr lang="en-US" dirty="0" err="1">
                <a:solidFill>
                  <a:schemeClr val="tx1"/>
                </a:solidFill>
              </a:rPr>
              <a:t>mức</a:t>
            </a:r>
            <a:r>
              <a:rPr lang="en-US" dirty="0">
                <a:solidFill>
                  <a:schemeClr val="tx1"/>
                </a:solidFill>
              </a:rPr>
              <a:t> 2)</a:t>
            </a:r>
            <a:endParaRPr lang="vi-VN"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dirty="0" err="1"/>
              <a:t>Sơ</a:t>
            </a:r>
            <a:r>
              <a:rPr lang="en-US" dirty="0"/>
              <a:t> </a:t>
            </a:r>
            <a:r>
              <a:rPr lang="en-US" dirty="0" err="1"/>
              <a:t>đồ</a:t>
            </a:r>
            <a:r>
              <a:rPr lang="en-US" dirty="0"/>
              <a:t> </a:t>
            </a:r>
            <a:r>
              <a:rPr lang="en-US" dirty="0" err="1"/>
              <a:t>phân</a:t>
            </a:r>
            <a:r>
              <a:rPr lang="en-US" dirty="0"/>
              <a:t> </a:t>
            </a:r>
            <a:r>
              <a:rPr lang="en-US" dirty="0" err="1"/>
              <a:t>rã</a:t>
            </a:r>
            <a:r>
              <a:rPr lang="en-US" dirty="0"/>
              <a:t> </a:t>
            </a:r>
            <a:r>
              <a:rPr lang="en-US" dirty="0" err="1"/>
              <a:t>chức</a:t>
            </a:r>
            <a:r>
              <a:rPr lang="en-US" dirty="0"/>
              <a:t> </a:t>
            </a:r>
            <a:r>
              <a:rPr lang="en-US" dirty="0" err="1"/>
              <a:t>năng</a:t>
            </a:r>
            <a:endParaRPr lang="en-US" dirty="0"/>
          </a:p>
        </p:txBody>
      </p:sp>
      <p:sp>
        <p:nvSpPr>
          <p:cNvPr id="3" name="Slide Number Placeholder 2"/>
          <p:cNvSpPr>
            <a:spLocks noGrp="1"/>
          </p:cNvSpPr>
          <p:nvPr>
            <p:ph type="sldNum" sz="quarter" idx="12"/>
          </p:nvPr>
        </p:nvSpPr>
        <p:spPr/>
        <p:txBody>
          <a:bodyPr/>
          <a:lstStyle/>
          <a:p>
            <a:fld id="{7ABBADF3-30DB-48D9-82C9-3A079DF6858D}" type="slidenum">
              <a:rPr lang="en-US" smtClean="0"/>
              <a:t>12</a:t>
            </a:fld>
            <a:endParaRPr lang="en-US"/>
          </a:p>
        </p:txBody>
      </p:sp>
      <p:pic>
        <p:nvPicPr>
          <p:cNvPr id="8" name="Content Placeholder 7">
            <a:extLst>
              <a:ext uri="{FF2B5EF4-FFF2-40B4-BE49-F238E27FC236}">
                <a16:creationId xmlns:a16="http://schemas.microsoft.com/office/drawing/2014/main" id="{C13BC8BF-BC43-CBC2-EA0D-67D71301656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330379"/>
            <a:ext cx="11009313" cy="43020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B53C9-E020-5463-CF25-46D540B7E3C0}"/>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ngữ</a:t>
            </a:r>
            <a:r>
              <a:rPr lang="en-US" dirty="0"/>
              <a:t> </a:t>
            </a:r>
            <a:r>
              <a:rPr lang="en-US" dirty="0" err="1"/>
              <a:t>cảnh</a:t>
            </a:r>
            <a:endParaRPr lang="en-US" dirty="0"/>
          </a:p>
        </p:txBody>
      </p:sp>
      <p:sp>
        <p:nvSpPr>
          <p:cNvPr id="4" name="Slide Number Placeholder 3">
            <a:extLst>
              <a:ext uri="{FF2B5EF4-FFF2-40B4-BE49-F238E27FC236}">
                <a16:creationId xmlns:a16="http://schemas.microsoft.com/office/drawing/2014/main" id="{527192C3-D80D-EEDA-89A2-367638A986C3}"/>
              </a:ext>
            </a:extLst>
          </p:cNvPr>
          <p:cNvSpPr>
            <a:spLocks noGrp="1"/>
          </p:cNvSpPr>
          <p:nvPr>
            <p:ph type="sldNum" sz="quarter" idx="12"/>
          </p:nvPr>
        </p:nvSpPr>
        <p:spPr/>
        <p:txBody>
          <a:bodyPr/>
          <a:lstStyle/>
          <a:p>
            <a:fld id="{7ABBADF3-30DB-48D9-82C9-3A079DF6858D}" type="slidenum">
              <a:rPr lang="en-US" smtClean="0"/>
              <a:t>13</a:t>
            </a:fld>
            <a:endParaRPr lang="en-US"/>
          </a:p>
        </p:txBody>
      </p:sp>
      <p:pic>
        <p:nvPicPr>
          <p:cNvPr id="5" name="Content Placeholder 4">
            <a:extLst>
              <a:ext uri="{FF2B5EF4-FFF2-40B4-BE49-F238E27FC236}">
                <a16:creationId xmlns:a16="http://schemas.microsoft.com/office/drawing/2014/main" id="{220F84B3-4301-699F-AE6D-144FE1EEDE6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6754" y="885825"/>
            <a:ext cx="6612205" cy="5191125"/>
          </a:xfrm>
          <a:prstGeom prst="rect">
            <a:avLst/>
          </a:prstGeom>
          <a:noFill/>
          <a:ln>
            <a:noFill/>
          </a:ln>
        </p:spPr>
      </p:pic>
    </p:spTree>
    <p:extLst>
      <p:ext uri="{BB962C8B-B14F-4D97-AF65-F5344CB8AC3E}">
        <p14:creationId xmlns:p14="http://schemas.microsoft.com/office/powerpoint/2010/main" val="1236178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F5AA-A858-77B1-3106-8A5743A61175}"/>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đỉnh</a:t>
            </a:r>
            <a:endParaRPr lang="en-US" dirty="0"/>
          </a:p>
        </p:txBody>
      </p:sp>
      <p:sp>
        <p:nvSpPr>
          <p:cNvPr id="4" name="Slide Number Placeholder 3">
            <a:extLst>
              <a:ext uri="{FF2B5EF4-FFF2-40B4-BE49-F238E27FC236}">
                <a16:creationId xmlns:a16="http://schemas.microsoft.com/office/drawing/2014/main" id="{1B496665-2CF0-601B-E757-CECD09F302B9}"/>
              </a:ext>
            </a:extLst>
          </p:cNvPr>
          <p:cNvSpPr>
            <a:spLocks noGrp="1"/>
          </p:cNvSpPr>
          <p:nvPr>
            <p:ph type="sldNum" sz="quarter" idx="12"/>
          </p:nvPr>
        </p:nvSpPr>
        <p:spPr/>
        <p:txBody>
          <a:bodyPr/>
          <a:lstStyle/>
          <a:p>
            <a:fld id="{7ABBADF3-30DB-48D9-82C9-3A079DF6858D}" type="slidenum">
              <a:rPr lang="en-US" smtClean="0"/>
              <a:t>14</a:t>
            </a:fld>
            <a:endParaRPr lang="en-US"/>
          </a:p>
        </p:txBody>
      </p:sp>
      <p:pic>
        <p:nvPicPr>
          <p:cNvPr id="5" name="Content Placeholder 4" descr="dahp000201chot.drawio (6)">
            <a:extLst>
              <a:ext uri="{FF2B5EF4-FFF2-40B4-BE49-F238E27FC236}">
                <a16:creationId xmlns:a16="http://schemas.microsoft.com/office/drawing/2014/main" id="{14205558-6EBB-7CF7-C10B-AE0EA74CFAB5}"/>
              </a:ext>
            </a:extLst>
          </p:cNvPr>
          <p:cNvPicPr>
            <a:picLocks noGrp="1" noChangeAspect="1"/>
          </p:cNvPicPr>
          <p:nvPr>
            <p:ph idx="1"/>
          </p:nvPr>
        </p:nvPicPr>
        <p:blipFill>
          <a:blip r:embed="rId2"/>
          <a:stretch>
            <a:fillRect/>
          </a:stretch>
        </p:blipFill>
        <p:spPr>
          <a:xfrm>
            <a:off x="2712720" y="885825"/>
            <a:ext cx="7487920" cy="5191125"/>
          </a:xfrm>
          <a:prstGeom prst="rect">
            <a:avLst/>
          </a:prstGeom>
        </p:spPr>
      </p:pic>
    </p:spTree>
    <p:extLst>
      <p:ext uri="{BB962C8B-B14F-4D97-AF65-F5344CB8AC3E}">
        <p14:creationId xmlns:p14="http://schemas.microsoft.com/office/powerpoint/2010/main" val="75735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83371-788E-D038-1FB9-28EF07618BFF}"/>
              </a:ext>
            </a:extLst>
          </p:cNvPr>
          <p:cNvSpPr>
            <a:spLocks noGrp="1"/>
          </p:cNvSpPr>
          <p:nvPr>
            <p:ph type="title"/>
          </p:nvPr>
        </p:nvSpPr>
        <p:spPr/>
        <p:txBody>
          <a:bodyPr>
            <a:normAutofit fontScale="90000"/>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kệ</a:t>
            </a:r>
            <a:r>
              <a:rPr lang="en-US" dirty="0"/>
              <a:t>, </a:t>
            </a:r>
            <a:r>
              <a:rPr lang="en-US" dirty="0" err="1"/>
              <a:t>kho</a:t>
            </a:r>
            <a:r>
              <a:rPr lang="en-US" dirty="0"/>
              <a:t> </a:t>
            </a:r>
            <a:r>
              <a:rPr lang="en-US" dirty="0" err="1"/>
              <a:t>hàng</a:t>
            </a:r>
            <a:endParaRPr lang="en-US" dirty="0"/>
          </a:p>
        </p:txBody>
      </p:sp>
      <p:sp>
        <p:nvSpPr>
          <p:cNvPr id="4" name="Slide Number Placeholder 3">
            <a:extLst>
              <a:ext uri="{FF2B5EF4-FFF2-40B4-BE49-F238E27FC236}">
                <a16:creationId xmlns:a16="http://schemas.microsoft.com/office/drawing/2014/main" id="{1F07DF56-130E-A48A-3232-46A3032250F4}"/>
              </a:ext>
            </a:extLst>
          </p:cNvPr>
          <p:cNvSpPr>
            <a:spLocks noGrp="1"/>
          </p:cNvSpPr>
          <p:nvPr>
            <p:ph type="sldNum" sz="quarter" idx="12"/>
          </p:nvPr>
        </p:nvSpPr>
        <p:spPr/>
        <p:txBody>
          <a:bodyPr/>
          <a:lstStyle/>
          <a:p>
            <a:fld id="{7ABBADF3-30DB-48D9-82C9-3A079DF6858D}" type="slidenum">
              <a:rPr lang="en-US" smtClean="0"/>
              <a:t>15</a:t>
            </a:fld>
            <a:endParaRPr lang="en-US"/>
          </a:p>
        </p:txBody>
      </p:sp>
      <p:pic>
        <p:nvPicPr>
          <p:cNvPr id="5" name="Content Placeholder 4" descr="muc1.drawio (8)">
            <a:extLst>
              <a:ext uri="{FF2B5EF4-FFF2-40B4-BE49-F238E27FC236}">
                <a16:creationId xmlns:a16="http://schemas.microsoft.com/office/drawing/2014/main" id="{1DE19D47-7C18-FFCA-941D-77275F2C7533}"/>
              </a:ext>
            </a:extLst>
          </p:cNvPr>
          <p:cNvPicPr>
            <a:picLocks noGrp="1" noChangeAspect="1"/>
          </p:cNvPicPr>
          <p:nvPr>
            <p:ph idx="1"/>
          </p:nvPr>
        </p:nvPicPr>
        <p:blipFill>
          <a:blip r:embed="rId2"/>
          <a:stretch>
            <a:fillRect/>
          </a:stretch>
        </p:blipFill>
        <p:spPr>
          <a:xfrm>
            <a:off x="3134057" y="885825"/>
            <a:ext cx="6417599" cy="5191125"/>
          </a:xfrm>
          <a:prstGeom prst="rect">
            <a:avLst/>
          </a:prstGeom>
        </p:spPr>
      </p:pic>
    </p:spTree>
    <p:extLst>
      <p:ext uri="{BB962C8B-B14F-4D97-AF65-F5344CB8AC3E}">
        <p14:creationId xmlns:p14="http://schemas.microsoft.com/office/powerpoint/2010/main" val="3743285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DEE03-0EA1-1D47-9566-C9EC25C9C4FC}"/>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hàng</a:t>
            </a:r>
            <a:r>
              <a:rPr lang="en-US" dirty="0"/>
              <a:t> </a:t>
            </a:r>
            <a:r>
              <a:rPr lang="en-US" dirty="0" err="1"/>
              <a:t>hóa</a:t>
            </a:r>
            <a:endParaRPr lang="en-US" dirty="0"/>
          </a:p>
        </p:txBody>
      </p:sp>
      <p:sp>
        <p:nvSpPr>
          <p:cNvPr id="4" name="Slide Number Placeholder 3">
            <a:extLst>
              <a:ext uri="{FF2B5EF4-FFF2-40B4-BE49-F238E27FC236}">
                <a16:creationId xmlns:a16="http://schemas.microsoft.com/office/drawing/2014/main" id="{0002BED1-23F7-4736-8065-FB36B42E329C}"/>
              </a:ext>
            </a:extLst>
          </p:cNvPr>
          <p:cNvSpPr>
            <a:spLocks noGrp="1"/>
          </p:cNvSpPr>
          <p:nvPr>
            <p:ph type="sldNum" sz="quarter" idx="12"/>
          </p:nvPr>
        </p:nvSpPr>
        <p:spPr/>
        <p:txBody>
          <a:bodyPr/>
          <a:lstStyle/>
          <a:p>
            <a:fld id="{7ABBADF3-30DB-48D9-82C9-3A079DF6858D}" type="slidenum">
              <a:rPr lang="en-US" smtClean="0"/>
              <a:t>16</a:t>
            </a:fld>
            <a:endParaRPr lang="en-US"/>
          </a:p>
        </p:txBody>
      </p:sp>
      <p:pic>
        <p:nvPicPr>
          <p:cNvPr id="5" name="Content Placeholder 4" descr="muc1.drawio (5)">
            <a:extLst>
              <a:ext uri="{FF2B5EF4-FFF2-40B4-BE49-F238E27FC236}">
                <a16:creationId xmlns:a16="http://schemas.microsoft.com/office/drawing/2014/main" id="{83C68477-B93A-58BD-D2BD-94C686BD1575}"/>
              </a:ext>
            </a:extLst>
          </p:cNvPr>
          <p:cNvPicPr>
            <a:picLocks noGrp="1" noChangeAspect="1"/>
          </p:cNvPicPr>
          <p:nvPr>
            <p:ph idx="1"/>
          </p:nvPr>
        </p:nvPicPr>
        <p:blipFill>
          <a:blip r:embed="rId2"/>
          <a:stretch>
            <a:fillRect/>
          </a:stretch>
        </p:blipFill>
        <p:spPr>
          <a:xfrm>
            <a:off x="2996041" y="885825"/>
            <a:ext cx="6693631" cy="5191125"/>
          </a:xfrm>
          <a:prstGeom prst="rect">
            <a:avLst/>
          </a:prstGeom>
        </p:spPr>
      </p:pic>
    </p:spTree>
    <p:extLst>
      <p:ext uri="{BB962C8B-B14F-4D97-AF65-F5344CB8AC3E}">
        <p14:creationId xmlns:p14="http://schemas.microsoft.com/office/powerpoint/2010/main" val="336461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6CDD-8B67-330C-F57F-FB310BB463D1}"/>
              </a:ext>
            </a:extLst>
          </p:cNvPr>
          <p:cNvSpPr>
            <a:spLocks noGrp="1"/>
          </p:cNvSpPr>
          <p:nvPr>
            <p:ph type="title"/>
          </p:nvPr>
        </p:nvSpPr>
        <p:spPr/>
        <p:txBody>
          <a:bodyPr>
            <a:normAutofit fontScale="90000"/>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phiếu</a:t>
            </a:r>
            <a:r>
              <a:rPr lang="en-US" dirty="0"/>
              <a:t> </a:t>
            </a:r>
            <a:r>
              <a:rPr lang="en-US" dirty="0" err="1"/>
              <a:t>nhập</a:t>
            </a:r>
            <a:r>
              <a:rPr lang="en-US" dirty="0"/>
              <a:t>/</a:t>
            </a:r>
            <a:r>
              <a:rPr lang="en-US" dirty="0" err="1"/>
              <a:t>xuất</a:t>
            </a:r>
            <a:endParaRPr lang="en-US" dirty="0"/>
          </a:p>
        </p:txBody>
      </p:sp>
      <p:sp>
        <p:nvSpPr>
          <p:cNvPr id="4" name="Slide Number Placeholder 3">
            <a:extLst>
              <a:ext uri="{FF2B5EF4-FFF2-40B4-BE49-F238E27FC236}">
                <a16:creationId xmlns:a16="http://schemas.microsoft.com/office/drawing/2014/main" id="{43EC6810-75BF-98A9-5BEC-E900BD47090D}"/>
              </a:ext>
            </a:extLst>
          </p:cNvPr>
          <p:cNvSpPr>
            <a:spLocks noGrp="1"/>
          </p:cNvSpPr>
          <p:nvPr>
            <p:ph type="sldNum" sz="quarter" idx="12"/>
          </p:nvPr>
        </p:nvSpPr>
        <p:spPr/>
        <p:txBody>
          <a:bodyPr/>
          <a:lstStyle/>
          <a:p>
            <a:fld id="{7ABBADF3-30DB-48D9-82C9-3A079DF6858D}" type="slidenum">
              <a:rPr lang="en-US" smtClean="0"/>
              <a:t>17</a:t>
            </a:fld>
            <a:endParaRPr lang="en-US"/>
          </a:p>
        </p:txBody>
      </p:sp>
      <p:pic>
        <p:nvPicPr>
          <p:cNvPr id="5" name="Content Placeholder 4" descr="ok.drawio (2)">
            <a:extLst>
              <a:ext uri="{FF2B5EF4-FFF2-40B4-BE49-F238E27FC236}">
                <a16:creationId xmlns:a16="http://schemas.microsoft.com/office/drawing/2014/main" id="{C0DA3414-0C7C-3FA3-564D-FFE620C4667A}"/>
              </a:ext>
            </a:extLst>
          </p:cNvPr>
          <p:cNvPicPr>
            <a:picLocks noGrp="1" noChangeAspect="1"/>
          </p:cNvPicPr>
          <p:nvPr>
            <p:ph idx="1"/>
          </p:nvPr>
        </p:nvPicPr>
        <p:blipFill>
          <a:blip r:embed="rId2"/>
          <a:stretch>
            <a:fillRect/>
          </a:stretch>
        </p:blipFill>
        <p:spPr>
          <a:xfrm>
            <a:off x="3627121" y="1056640"/>
            <a:ext cx="5709920" cy="4907279"/>
          </a:xfrm>
          <a:prstGeom prst="rect">
            <a:avLst/>
          </a:prstGeom>
        </p:spPr>
      </p:pic>
    </p:spTree>
    <p:extLst>
      <p:ext uri="{BB962C8B-B14F-4D97-AF65-F5344CB8AC3E}">
        <p14:creationId xmlns:p14="http://schemas.microsoft.com/office/powerpoint/2010/main" val="2204976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D6C6-9562-4D2D-DB83-47DBC49DCF34}"/>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nhân</a:t>
            </a:r>
            <a:r>
              <a:rPr lang="en-US" dirty="0"/>
              <a:t> </a:t>
            </a:r>
            <a:r>
              <a:rPr lang="en-US" dirty="0" err="1"/>
              <a:t>viên</a:t>
            </a:r>
            <a:endParaRPr lang="en-US" dirty="0"/>
          </a:p>
        </p:txBody>
      </p:sp>
      <p:sp>
        <p:nvSpPr>
          <p:cNvPr id="4" name="Slide Number Placeholder 3">
            <a:extLst>
              <a:ext uri="{FF2B5EF4-FFF2-40B4-BE49-F238E27FC236}">
                <a16:creationId xmlns:a16="http://schemas.microsoft.com/office/drawing/2014/main" id="{F105F638-DEF7-1012-4AA4-7C3765F1D849}"/>
              </a:ext>
            </a:extLst>
          </p:cNvPr>
          <p:cNvSpPr>
            <a:spLocks noGrp="1"/>
          </p:cNvSpPr>
          <p:nvPr>
            <p:ph type="sldNum" sz="quarter" idx="12"/>
          </p:nvPr>
        </p:nvSpPr>
        <p:spPr/>
        <p:txBody>
          <a:bodyPr/>
          <a:lstStyle/>
          <a:p>
            <a:fld id="{7ABBADF3-30DB-48D9-82C9-3A079DF6858D}" type="slidenum">
              <a:rPr lang="en-US" smtClean="0"/>
              <a:t>18</a:t>
            </a:fld>
            <a:endParaRPr lang="en-US"/>
          </a:p>
        </p:txBody>
      </p:sp>
      <p:pic>
        <p:nvPicPr>
          <p:cNvPr id="5" name="Content Placeholder 4" descr="muc1.drawio (9)">
            <a:extLst>
              <a:ext uri="{FF2B5EF4-FFF2-40B4-BE49-F238E27FC236}">
                <a16:creationId xmlns:a16="http://schemas.microsoft.com/office/drawing/2014/main" id="{DBDE2D30-7EFE-D5E4-BA5E-F1AE8A5D787A}"/>
              </a:ext>
            </a:extLst>
          </p:cNvPr>
          <p:cNvPicPr>
            <a:picLocks noGrp="1" noChangeAspect="1"/>
          </p:cNvPicPr>
          <p:nvPr>
            <p:ph idx="1"/>
          </p:nvPr>
        </p:nvPicPr>
        <p:blipFill>
          <a:blip r:embed="rId2"/>
          <a:stretch>
            <a:fillRect/>
          </a:stretch>
        </p:blipFill>
        <p:spPr>
          <a:xfrm>
            <a:off x="3134057" y="885825"/>
            <a:ext cx="6417599" cy="5191125"/>
          </a:xfrm>
          <a:prstGeom prst="rect">
            <a:avLst/>
          </a:prstGeom>
        </p:spPr>
      </p:pic>
    </p:spTree>
    <p:extLst>
      <p:ext uri="{BB962C8B-B14F-4D97-AF65-F5344CB8AC3E}">
        <p14:creationId xmlns:p14="http://schemas.microsoft.com/office/powerpoint/2010/main" val="1422142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thống</a:t>
            </a:r>
            <a:r>
              <a:rPr lang="en-US" dirty="0"/>
              <a:t> </a:t>
            </a:r>
            <a:r>
              <a:rPr lang="en-US" dirty="0" err="1"/>
              <a:t>kê</a:t>
            </a:r>
            <a:r>
              <a:rPr lang="en-US" dirty="0"/>
              <a:t> </a:t>
            </a:r>
            <a:r>
              <a:rPr lang="en-US" dirty="0" err="1"/>
              <a:t>báo</a:t>
            </a:r>
            <a:r>
              <a:rPr lang="en-US" dirty="0"/>
              <a:t> </a:t>
            </a:r>
            <a:r>
              <a:rPr lang="en-US" dirty="0" err="1"/>
              <a:t>cáo</a:t>
            </a:r>
            <a:endParaRPr lang="en-US" dirty="0"/>
          </a:p>
        </p:txBody>
      </p:sp>
      <p:sp>
        <p:nvSpPr>
          <p:cNvPr id="3" name="Slide Number Placeholder 2"/>
          <p:cNvSpPr>
            <a:spLocks noGrp="1"/>
          </p:cNvSpPr>
          <p:nvPr>
            <p:ph type="sldNum" sz="quarter" idx="12"/>
          </p:nvPr>
        </p:nvSpPr>
        <p:spPr/>
        <p:txBody>
          <a:bodyPr/>
          <a:lstStyle/>
          <a:p>
            <a:fld id="{7ABBADF3-30DB-48D9-82C9-3A079DF6858D}" type="slidenum">
              <a:rPr lang="en-US" smtClean="0"/>
              <a:t>19</a:t>
            </a:fld>
            <a:endParaRPr lang="en-US"/>
          </a:p>
        </p:txBody>
      </p:sp>
      <p:pic>
        <p:nvPicPr>
          <p:cNvPr id="5" name="Content Placeholder 4" descr="Biểu đồ không có tiêu đề.drawio (2)">
            <a:extLst>
              <a:ext uri="{FF2B5EF4-FFF2-40B4-BE49-F238E27FC236}">
                <a16:creationId xmlns:a16="http://schemas.microsoft.com/office/drawing/2014/main" id="{0E3B7FDD-6C58-82A7-7D1D-DB322FC02935}"/>
              </a:ext>
            </a:extLst>
          </p:cNvPr>
          <p:cNvPicPr>
            <a:picLocks noGrp="1" noChangeAspect="1"/>
          </p:cNvPicPr>
          <p:nvPr>
            <p:ph idx="1"/>
          </p:nvPr>
        </p:nvPicPr>
        <p:blipFill>
          <a:blip r:embed="rId2"/>
          <a:stretch>
            <a:fillRect/>
          </a:stretch>
        </p:blipFill>
        <p:spPr>
          <a:xfrm>
            <a:off x="2163732" y="885825"/>
            <a:ext cx="8358249" cy="51911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thiết</a:t>
            </a:r>
            <a:r>
              <a:rPr lang="en-US" dirty="0"/>
              <a:t> </a:t>
            </a:r>
            <a:r>
              <a:rPr lang="en-US" dirty="0" err="1"/>
              <a:t>kế</a:t>
            </a:r>
            <a:r>
              <a:rPr lang="en-US" dirty="0"/>
              <a:t> </a:t>
            </a:r>
            <a:r>
              <a:rPr lang="en-US" dirty="0" err="1"/>
              <a:t>về</a:t>
            </a:r>
            <a:r>
              <a:rPr lang="en-US" dirty="0"/>
              <a:t> </a:t>
            </a:r>
            <a:r>
              <a:rPr lang="en-US" dirty="0" err="1"/>
              <a:t>dữ</a:t>
            </a:r>
            <a:r>
              <a:rPr lang="en-US" dirty="0"/>
              <a:t> </a:t>
            </a:r>
            <a:r>
              <a:rPr lang="en-US" dirty="0" err="1"/>
              <a:t>liệu</a:t>
            </a:r>
            <a:endParaRPr lang="en-US" dirty="0"/>
          </a:p>
        </p:txBody>
      </p:sp>
      <p:sp>
        <p:nvSpPr>
          <p:cNvPr id="5" name="Text Placeholder 4"/>
          <p:cNvSpPr>
            <a:spLocks noGrp="1"/>
          </p:cNvSpPr>
          <p:nvPr>
            <p:ph type="body" idx="1"/>
          </p:nvPr>
        </p:nvSpPr>
        <p:spPr>
          <a:xfrm>
            <a:off x="767408" y="3167082"/>
            <a:ext cx="7272808" cy="1191558"/>
          </a:xfrm>
        </p:spPr>
        <p:txBody>
          <a:bodyPr>
            <a:normAutofit fontScale="92500" lnSpcReduction="20000"/>
          </a:bodyPr>
          <a:lstStyle/>
          <a:p>
            <a:r>
              <a:rPr lang="en-US" dirty="0" err="1">
                <a:solidFill>
                  <a:schemeClr val="tx1"/>
                </a:solidFill>
              </a:rPr>
              <a:t>Chuẩn</a:t>
            </a:r>
            <a:r>
              <a:rPr lang="en-US" dirty="0">
                <a:solidFill>
                  <a:schemeClr val="tx1"/>
                </a:solidFill>
              </a:rPr>
              <a:t> </a:t>
            </a:r>
            <a:r>
              <a:rPr lang="en-US" dirty="0" err="1">
                <a:solidFill>
                  <a:schemeClr val="tx1"/>
                </a:solidFill>
              </a:rPr>
              <a:t>hóa</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endParaRPr lang="en-US" dirty="0">
              <a:solidFill>
                <a:schemeClr val="tx1"/>
              </a:solidFill>
            </a:endParaRPr>
          </a:p>
          <a:p>
            <a:r>
              <a:rPr lang="en-US" dirty="0">
                <a:solidFill>
                  <a:schemeClr val="tx1"/>
                </a:solidFill>
              </a:rPr>
              <a:t>Ma </a:t>
            </a:r>
            <a:r>
              <a:rPr lang="en-US" dirty="0" err="1">
                <a:solidFill>
                  <a:schemeClr val="tx1"/>
                </a:solidFill>
              </a:rPr>
              <a:t>trận</a:t>
            </a:r>
            <a:r>
              <a:rPr lang="en-US" dirty="0">
                <a:solidFill>
                  <a:schemeClr val="tx1"/>
                </a:solidFill>
              </a:rPr>
              <a:t> </a:t>
            </a:r>
            <a:r>
              <a:rPr lang="en-US" dirty="0" err="1">
                <a:solidFill>
                  <a:schemeClr val="tx1"/>
                </a:solidFill>
              </a:rPr>
              <a:t>thực</a:t>
            </a:r>
            <a:r>
              <a:rPr lang="en-US" dirty="0">
                <a:solidFill>
                  <a:schemeClr val="tx1"/>
                </a:solidFill>
              </a:rPr>
              <a:t> </a:t>
            </a:r>
            <a:r>
              <a:rPr lang="en-US" dirty="0" err="1">
                <a:solidFill>
                  <a:schemeClr val="tx1"/>
                </a:solidFill>
              </a:rPr>
              <a:t>thể</a:t>
            </a:r>
            <a:r>
              <a:rPr lang="en-US" dirty="0">
                <a:solidFill>
                  <a:schemeClr val="tx1"/>
                </a:solidFill>
              </a:rPr>
              <a:t> </a:t>
            </a:r>
            <a:r>
              <a:rPr lang="en-US" dirty="0" err="1">
                <a:solidFill>
                  <a:schemeClr val="tx1"/>
                </a:solidFill>
              </a:rPr>
              <a:t>hóa</a:t>
            </a:r>
            <a:endParaRPr lang="en-US" dirty="0">
              <a:solidFill>
                <a:schemeClr val="tx1"/>
              </a:solidFill>
            </a:endParaRPr>
          </a:p>
          <a:p>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diagram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70336"/>
            <a:ext cx="11008807" cy="610701"/>
          </a:xfrm>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hàng</a:t>
            </a:r>
            <a:r>
              <a:rPr lang="en-US" dirty="0"/>
              <a:t> </a:t>
            </a:r>
            <a:r>
              <a:rPr lang="en-US" dirty="0" err="1"/>
              <a:t>hóa</a:t>
            </a:r>
            <a:endParaRPr lang="vi-VN" dirty="0"/>
          </a:p>
        </p:txBody>
      </p:sp>
      <p:graphicFrame>
        <p:nvGraphicFramePr>
          <p:cNvPr id="3" name="Content Placeholder 2">
            <a:extLst>
              <a:ext uri="{FF2B5EF4-FFF2-40B4-BE49-F238E27FC236}">
                <a16:creationId xmlns:a16="http://schemas.microsoft.com/office/drawing/2014/main" id="{7A27E84A-7B80-FED8-5E2F-6600F0337B16}"/>
              </a:ext>
            </a:extLst>
          </p:cNvPr>
          <p:cNvGraphicFramePr>
            <a:graphicFrameLocks noGrp="1"/>
          </p:cNvGraphicFramePr>
          <p:nvPr>
            <p:ph idx="1"/>
          </p:nvPr>
        </p:nvGraphicFramePr>
        <p:xfrm>
          <a:off x="3465671" y="931544"/>
          <a:ext cx="5754370" cy="5103305"/>
        </p:xfrm>
        <a:graphic>
          <a:graphicData uri="http://schemas.openxmlformats.org/drawingml/2006/table">
            <a:tbl>
              <a:tblPr firstRow="1" firstCol="1" bandRow="1">
                <a:tableStyleId>{5C22544A-7EE6-4342-B048-85BDC9FD1C3A}</a:tableStyleId>
              </a:tblPr>
              <a:tblGrid>
                <a:gridCol w="1452880">
                  <a:extLst>
                    <a:ext uri="{9D8B030D-6E8A-4147-A177-3AD203B41FA5}">
                      <a16:colId xmlns:a16="http://schemas.microsoft.com/office/drawing/2014/main" val="1720698626"/>
                    </a:ext>
                  </a:extLst>
                </a:gridCol>
                <a:gridCol w="1449705">
                  <a:extLst>
                    <a:ext uri="{9D8B030D-6E8A-4147-A177-3AD203B41FA5}">
                      <a16:colId xmlns:a16="http://schemas.microsoft.com/office/drawing/2014/main" val="4019500899"/>
                    </a:ext>
                  </a:extLst>
                </a:gridCol>
                <a:gridCol w="1458595">
                  <a:extLst>
                    <a:ext uri="{9D8B030D-6E8A-4147-A177-3AD203B41FA5}">
                      <a16:colId xmlns:a16="http://schemas.microsoft.com/office/drawing/2014/main" val="3090669865"/>
                    </a:ext>
                  </a:extLst>
                </a:gridCol>
                <a:gridCol w="1393190">
                  <a:extLst>
                    <a:ext uri="{9D8B030D-6E8A-4147-A177-3AD203B41FA5}">
                      <a16:colId xmlns:a16="http://schemas.microsoft.com/office/drawing/2014/main" val="3483387750"/>
                    </a:ext>
                  </a:extLst>
                </a:gridCol>
              </a:tblGrid>
              <a:tr h="0">
                <a:tc>
                  <a:txBody>
                    <a:bodyPr/>
                    <a:lstStyle/>
                    <a:p>
                      <a:pPr algn="ctr">
                        <a:lnSpc>
                          <a:spcPct val="130000"/>
                        </a:lnSpc>
                      </a:pPr>
                      <a:r>
                        <a:rPr lang="vi-VN" sz="1300">
                          <a:effectLst/>
                        </a:rPr>
                        <a:t>Thuộc tính chưa chuẩn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1NF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2NF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3NF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56611230"/>
                  </a:ext>
                </a:extLst>
              </a:tr>
              <a:tr h="0">
                <a:tc>
                  <a:txBody>
                    <a:bodyPr/>
                    <a:lstStyle/>
                    <a:p>
                      <a:pPr>
                        <a:lnSpc>
                          <a:spcPct val="130000"/>
                        </a:lnSpc>
                      </a:pPr>
                      <a:r>
                        <a:rPr lang="en-US" sz="1300">
                          <a:effectLst/>
                        </a:rPr>
                        <a:t>Mã hàng hóa</a:t>
                      </a:r>
                      <a:endParaRPr lang="en-US" sz="1200">
                        <a:effectLst/>
                      </a:endParaRPr>
                    </a:p>
                    <a:p>
                      <a:pPr>
                        <a:lnSpc>
                          <a:spcPct val="130000"/>
                        </a:lnSpc>
                      </a:pPr>
                      <a:r>
                        <a:rPr lang="en-US" sz="1300">
                          <a:effectLst/>
                        </a:rPr>
                        <a:t>Tên hàng hóa</a:t>
                      </a:r>
                      <a:endParaRPr lang="en-US" sz="1200">
                        <a:effectLst/>
                      </a:endParaRPr>
                    </a:p>
                    <a:p>
                      <a:pPr>
                        <a:lnSpc>
                          <a:spcPct val="130000"/>
                        </a:lnSpc>
                      </a:pPr>
                      <a:r>
                        <a:rPr lang="en-US" sz="1300">
                          <a:effectLst/>
                        </a:rPr>
                        <a:t>Đơn vị trính</a:t>
                      </a:r>
                      <a:endParaRPr lang="en-US" sz="1200">
                        <a:effectLst/>
                      </a:endParaRPr>
                    </a:p>
                    <a:p>
                      <a:pPr>
                        <a:lnSpc>
                          <a:spcPct val="130000"/>
                        </a:lnSpc>
                      </a:pPr>
                      <a:r>
                        <a:rPr lang="en-US" sz="1300">
                          <a:effectLst/>
                        </a:rPr>
                        <a:t>Số lượng</a:t>
                      </a:r>
                      <a:endParaRPr lang="en-US" sz="1200">
                        <a:effectLst/>
                      </a:endParaRPr>
                    </a:p>
                    <a:p>
                      <a:pPr>
                        <a:lnSpc>
                          <a:spcPct val="130000"/>
                        </a:lnSpc>
                      </a:pPr>
                      <a:r>
                        <a:rPr lang="en-US" sz="1300">
                          <a:effectLst/>
                        </a:rPr>
                        <a:t>Mã kệ</a:t>
                      </a:r>
                      <a:endParaRPr lang="en-US" sz="1200">
                        <a:effectLst/>
                      </a:endParaRPr>
                    </a:p>
                    <a:p>
                      <a:pPr>
                        <a:lnSpc>
                          <a:spcPct val="130000"/>
                        </a:lnSpc>
                      </a:pPr>
                      <a:r>
                        <a:rPr lang="en-US" sz="1300">
                          <a:effectLst/>
                        </a:rPr>
                        <a:t>Kích thước</a:t>
                      </a:r>
                      <a:endParaRPr lang="en-US" sz="1200">
                        <a:effectLst/>
                      </a:endParaRPr>
                    </a:p>
                    <a:p>
                      <a:pPr>
                        <a:lnSpc>
                          <a:spcPct val="130000"/>
                        </a:lnSpc>
                      </a:pPr>
                      <a:r>
                        <a:rPr lang="en-US" sz="1300">
                          <a:effectLst/>
                        </a:rPr>
                        <a:t>Màu sắc</a:t>
                      </a:r>
                      <a:endParaRPr lang="en-US" sz="1200">
                        <a:effectLst/>
                      </a:endParaRPr>
                    </a:p>
                    <a:p>
                      <a:pPr>
                        <a:lnSpc>
                          <a:spcPct val="130000"/>
                        </a:lnSpc>
                      </a:pPr>
                      <a:r>
                        <a:rPr lang="en-US" sz="1300">
                          <a:effectLst/>
                        </a:rPr>
                        <a:t>Chất liệu</a:t>
                      </a:r>
                      <a:endParaRPr lang="en-US" sz="1200">
                        <a:effectLst/>
                      </a:endParaRPr>
                    </a:p>
                    <a:p>
                      <a:pPr>
                        <a:lnSpc>
                          <a:spcPct val="130000"/>
                        </a:lnSpc>
                      </a:pPr>
                      <a:r>
                        <a:rPr lang="en-US" sz="1300">
                          <a:effectLst/>
                        </a:rPr>
                        <a:t>Thương hiệu</a:t>
                      </a:r>
                      <a:endParaRPr lang="en-US" sz="1200">
                        <a:effectLst/>
                      </a:endParaRPr>
                    </a:p>
                    <a:p>
                      <a:pPr>
                        <a:lnSpc>
                          <a:spcPct val="130000"/>
                        </a:lnSpc>
                      </a:pPr>
                      <a:r>
                        <a:rPr lang="en-US" sz="1300">
                          <a:effectLst/>
                        </a:rPr>
                        <a:t>Xuất xứ</a:t>
                      </a:r>
                      <a:endParaRPr lang="en-US" sz="1200">
                        <a:effectLst/>
                      </a:endParaRPr>
                    </a:p>
                    <a:p>
                      <a:pPr>
                        <a:lnSpc>
                          <a:spcPct val="130000"/>
                        </a:lnSpc>
                      </a:pPr>
                      <a:r>
                        <a:rPr lang="en-US" sz="1300">
                          <a:effectLst/>
                        </a:rPr>
                        <a:t>Ghi chú</a:t>
                      </a:r>
                      <a:endParaRPr lang="en-US" sz="1200">
                        <a:effectLst/>
                      </a:endParaRPr>
                    </a:p>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a:effectLst/>
                        </a:rPr>
                        <a:t>#Mã hàng hóa</a:t>
                      </a:r>
                      <a:endParaRPr lang="en-US" sz="1200">
                        <a:effectLst/>
                      </a:endParaRPr>
                    </a:p>
                    <a:p>
                      <a:pPr>
                        <a:lnSpc>
                          <a:spcPct val="130000"/>
                        </a:lnSpc>
                      </a:pPr>
                      <a:r>
                        <a:rPr lang="en-US" sz="1300">
                          <a:effectLst/>
                        </a:rPr>
                        <a:t>Tên hàng hóa</a:t>
                      </a:r>
                      <a:endParaRPr lang="en-US" sz="1200">
                        <a:effectLst/>
                      </a:endParaRPr>
                    </a:p>
                    <a:p>
                      <a:pPr>
                        <a:lnSpc>
                          <a:spcPct val="130000"/>
                        </a:lnSpc>
                      </a:pPr>
                      <a:r>
                        <a:rPr lang="en-US" sz="1300">
                          <a:effectLst/>
                        </a:rPr>
                        <a:t>Đơn vị trính</a:t>
                      </a:r>
                      <a:endParaRPr lang="en-US" sz="1200">
                        <a:effectLst/>
                      </a:endParaRPr>
                    </a:p>
                    <a:p>
                      <a:pPr>
                        <a:lnSpc>
                          <a:spcPct val="130000"/>
                        </a:lnSpc>
                      </a:pPr>
                      <a:r>
                        <a:rPr lang="en-US" sz="1300">
                          <a:effectLst/>
                        </a:rPr>
                        <a:t>Số lượng</a:t>
                      </a:r>
                      <a:endParaRPr lang="en-US" sz="1200">
                        <a:effectLst/>
                      </a:endParaRPr>
                    </a:p>
                    <a:p>
                      <a:pPr>
                        <a:lnSpc>
                          <a:spcPct val="130000"/>
                        </a:lnSpc>
                      </a:pPr>
                      <a:r>
                        <a:rPr lang="en-US" sz="1300">
                          <a:effectLst/>
                        </a:rPr>
                        <a:t>Kích thước</a:t>
                      </a:r>
                      <a:endParaRPr lang="en-US" sz="1200">
                        <a:effectLst/>
                      </a:endParaRPr>
                    </a:p>
                    <a:p>
                      <a:pPr>
                        <a:lnSpc>
                          <a:spcPct val="130000"/>
                        </a:lnSpc>
                      </a:pPr>
                      <a:r>
                        <a:rPr lang="en-US" sz="1300">
                          <a:effectLst/>
                        </a:rPr>
                        <a:t>Màu sắc</a:t>
                      </a:r>
                      <a:endParaRPr lang="en-US" sz="1200">
                        <a:effectLst/>
                      </a:endParaRPr>
                    </a:p>
                    <a:p>
                      <a:pPr>
                        <a:lnSpc>
                          <a:spcPct val="130000"/>
                        </a:lnSpc>
                      </a:pPr>
                      <a:r>
                        <a:rPr lang="en-US" sz="1300">
                          <a:effectLst/>
                        </a:rPr>
                        <a:t>Chất liệu</a:t>
                      </a:r>
                      <a:endParaRPr lang="en-US" sz="1200">
                        <a:effectLst/>
                      </a:endParaRPr>
                    </a:p>
                    <a:p>
                      <a:pPr>
                        <a:lnSpc>
                          <a:spcPct val="130000"/>
                        </a:lnSpc>
                      </a:pPr>
                      <a:r>
                        <a:rPr lang="en-US" sz="1300">
                          <a:effectLst/>
                        </a:rPr>
                        <a:t>Thương hiệu</a:t>
                      </a:r>
                      <a:endParaRPr lang="en-US" sz="1200">
                        <a:effectLst/>
                      </a:endParaRPr>
                    </a:p>
                    <a:p>
                      <a:pPr>
                        <a:lnSpc>
                          <a:spcPct val="130000"/>
                        </a:lnSpc>
                      </a:pPr>
                      <a:r>
                        <a:rPr lang="en-US" sz="1300">
                          <a:effectLst/>
                        </a:rPr>
                        <a:t>Xuất xứ</a:t>
                      </a:r>
                      <a:endParaRPr lang="en-US" sz="1200">
                        <a:effectLst/>
                      </a:endParaRPr>
                    </a:p>
                    <a:p>
                      <a:pPr>
                        <a:lnSpc>
                          <a:spcPct val="130000"/>
                        </a:lnSpc>
                      </a:pPr>
                      <a:r>
                        <a:rPr lang="en-US" sz="1300">
                          <a:effectLst/>
                        </a:rPr>
                        <a:t>Ghi chú</a:t>
                      </a:r>
                      <a:endParaRPr lang="en-US" sz="1200">
                        <a:effectLst/>
                      </a:endParaRPr>
                    </a:p>
                    <a:p>
                      <a:pPr>
                        <a:lnSpc>
                          <a:spcPct val="130000"/>
                        </a:lnSpc>
                      </a:pPr>
                      <a:r>
                        <a:rPr lang="en-US" sz="1300">
                          <a:effectLst/>
                        </a:rPr>
                        <a:t> </a:t>
                      </a:r>
                      <a:endParaRPr lang="en-US" sz="1200">
                        <a:effectLst/>
                      </a:endParaRPr>
                    </a:p>
                    <a:p>
                      <a:pPr>
                        <a:lnSpc>
                          <a:spcPct val="130000"/>
                        </a:lnSpc>
                      </a:pPr>
                      <a:r>
                        <a:rPr lang="en-US" sz="1300">
                          <a:effectLst/>
                        </a:rPr>
                        <a:t>#Mã kệ</a:t>
                      </a:r>
                      <a:endParaRPr lang="en-US" sz="1200">
                        <a:effectLst/>
                      </a:endParaRPr>
                    </a:p>
                    <a:p>
                      <a:pPr>
                        <a:lnSpc>
                          <a:spcPct val="130000"/>
                        </a:lnSpc>
                      </a:pPr>
                      <a:r>
                        <a:rPr lang="en-US" sz="1300">
                          <a:effectLst/>
                        </a:rPr>
                        <a:t>Tên kệ</a:t>
                      </a:r>
                      <a:endParaRPr lang="en-US" sz="1200">
                        <a:effectLst/>
                      </a:endParaRPr>
                    </a:p>
                    <a:p>
                      <a:pPr>
                        <a:lnSpc>
                          <a:spcPct val="130000"/>
                        </a:lnSpc>
                      </a:pPr>
                      <a:r>
                        <a:rPr lang="en-US" sz="1300">
                          <a:effectLst/>
                        </a:rPr>
                        <a:t>Vị trí</a:t>
                      </a:r>
                      <a:endParaRPr lang="en-US" sz="1200">
                        <a:effectLst/>
                      </a:endParaRPr>
                    </a:p>
                    <a:p>
                      <a:pPr>
                        <a:lnSpc>
                          <a:spcPct val="130000"/>
                        </a:lnSpc>
                      </a:pPr>
                      <a:r>
                        <a:rPr lang="en-US"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a:effectLst/>
                        </a:rPr>
                        <a:t>#Mã hàng hóa</a:t>
                      </a:r>
                      <a:endParaRPr lang="en-US" sz="1200">
                        <a:effectLst/>
                      </a:endParaRPr>
                    </a:p>
                    <a:p>
                      <a:pPr>
                        <a:lnSpc>
                          <a:spcPct val="130000"/>
                        </a:lnSpc>
                      </a:pPr>
                      <a:r>
                        <a:rPr lang="en-US" sz="1300">
                          <a:effectLst/>
                        </a:rPr>
                        <a:t>Tên hàng hóa</a:t>
                      </a:r>
                      <a:endParaRPr lang="en-US" sz="1200">
                        <a:effectLst/>
                      </a:endParaRPr>
                    </a:p>
                    <a:p>
                      <a:pPr>
                        <a:lnSpc>
                          <a:spcPct val="130000"/>
                        </a:lnSpc>
                      </a:pPr>
                      <a:r>
                        <a:rPr lang="en-US" sz="1300">
                          <a:effectLst/>
                        </a:rPr>
                        <a:t>Đơn vị trính</a:t>
                      </a:r>
                      <a:endParaRPr lang="en-US" sz="1200">
                        <a:effectLst/>
                      </a:endParaRPr>
                    </a:p>
                    <a:p>
                      <a:pPr>
                        <a:lnSpc>
                          <a:spcPct val="130000"/>
                        </a:lnSpc>
                      </a:pPr>
                      <a:r>
                        <a:rPr lang="en-US" sz="1300">
                          <a:effectLst/>
                        </a:rPr>
                        <a:t>Số lượng</a:t>
                      </a:r>
                      <a:endParaRPr lang="en-US" sz="1200">
                        <a:effectLst/>
                      </a:endParaRPr>
                    </a:p>
                    <a:p>
                      <a:pPr>
                        <a:lnSpc>
                          <a:spcPct val="130000"/>
                        </a:lnSpc>
                      </a:pPr>
                      <a:r>
                        <a:rPr lang="en-US" sz="1300">
                          <a:effectLst/>
                        </a:rPr>
                        <a:t>Kích thước</a:t>
                      </a:r>
                      <a:endParaRPr lang="en-US" sz="1200">
                        <a:effectLst/>
                      </a:endParaRPr>
                    </a:p>
                    <a:p>
                      <a:pPr>
                        <a:lnSpc>
                          <a:spcPct val="130000"/>
                        </a:lnSpc>
                      </a:pPr>
                      <a:r>
                        <a:rPr lang="en-US" sz="1300">
                          <a:effectLst/>
                        </a:rPr>
                        <a:t>Màu sắc</a:t>
                      </a:r>
                      <a:endParaRPr lang="en-US" sz="1200">
                        <a:effectLst/>
                      </a:endParaRPr>
                    </a:p>
                    <a:p>
                      <a:pPr>
                        <a:lnSpc>
                          <a:spcPct val="130000"/>
                        </a:lnSpc>
                      </a:pPr>
                      <a:r>
                        <a:rPr lang="en-US" sz="1300">
                          <a:effectLst/>
                        </a:rPr>
                        <a:t>Chất liệu</a:t>
                      </a:r>
                      <a:endParaRPr lang="en-US" sz="1200">
                        <a:effectLst/>
                      </a:endParaRPr>
                    </a:p>
                    <a:p>
                      <a:pPr>
                        <a:lnSpc>
                          <a:spcPct val="130000"/>
                        </a:lnSpc>
                      </a:pPr>
                      <a:r>
                        <a:rPr lang="en-US" sz="1300">
                          <a:effectLst/>
                        </a:rPr>
                        <a:t>Thương hiệu</a:t>
                      </a:r>
                      <a:endParaRPr lang="en-US" sz="1200">
                        <a:effectLst/>
                      </a:endParaRPr>
                    </a:p>
                    <a:p>
                      <a:pPr>
                        <a:lnSpc>
                          <a:spcPct val="130000"/>
                        </a:lnSpc>
                      </a:pPr>
                      <a:r>
                        <a:rPr lang="en-US" sz="1300">
                          <a:effectLst/>
                        </a:rPr>
                        <a:t>Xuất xứ</a:t>
                      </a:r>
                      <a:endParaRPr lang="en-US" sz="1200">
                        <a:effectLst/>
                      </a:endParaRPr>
                    </a:p>
                    <a:p>
                      <a:pPr>
                        <a:lnSpc>
                          <a:spcPct val="130000"/>
                        </a:lnSpc>
                      </a:pPr>
                      <a:r>
                        <a:rPr lang="en-US" sz="1300">
                          <a:effectLst/>
                        </a:rPr>
                        <a:t>Ghi chú</a:t>
                      </a:r>
                      <a:endParaRPr lang="en-US" sz="1200">
                        <a:effectLst/>
                      </a:endParaRPr>
                    </a:p>
                    <a:p>
                      <a:pPr>
                        <a:lnSpc>
                          <a:spcPct val="130000"/>
                        </a:lnSpc>
                      </a:pPr>
                      <a:r>
                        <a:rPr lang="en-US" sz="1300">
                          <a:effectLst/>
                        </a:rPr>
                        <a:t> </a:t>
                      </a:r>
                      <a:endParaRPr lang="en-US" sz="1200">
                        <a:effectLst/>
                      </a:endParaRPr>
                    </a:p>
                    <a:p>
                      <a:pPr>
                        <a:lnSpc>
                          <a:spcPct val="130000"/>
                        </a:lnSpc>
                      </a:pPr>
                      <a:r>
                        <a:rPr lang="en-US" sz="1300">
                          <a:effectLst/>
                        </a:rPr>
                        <a:t>#Mã kệ</a:t>
                      </a:r>
                      <a:endParaRPr lang="en-US" sz="1200">
                        <a:effectLst/>
                      </a:endParaRPr>
                    </a:p>
                    <a:p>
                      <a:pPr>
                        <a:lnSpc>
                          <a:spcPct val="130000"/>
                        </a:lnSpc>
                      </a:pPr>
                      <a:r>
                        <a:rPr lang="en-US" sz="1300">
                          <a:effectLst/>
                        </a:rPr>
                        <a:t>Tên kệ</a:t>
                      </a:r>
                      <a:endParaRPr lang="en-US" sz="1200">
                        <a:effectLst/>
                      </a:endParaRPr>
                    </a:p>
                    <a:p>
                      <a:pPr>
                        <a:lnSpc>
                          <a:spcPct val="130000"/>
                        </a:lnSpc>
                      </a:pPr>
                      <a:r>
                        <a:rPr lang="en-US" sz="1300">
                          <a:effectLst/>
                        </a:rPr>
                        <a:t>Vị trí</a:t>
                      </a:r>
                      <a:endParaRPr lang="en-US" sz="1200">
                        <a:effectLst/>
                      </a:endParaRPr>
                    </a:p>
                    <a:p>
                      <a:pPr>
                        <a:lnSpc>
                          <a:spcPct val="130000"/>
                        </a:lnSpc>
                      </a:pPr>
                      <a:r>
                        <a:rPr lang="en-US" sz="1300">
                          <a:effectLst/>
                        </a:rPr>
                        <a:t> </a:t>
                      </a:r>
                      <a:endParaRPr lang="en-US" sz="1200">
                        <a:effectLst/>
                      </a:endParaRPr>
                    </a:p>
                    <a:p>
                      <a:pPr algn="just">
                        <a:lnSpc>
                          <a:spcPct val="130000"/>
                        </a:lnSpc>
                      </a:pPr>
                      <a:r>
                        <a:rPr lang="en-US" sz="1300">
                          <a:effectLst/>
                        </a:rPr>
                        <a:t>#Mã kho</a:t>
                      </a:r>
                      <a:endParaRPr lang="en-US" sz="1200">
                        <a:effectLst/>
                      </a:endParaRPr>
                    </a:p>
                    <a:p>
                      <a:pPr algn="just">
                        <a:lnSpc>
                          <a:spcPct val="130000"/>
                        </a:lnSpc>
                      </a:pPr>
                      <a:r>
                        <a:rPr lang="vi-VN" sz="1300">
                          <a:effectLst/>
                        </a:rPr>
                        <a:t>T</a:t>
                      </a:r>
                      <a:r>
                        <a:rPr lang="en-US" sz="1300">
                          <a:effectLst/>
                        </a:rPr>
                        <a:t>ên kho</a:t>
                      </a:r>
                      <a:endParaRPr lang="en-US" sz="1200">
                        <a:effectLst/>
                      </a:endParaRPr>
                    </a:p>
                    <a:p>
                      <a:pPr algn="just">
                        <a:lnSpc>
                          <a:spcPct val="130000"/>
                        </a:lnSpc>
                      </a:pPr>
                      <a:r>
                        <a:rPr lang="en-US"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dirty="0">
                          <a:effectLst/>
                        </a:rPr>
                        <a:t>#Mã </a:t>
                      </a:r>
                      <a:r>
                        <a:rPr lang="en-US" sz="1300" dirty="0" err="1">
                          <a:effectLst/>
                        </a:rPr>
                        <a:t>hàng</a:t>
                      </a:r>
                      <a:r>
                        <a:rPr lang="en-US" sz="1300" dirty="0">
                          <a:effectLst/>
                        </a:rPr>
                        <a:t> </a:t>
                      </a:r>
                      <a:r>
                        <a:rPr lang="en-US" sz="1300" dirty="0" err="1">
                          <a:effectLst/>
                        </a:rPr>
                        <a:t>hóa</a:t>
                      </a:r>
                      <a:endParaRPr lang="en-US" sz="1200" dirty="0">
                        <a:effectLst/>
                      </a:endParaRPr>
                    </a:p>
                    <a:p>
                      <a:pPr>
                        <a:lnSpc>
                          <a:spcPct val="130000"/>
                        </a:lnSpc>
                      </a:pPr>
                      <a:r>
                        <a:rPr lang="en-US" sz="1300" dirty="0" err="1">
                          <a:effectLst/>
                        </a:rPr>
                        <a:t>Tên</a:t>
                      </a:r>
                      <a:r>
                        <a:rPr lang="en-US" sz="1300" dirty="0">
                          <a:effectLst/>
                        </a:rPr>
                        <a:t> </a:t>
                      </a:r>
                      <a:r>
                        <a:rPr lang="en-US" sz="1300" dirty="0" err="1">
                          <a:effectLst/>
                        </a:rPr>
                        <a:t>hàng</a:t>
                      </a:r>
                      <a:r>
                        <a:rPr lang="en-US" sz="1300" dirty="0">
                          <a:effectLst/>
                        </a:rPr>
                        <a:t> </a:t>
                      </a:r>
                      <a:r>
                        <a:rPr lang="en-US" sz="1300" dirty="0" err="1">
                          <a:effectLst/>
                        </a:rPr>
                        <a:t>hóa</a:t>
                      </a:r>
                      <a:endParaRPr lang="en-US" sz="1200" dirty="0">
                        <a:effectLst/>
                      </a:endParaRPr>
                    </a:p>
                    <a:p>
                      <a:pPr>
                        <a:lnSpc>
                          <a:spcPct val="130000"/>
                        </a:lnSpc>
                      </a:pPr>
                      <a:r>
                        <a:rPr lang="en-US" sz="1300" dirty="0" err="1">
                          <a:effectLst/>
                        </a:rPr>
                        <a:t>Đơn</a:t>
                      </a:r>
                      <a:r>
                        <a:rPr lang="en-US" sz="1300" dirty="0">
                          <a:effectLst/>
                        </a:rPr>
                        <a:t> </a:t>
                      </a:r>
                      <a:r>
                        <a:rPr lang="en-US" sz="1300" dirty="0" err="1">
                          <a:effectLst/>
                        </a:rPr>
                        <a:t>vị</a:t>
                      </a:r>
                      <a:r>
                        <a:rPr lang="en-US" sz="1300" dirty="0">
                          <a:effectLst/>
                        </a:rPr>
                        <a:t> </a:t>
                      </a:r>
                      <a:r>
                        <a:rPr lang="en-US" sz="1300" dirty="0" err="1">
                          <a:effectLst/>
                        </a:rPr>
                        <a:t>trính</a:t>
                      </a:r>
                      <a:endParaRPr lang="en-US" sz="1200" dirty="0">
                        <a:effectLst/>
                      </a:endParaRPr>
                    </a:p>
                    <a:p>
                      <a:pPr>
                        <a:lnSpc>
                          <a:spcPct val="130000"/>
                        </a:lnSpc>
                      </a:pPr>
                      <a:r>
                        <a:rPr lang="en-US" sz="1300" dirty="0" err="1">
                          <a:effectLst/>
                        </a:rPr>
                        <a:t>Số</a:t>
                      </a:r>
                      <a:r>
                        <a:rPr lang="en-US" sz="1300" dirty="0">
                          <a:effectLst/>
                        </a:rPr>
                        <a:t> </a:t>
                      </a:r>
                      <a:r>
                        <a:rPr lang="en-US" sz="1300" dirty="0" err="1">
                          <a:effectLst/>
                        </a:rPr>
                        <a:t>lượng</a:t>
                      </a:r>
                      <a:endParaRPr lang="en-US" sz="1200" dirty="0">
                        <a:effectLst/>
                      </a:endParaRPr>
                    </a:p>
                    <a:p>
                      <a:pPr>
                        <a:lnSpc>
                          <a:spcPct val="130000"/>
                        </a:lnSpc>
                      </a:pPr>
                      <a:r>
                        <a:rPr lang="en-US" sz="1300" dirty="0" err="1">
                          <a:effectLst/>
                        </a:rPr>
                        <a:t>Kích</a:t>
                      </a:r>
                      <a:r>
                        <a:rPr lang="en-US" sz="1300" dirty="0">
                          <a:effectLst/>
                        </a:rPr>
                        <a:t> </a:t>
                      </a:r>
                      <a:r>
                        <a:rPr lang="en-US" sz="1300" dirty="0" err="1">
                          <a:effectLst/>
                        </a:rPr>
                        <a:t>thước</a:t>
                      </a:r>
                      <a:endParaRPr lang="en-US" sz="1200" dirty="0">
                        <a:effectLst/>
                      </a:endParaRPr>
                    </a:p>
                    <a:p>
                      <a:pPr>
                        <a:lnSpc>
                          <a:spcPct val="130000"/>
                        </a:lnSpc>
                      </a:pPr>
                      <a:r>
                        <a:rPr lang="en-US" sz="1300" dirty="0" err="1">
                          <a:effectLst/>
                        </a:rPr>
                        <a:t>Màu</a:t>
                      </a:r>
                      <a:r>
                        <a:rPr lang="en-US" sz="1300" dirty="0">
                          <a:effectLst/>
                        </a:rPr>
                        <a:t> </a:t>
                      </a:r>
                      <a:r>
                        <a:rPr lang="en-US" sz="1300" dirty="0" err="1">
                          <a:effectLst/>
                        </a:rPr>
                        <a:t>sắc</a:t>
                      </a:r>
                      <a:endParaRPr lang="en-US" sz="1200" dirty="0">
                        <a:effectLst/>
                      </a:endParaRPr>
                    </a:p>
                    <a:p>
                      <a:pPr>
                        <a:lnSpc>
                          <a:spcPct val="130000"/>
                        </a:lnSpc>
                      </a:pPr>
                      <a:r>
                        <a:rPr lang="en-US" sz="1300" dirty="0" err="1">
                          <a:effectLst/>
                        </a:rPr>
                        <a:t>Chất</a:t>
                      </a:r>
                      <a:r>
                        <a:rPr lang="en-US" sz="1300" dirty="0">
                          <a:effectLst/>
                        </a:rPr>
                        <a:t> </a:t>
                      </a:r>
                      <a:r>
                        <a:rPr lang="en-US" sz="1300" dirty="0" err="1">
                          <a:effectLst/>
                        </a:rPr>
                        <a:t>liệu</a:t>
                      </a:r>
                      <a:endParaRPr lang="en-US" sz="1200" dirty="0">
                        <a:effectLst/>
                      </a:endParaRPr>
                    </a:p>
                    <a:p>
                      <a:pPr>
                        <a:lnSpc>
                          <a:spcPct val="130000"/>
                        </a:lnSpc>
                      </a:pPr>
                      <a:r>
                        <a:rPr lang="en-US" sz="1300" dirty="0" err="1">
                          <a:effectLst/>
                        </a:rPr>
                        <a:t>Thương</a:t>
                      </a:r>
                      <a:r>
                        <a:rPr lang="en-US" sz="1300" dirty="0">
                          <a:effectLst/>
                        </a:rPr>
                        <a:t> </a:t>
                      </a:r>
                      <a:r>
                        <a:rPr lang="en-US" sz="1300" dirty="0" err="1">
                          <a:effectLst/>
                        </a:rPr>
                        <a:t>hiệu</a:t>
                      </a:r>
                      <a:endParaRPr lang="en-US" sz="1200" dirty="0">
                        <a:effectLst/>
                      </a:endParaRPr>
                    </a:p>
                    <a:p>
                      <a:pPr>
                        <a:lnSpc>
                          <a:spcPct val="130000"/>
                        </a:lnSpc>
                      </a:pPr>
                      <a:r>
                        <a:rPr lang="en-US" sz="1300" dirty="0" err="1">
                          <a:effectLst/>
                        </a:rPr>
                        <a:t>Xuất</a:t>
                      </a:r>
                      <a:r>
                        <a:rPr lang="en-US" sz="1300" dirty="0">
                          <a:effectLst/>
                        </a:rPr>
                        <a:t> </a:t>
                      </a:r>
                      <a:r>
                        <a:rPr lang="en-US" sz="1300" dirty="0" err="1">
                          <a:effectLst/>
                        </a:rPr>
                        <a:t>xứ</a:t>
                      </a:r>
                      <a:endParaRPr lang="en-US" sz="1200" dirty="0">
                        <a:effectLst/>
                      </a:endParaRPr>
                    </a:p>
                    <a:p>
                      <a:pPr>
                        <a:lnSpc>
                          <a:spcPct val="130000"/>
                        </a:lnSpc>
                      </a:pPr>
                      <a:r>
                        <a:rPr lang="en-US" sz="1300" dirty="0" err="1">
                          <a:effectLst/>
                        </a:rPr>
                        <a:t>Ghi</a:t>
                      </a:r>
                      <a:r>
                        <a:rPr lang="en-US" sz="1300" dirty="0">
                          <a:effectLst/>
                        </a:rPr>
                        <a:t> </a:t>
                      </a:r>
                      <a:r>
                        <a:rPr lang="en-US" sz="1300" dirty="0" err="1">
                          <a:effectLst/>
                        </a:rPr>
                        <a:t>chú</a:t>
                      </a:r>
                      <a:endParaRPr lang="en-US" sz="1200" dirty="0">
                        <a:effectLst/>
                      </a:endParaRPr>
                    </a:p>
                    <a:p>
                      <a:pPr>
                        <a:lnSpc>
                          <a:spcPct val="130000"/>
                        </a:lnSpc>
                      </a:pPr>
                      <a:r>
                        <a:rPr lang="en-US" sz="1300" dirty="0">
                          <a:effectLst/>
                        </a:rPr>
                        <a:t> </a:t>
                      </a:r>
                      <a:endParaRPr lang="en-US" sz="1200" dirty="0">
                        <a:effectLst/>
                      </a:endParaRPr>
                    </a:p>
                    <a:p>
                      <a:pPr>
                        <a:lnSpc>
                          <a:spcPct val="130000"/>
                        </a:lnSpc>
                      </a:pPr>
                      <a:r>
                        <a:rPr lang="en-US" sz="1300" dirty="0">
                          <a:effectLst/>
                        </a:rPr>
                        <a:t>#Mã </a:t>
                      </a:r>
                      <a:r>
                        <a:rPr lang="en-US" sz="1300" dirty="0" err="1">
                          <a:effectLst/>
                        </a:rPr>
                        <a:t>kệ</a:t>
                      </a:r>
                      <a:endParaRPr lang="en-US" sz="1200" dirty="0">
                        <a:effectLst/>
                      </a:endParaRPr>
                    </a:p>
                    <a:p>
                      <a:pPr>
                        <a:lnSpc>
                          <a:spcPct val="130000"/>
                        </a:lnSpc>
                      </a:pPr>
                      <a:r>
                        <a:rPr lang="en-US" sz="1300" dirty="0" err="1">
                          <a:effectLst/>
                        </a:rPr>
                        <a:t>Tên</a:t>
                      </a:r>
                      <a:r>
                        <a:rPr lang="en-US" sz="1300" dirty="0">
                          <a:effectLst/>
                        </a:rPr>
                        <a:t> </a:t>
                      </a:r>
                      <a:r>
                        <a:rPr lang="en-US" sz="1300" dirty="0" err="1">
                          <a:effectLst/>
                        </a:rPr>
                        <a:t>kệ</a:t>
                      </a:r>
                      <a:endParaRPr lang="en-US" sz="1200" dirty="0">
                        <a:effectLst/>
                      </a:endParaRPr>
                    </a:p>
                    <a:p>
                      <a:pPr>
                        <a:lnSpc>
                          <a:spcPct val="130000"/>
                        </a:lnSpc>
                      </a:pPr>
                      <a:r>
                        <a:rPr lang="en-US" sz="1300" dirty="0" err="1">
                          <a:effectLst/>
                        </a:rPr>
                        <a:t>Vị</a:t>
                      </a:r>
                      <a:r>
                        <a:rPr lang="en-US" sz="1300" dirty="0">
                          <a:effectLst/>
                        </a:rPr>
                        <a:t> </a:t>
                      </a:r>
                      <a:r>
                        <a:rPr lang="en-US" sz="1300" dirty="0" err="1">
                          <a:effectLst/>
                        </a:rPr>
                        <a:t>trí</a:t>
                      </a:r>
                      <a:endParaRPr lang="en-US" sz="1200" dirty="0">
                        <a:effectLst/>
                      </a:endParaRPr>
                    </a:p>
                    <a:p>
                      <a:pPr>
                        <a:lnSpc>
                          <a:spcPct val="130000"/>
                        </a:lnSpc>
                      </a:pPr>
                      <a:r>
                        <a:rPr lang="en-US" sz="1300" dirty="0">
                          <a:effectLst/>
                        </a:rPr>
                        <a:t> </a:t>
                      </a:r>
                      <a:endParaRPr lang="en-US" sz="1200" dirty="0">
                        <a:effectLst/>
                      </a:endParaRPr>
                    </a:p>
                    <a:p>
                      <a:pPr algn="just">
                        <a:lnSpc>
                          <a:spcPct val="130000"/>
                        </a:lnSpc>
                      </a:pPr>
                      <a:r>
                        <a:rPr lang="en-US" sz="1300" dirty="0">
                          <a:effectLst/>
                        </a:rPr>
                        <a:t>#Mã </a:t>
                      </a:r>
                      <a:r>
                        <a:rPr lang="en-US" sz="1300" dirty="0" err="1">
                          <a:effectLst/>
                        </a:rPr>
                        <a:t>kho</a:t>
                      </a:r>
                      <a:endParaRPr lang="en-US" sz="1200" dirty="0">
                        <a:effectLst/>
                      </a:endParaRPr>
                    </a:p>
                    <a:p>
                      <a:pPr algn="just">
                        <a:lnSpc>
                          <a:spcPct val="130000"/>
                        </a:lnSpc>
                      </a:pPr>
                      <a:r>
                        <a:rPr lang="vi-VN" sz="1300" dirty="0">
                          <a:effectLst/>
                        </a:rPr>
                        <a:t>T</a:t>
                      </a:r>
                      <a:r>
                        <a:rPr lang="en-US" sz="1300" dirty="0" err="1">
                          <a:effectLst/>
                        </a:rPr>
                        <a:t>ên</a:t>
                      </a:r>
                      <a:r>
                        <a:rPr lang="en-US" sz="1300" dirty="0">
                          <a:effectLst/>
                        </a:rPr>
                        <a:t> </a:t>
                      </a:r>
                      <a:r>
                        <a:rPr lang="en-US" sz="1300" dirty="0" err="1">
                          <a:effectLst/>
                        </a:rPr>
                        <a:t>kho</a:t>
                      </a:r>
                      <a:endParaRPr lang="en-US" sz="1200" dirty="0">
                        <a:effectLst/>
                      </a:endParaRPr>
                    </a:p>
                    <a:p>
                      <a:pPr algn="just">
                        <a:lnSpc>
                          <a:spcPct val="130000"/>
                        </a:lnSpc>
                      </a:pPr>
                      <a:r>
                        <a:rPr lang="en-US" sz="1300" dirty="0" err="1">
                          <a:effectLst/>
                        </a:rPr>
                        <a:t>Địa</a:t>
                      </a:r>
                      <a:r>
                        <a:rPr lang="en-US" sz="1300" dirty="0">
                          <a:effectLst/>
                        </a:rPr>
                        <a:t> </a:t>
                      </a:r>
                      <a:r>
                        <a:rPr lang="en-US" sz="1300" dirty="0" err="1">
                          <a:effectLst/>
                        </a:rPr>
                        <a:t>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67691869"/>
                  </a:ext>
                </a:extLst>
              </a:tr>
            </a:tbl>
          </a:graphicData>
        </a:graphic>
      </p:graphicFrame>
      <p:sp>
        <p:nvSpPr>
          <p:cNvPr id="2" name="Slide Number Placeholder 1"/>
          <p:cNvSpPr>
            <a:spLocks noGrp="1"/>
          </p:cNvSpPr>
          <p:nvPr>
            <p:ph type="sldNum" sz="quarter" idx="12"/>
          </p:nvPr>
        </p:nvSpPr>
        <p:spPr/>
        <p:txBody>
          <a:bodyPr/>
          <a:lstStyle/>
          <a:p>
            <a:fld id="{7ABBADF3-30DB-48D9-82C9-3A079DF6858D}"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D00-4E32-1A1D-05EE-2D2FF4FED7AF}"/>
              </a:ext>
            </a:extLst>
          </p:cNvPr>
          <p:cNvSpPr>
            <a:spLocks noGrp="1"/>
          </p:cNvSpPr>
          <p:nvPr>
            <p:ph type="title"/>
          </p:nvPr>
        </p:nvSpPr>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nhân</a:t>
            </a:r>
            <a:r>
              <a:rPr lang="en-US" dirty="0"/>
              <a:t> </a:t>
            </a:r>
            <a:r>
              <a:rPr lang="en-US" dirty="0" err="1"/>
              <a:t>viên</a:t>
            </a:r>
            <a:endParaRPr lang="en-US" dirty="0"/>
          </a:p>
        </p:txBody>
      </p:sp>
      <p:graphicFrame>
        <p:nvGraphicFramePr>
          <p:cNvPr id="5" name="Content Placeholder 4">
            <a:extLst>
              <a:ext uri="{FF2B5EF4-FFF2-40B4-BE49-F238E27FC236}">
                <a16:creationId xmlns:a16="http://schemas.microsoft.com/office/drawing/2014/main" id="{6C109382-AF91-E558-4BA5-7F959D1E03F3}"/>
              </a:ext>
            </a:extLst>
          </p:cNvPr>
          <p:cNvGraphicFramePr>
            <a:graphicFrameLocks noGrp="1"/>
          </p:cNvGraphicFramePr>
          <p:nvPr>
            <p:ph idx="1"/>
            <p:extLst>
              <p:ext uri="{D42A27DB-BD31-4B8C-83A1-F6EECF244321}">
                <p14:modId xmlns:p14="http://schemas.microsoft.com/office/powerpoint/2010/main" val="2056923535"/>
              </p:ext>
            </p:extLst>
          </p:nvPr>
        </p:nvGraphicFramePr>
        <p:xfrm>
          <a:off x="3418999" y="1137920"/>
          <a:ext cx="6639401" cy="4511040"/>
        </p:xfrm>
        <a:graphic>
          <a:graphicData uri="http://schemas.openxmlformats.org/drawingml/2006/table">
            <a:tbl>
              <a:tblPr firstRow="1" firstCol="1" bandRow="1">
                <a:tableStyleId>{5C22544A-7EE6-4342-B048-85BDC9FD1C3A}</a:tableStyleId>
              </a:tblPr>
              <a:tblGrid>
                <a:gridCol w="1648855">
                  <a:extLst>
                    <a:ext uri="{9D8B030D-6E8A-4147-A177-3AD203B41FA5}">
                      <a16:colId xmlns:a16="http://schemas.microsoft.com/office/drawing/2014/main" val="1343395028"/>
                    </a:ext>
                  </a:extLst>
                </a:gridCol>
                <a:gridCol w="1645972">
                  <a:extLst>
                    <a:ext uri="{9D8B030D-6E8A-4147-A177-3AD203B41FA5}">
                      <a16:colId xmlns:a16="http://schemas.microsoft.com/office/drawing/2014/main" val="2958731651"/>
                    </a:ext>
                  </a:extLst>
                </a:gridCol>
                <a:gridCol w="1656065">
                  <a:extLst>
                    <a:ext uri="{9D8B030D-6E8A-4147-A177-3AD203B41FA5}">
                      <a16:colId xmlns:a16="http://schemas.microsoft.com/office/drawing/2014/main" val="3112566847"/>
                    </a:ext>
                  </a:extLst>
                </a:gridCol>
                <a:gridCol w="1688509">
                  <a:extLst>
                    <a:ext uri="{9D8B030D-6E8A-4147-A177-3AD203B41FA5}">
                      <a16:colId xmlns:a16="http://schemas.microsoft.com/office/drawing/2014/main" val="3846689220"/>
                    </a:ext>
                  </a:extLst>
                </a:gridCol>
              </a:tblGrid>
              <a:tr h="792309">
                <a:tc>
                  <a:txBody>
                    <a:bodyPr/>
                    <a:lstStyle/>
                    <a:p>
                      <a:pPr algn="ctr">
                        <a:lnSpc>
                          <a:spcPct val="130000"/>
                        </a:lnSpc>
                      </a:pPr>
                      <a:r>
                        <a:rPr lang="vi-VN" sz="1300">
                          <a:effectLst/>
                        </a:rPr>
                        <a:t>Thuộc tính chưa chuẩn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1NF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2NF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3NF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2493973"/>
                  </a:ext>
                </a:extLst>
              </a:tr>
              <a:tr h="3718731">
                <a:tc>
                  <a:txBody>
                    <a:bodyPr/>
                    <a:lstStyle/>
                    <a:p>
                      <a:pPr>
                        <a:lnSpc>
                          <a:spcPct val="130000"/>
                        </a:lnSpc>
                      </a:pPr>
                      <a:r>
                        <a:rPr lang="en-US" sz="1300">
                          <a:effectLst/>
                        </a:rPr>
                        <a:t>Mã nhân viên</a:t>
                      </a:r>
                      <a:endParaRPr lang="en-US" sz="1200">
                        <a:effectLst/>
                      </a:endParaRPr>
                    </a:p>
                    <a:p>
                      <a:pPr>
                        <a:lnSpc>
                          <a:spcPct val="130000"/>
                        </a:lnSpc>
                      </a:pPr>
                      <a:r>
                        <a:rPr lang="en-US" sz="1300">
                          <a:effectLst/>
                        </a:rPr>
                        <a:t>Tên nhân viên</a:t>
                      </a:r>
                      <a:endParaRPr lang="en-US" sz="1200">
                        <a:effectLst/>
                      </a:endParaRPr>
                    </a:p>
                    <a:p>
                      <a:pPr>
                        <a:lnSpc>
                          <a:spcPct val="130000"/>
                        </a:lnSpc>
                      </a:pPr>
                      <a:r>
                        <a:rPr lang="en-US" sz="1300">
                          <a:effectLst/>
                        </a:rPr>
                        <a:t>Email</a:t>
                      </a:r>
                      <a:endParaRPr lang="en-US" sz="1200">
                        <a:effectLst/>
                      </a:endParaRPr>
                    </a:p>
                    <a:p>
                      <a:pPr>
                        <a:lnSpc>
                          <a:spcPct val="130000"/>
                        </a:lnSpc>
                      </a:pPr>
                      <a:r>
                        <a:rPr lang="en-US" sz="1300">
                          <a:effectLst/>
                        </a:rPr>
                        <a:t>Số điện thoại</a:t>
                      </a:r>
                      <a:endParaRPr lang="en-US" sz="1200">
                        <a:effectLst/>
                      </a:endParaRPr>
                    </a:p>
                    <a:p>
                      <a:pPr>
                        <a:lnSpc>
                          <a:spcPct val="130000"/>
                        </a:lnSpc>
                      </a:pPr>
                      <a:r>
                        <a:rPr lang="en-US" sz="1300">
                          <a:effectLst/>
                        </a:rPr>
                        <a:t>Căn cước công dân</a:t>
                      </a:r>
                      <a:endParaRPr lang="en-US" sz="1200">
                        <a:effectLst/>
                      </a:endParaRPr>
                    </a:p>
                    <a:p>
                      <a:pPr>
                        <a:lnSpc>
                          <a:spcPct val="130000"/>
                        </a:lnSpc>
                      </a:pPr>
                      <a:r>
                        <a:rPr lang="en-US" sz="1300">
                          <a:effectLst/>
                        </a:rPr>
                        <a:t>Địa chỉ</a:t>
                      </a:r>
                      <a:endParaRPr lang="en-US" sz="1200">
                        <a:effectLst/>
                      </a:endParaRPr>
                    </a:p>
                    <a:p>
                      <a:pPr>
                        <a:lnSpc>
                          <a:spcPct val="130000"/>
                        </a:lnSpc>
                      </a:pPr>
                      <a:r>
                        <a:rPr lang="en-US" sz="1300">
                          <a:effectLst/>
                        </a:rPr>
                        <a:t>Tên tài khoản</a:t>
                      </a:r>
                      <a:endParaRPr lang="en-US" sz="1200">
                        <a:effectLst/>
                      </a:endParaRPr>
                    </a:p>
                    <a:p>
                      <a:pPr>
                        <a:lnSpc>
                          <a:spcPct val="130000"/>
                        </a:lnSpc>
                      </a:pPr>
                      <a:r>
                        <a:rPr lang="en-US" sz="1300">
                          <a:effectLst/>
                        </a:rPr>
                        <a:t>Mật khẩu</a:t>
                      </a:r>
                      <a:endParaRPr lang="en-US" sz="1200">
                        <a:effectLst/>
                      </a:endParaRPr>
                    </a:p>
                    <a:p>
                      <a:pPr>
                        <a:lnSpc>
                          <a:spcPct val="130000"/>
                        </a:lnSpc>
                      </a:pPr>
                      <a:r>
                        <a:rPr lang="en-US" sz="1300">
                          <a:effectLst/>
                        </a:rPr>
                        <a:t>Vai trò</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a:effectLst/>
                        </a:rPr>
                        <a:t>#Mã nhân viên</a:t>
                      </a:r>
                      <a:endParaRPr lang="en-US" sz="1200">
                        <a:effectLst/>
                      </a:endParaRPr>
                    </a:p>
                    <a:p>
                      <a:pPr>
                        <a:lnSpc>
                          <a:spcPct val="130000"/>
                        </a:lnSpc>
                      </a:pPr>
                      <a:r>
                        <a:rPr lang="en-US" sz="1300">
                          <a:effectLst/>
                        </a:rPr>
                        <a:t>Tên nhân viên</a:t>
                      </a:r>
                      <a:endParaRPr lang="en-US" sz="1200">
                        <a:effectLst/>
                      </a:endParaRPr>
                    </a:p>
                    <a:p>
                      <a:pPr>
                        <a:lnSpc>
                          <a:spcPct val="130000"/>
                        </a:lnSpc>
                      </a:pPr>
                      <a:r>
                        <a:rPr lang="en-US" sz="1300">
                          <a:effectLst/>
                        </a:rPr>
                        <a:t>Emai</a:t>
                      </a:r>
                      <a:endParaRPr lang="en-US" sz="1200">
                        <a:effectLst/>
                      </a:endParaRPr>
                    </a:p>
                    <a:p>
                      <a:pPr>
                        <a:lnSpc>
                          <a:spcPct val="130000"/>
                        </a:lnSpc>
                      </a:pPr>
                      <a:r>
                        <a:rPr lang="en-US" sz="1300">
                          <a:effectLst/>
                        </a:rPr>
                        <a:t>Số điện thoại</a:t>
                      </a:r>
                      <a:endParaRPr lang="en-US" sz="1200">
                        <a:effectLst/>
                      </a:endParaRPr>
                    </a:p>
                    <a:p>
                      <a:pPr>
                        <a:lnSpc>
                          <a:spcPct val="130000"/>
                        </a:lnSpc>
                      </a:pPr>
                      <a:r>
                        <a:rPr lang="en-US" sz="1300">
                          <a:effectLst/>
                        </a:rPr>
                        <a:t>Căn cước công dân</a:t>
                      </a:r>
                      <a:endParaRPr lang="en-US" sz="1200">
                        <a:effectLst/>
                      </a:endParaRPr>
                    </a:p>
                    <a:p>
                      <a:pPr>
                        <a:lnSpc>
                          <a:spcPct val="130000"/>
                        </a:lnSpc>
                      </a:pPr>
                      <a:r>
                        <a:rPr lang="en-US" sz="1300">
                          <a:effectLst/>
                        </a:rPr>
                        <a:t>Địa chỉ</a:t>
                      </a:r>
                      <a:endParaRPr lang="en-US" sz="1200">
                        <a:effectLst/>
                      </a:endParaRPr>
                    </a:p>
                    <a:p>
                      <a:pPr>
                        <a:lnSpc>
                          <a:spcPct val="130000"/>
                        </a:lnSpc>
                      </a:pPr>
                      <a:r>
                        <a:rPr lang="en-US" sz="1300">
                          <a:effectLst/>
                        </a:rPr>
                        <a:t>Tên tài khoản</a:t>
                      </a:r>
                      <a:endParaRPr lang="en-US" sz="1200">
                        <a:effectLst/>
                      </a:endParaRPr>
                    </a:p>
                    <a:p>
                      <a:pPr>
                        <a:lnSpc>
                          <a:spcPct val="130000"/>
                        </a:lnSpc>
                      </a:pPr>
                      <a:r>
                        <a:rPr lang="en-US" sz="1300">
                          <a:effectLst/>
                        </a:rPr>
                        <a:t>Mật khẩu</a:t>
                      </a:r>
                      <a:endParaRPr lang="en-US" sz="1200">
                        <a:effectLst/>
                      </a:endParaRPr>
                    </a:p>
                    <a:p>
                      <a:pPr>
                        <a:lnSpc>
                          <a:spcPct val="130000"/>
                        </a:lnSpc>
                      </a:pPr>
                      <a:r>
                        <a:rPr lang="en-US" sz="1300">
                          <a:effectLst/>
                        </a:rPr>
                        <a:t>Vai trò</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a:effectLst/>
                        </a:rPr>
                        <a:t>#Mã nhân viên</a:t>
                      </a:r>
                      <a:endParaRPr lang="en-US" sz="1200">
                        <a:effectLst/>
                      </a:endParaRPr>
                    </a:p>
                    <a:p>
                      <a:pPr>
                        <a:lnSpc>
                          <a:spcPct val="130000"/>
                        </a:lnSpc>
                      </a:pPr>
                      <a:r>
                        <a:rPr lang="en-US" sz="1300">
                          <a:effectLst/>
                        </a:rPr>
                        <a:t>Tên nhân viên</a:t>
                      </a:r>
                      <a:endParaRPr lang="en-US" sz="1200">
                        <a:effectLst/>
                      </a:endParaRPr>
                    </a:p>
                    <a:p>
                      <a:pPr>
                        <a:lnSpc>
                          <a:spcPct val="130000"/>
                        </a:lnSpc>
                      </a:pPr>
                      <a:r>
                        <a:rPr lang="en-US" sz="1300">
                          <a:effectLst/>
                        </a:rPr>
                        <a:t>Email</a:t>
                      </a:r>
                      <a:endParaRPr lang="en-US" sz="1200">
                        <a:effectLst/>
                      </a:endParaRPr>
                    </a:p>
                    <a:p>
                      <a:pPr>
                        <a:lnSpc>
                          <a:spcPct val="130000"/>
                        </a:lnSpc>
                      </a:pPr>
                      <a:r>
                        <a:rPr lang="en-US" sz="1300">
                          <a:effectLst/>
                        </a:rPr>
                        <a:t>Số điện thoại</a:t>
                      </a:r>
                      <a:endParaRPr lang="en-US" sz="1200">
                        <a:effectLst/>
                      </a:endParaRPr>
                    </a:p>
                    <a:p>
                      <a:pPr>
                        <a:lnSpc>
                          <a:spcPct val="130000"/>
                        </a:lnSpc>
                      </a:pPr>
                      <a:r>
                        <a:rPr lang="en-US" sz="1300">
                          <a:effectLst/>
                        </a:rPr>
                        <a:t>Căn cước công dân</a:t>
                      </a:r>
                      <a:endParaRPr lang="en-US" sz="1200">
                        <a:effectLst/>
                      </a:endParaRPr>
                    </a:p>
                    <a:p>
                      <a:pPr>
                        <a:lnSpc>
                          <a:spcPct val="130000"/>
                        </a:lnSpc>
                      </a:pPr>
                      <a:r>
                        <a:rPr lang="en-US" sz="1300">
                          <a:effectLst/>
                        </a:rPr>
                        <a:t>Địa chỉ</a:t>
                      </a:r>
                      <a:endParaRPr lang="en-US" sz="1200">
                        <a:effectLst/>
                      </a:endParaRPr>
                    </a:p>
                    <a:p>
                      <a:pPr>
                        <a:lnSpc>
                          <a:spcPct val="130000"/>
                        </a:lnSpc>
                      </a:pPr>
                      <a:r>
                        <a:rPr lang="en-US" sz="1300">
                          <a:effectLst/>
                        </a:rPr>
                        <a:t>Tên tài khoản</a:t>
                      </a:r>
                      <a:endParaRPr lang="en-US" sz="1200">
                        <a:effectLst/>
                      </a:endParaRPr>
                    </a:p>
                    <a:p>
                      <a:pPr>
                        <a:lnSpc>
                          <a:spcPct val="130000"/>
                        </a:lnSpc>
                      </a:pPr>
                      <a:r>
                        <a:rPr lang="en-US" sz="1300">
                          <a:effectLst/>
                        </a:rPr>
                        <a:t>Mật khẩu</a:t>
                      </a:r>
                      <a:endParaRPr lang="en-US" sz="1200">
                        <a:effectLst/>
                      </a:endParaRPr>
                    </a:p>
                    <a:p>
                      <a:pPr>
                        <a:lnSpc>
                          <a:spcPct val="130000"/>
                        </a:lnSpc>
                      </a:pPr>
                      <a:r>
                        <a:rPr lang="en-US" sz="1300">
                          <a:effectLst/>
                        </a:rPr>
                        <a:t>Vai trò</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dirty="0">
                          <a:effectLst/>
                        </a:rPr>
                        <a:t>#Mã </a:t>
                      </a:r>
                      <a:r>
                        <a:rPr lang="en-US" sz="1300" dirty="0" err="1">
                          <a:effectLst/>
                        </a:rPr>
                        <a:t>nhân</a:t>
                      </a:r>
                      <a:r>
                        <a:rPr lang="en-US" sz="1300" dirty="0">
                          <a:effectLst/>
                        </a:rPr>
                        <a:t> </a:t>
                      </a:r>
                      <a:r>
                        <a:rPr lang="en-US" sz="1300" dirty="0" err="1">
                          <a:effectLst/>
                        </a:rPr>
                        <a:t>viên</a:t>
                      </a:r>
                      <a:endParaRPr lang="en-US" sz="1200" dirty="0">
                        <a:effectLst/>
                      </a:endParaRPr>
                    </a:p>
                    <a:p>
                      <a:pPr>
                        <a:lnSpc>
                          <a:spcPct val="130000"/>
                        </a:lnSpc>
                      </a:pPr>
                      <a:r>
                        <a:rPr lang="en-US" sz="1300" dirty="0" err="1">
                          <a:effectLst/>
                        </a:rPr>
                        <a:t>Tên</a:t>
                      </a:r>
                      <a:r>
                        <a:rPr lang="en-US" sz="1300" dirty="0">
                          <a:effectLst/>
                        </a:rPr>
                        <a:t> </a:t>
                      </a:r>
                      <a:r>
                        <a:rPr lang="en-US" sz="1300" dirty="0" err="1">
                          <a:effectLst/>
                        </a:rPr>
                        <a:t>nhân</a:t>
                      </a:r>
                      <a:r>
                        <a:rPr lang="en-US" sz="1300" dirty="0">
                          <a:effectLst/>
                        </a:rPr>
                        <a:t> </a:t>
                      </a:r>
                      <a:r>
                        <a:rPr lang="en-US" sz="1300" dirty="0" err="1">
                          <a:effectLst/>
                        </a:rPr>
                        <a:t>viên</a:t>
                      </a:r>
                      <a:endParaRPr lang="en-US" sz="1200" dirty="0">
                        <a:effectLst/>
                      </a:endParaRPr>
                    </a:p>
                    <a:p>
                      <a:pPr>
                        <a:lnSpc>
                          <a:spcPct val="130000"/>
                        </a:lnSpc>
                      </a:pPr>
                      <a:r>
                        <a:rPr lang="en-US" sz="1300" dirty="0">
                          <a:effectLst/>
                        </a:rPr>
                        <a:t>Email</a:t>
                      </a:r>
                      <a:endParaRPr lang="en-US" sz="1200" dirty="0">
                        <a:effectLst/>
                      </a:endParaRPr>
                    </a:p>
                    <a:p>
                      <a:pPr>
                        <a:lnSpc>
                          <a:spcPct val="130000"/>
                        </a:lnSpc>
                      </a:pPr>
                      <a:r>
                        <a:rPr lang="en-US" sz="1300" dirty="0" err="1">
                          <a:effectLst/>
                        </a:rPr>
                        <a:t>Số</a:t>
                      </a:r>
                      <a:r>
                        <a:rPr lang="en-US" sz="1300" dirty="0">
                          <a:effectLst/>
                        </a:rPr>
                        <a:t> </a:t>
                      </a:r>
                      <a:r>
                        <a:rPr lang="en-US" sz="1300" dirty="0" err="1">
                          <a:effectLst/>
                        </a:rPr>
                        <a:t>điện</a:t>
                      </a:r>
                      <a:r>
                        <a:rPr lang="en-US" sz="1300" dirty="0">
                          <a:effectLst/>
                        </a:rPr>
                        <a:t> </a:t>
                      </a:r>
                      <a:r>
                        <a:rPr lang="en-US" sz="1300" dirty="0" err="1">
                          <a:effectLst/>
                        </a:rPr>
                        <a:t>thoại</a:t>
                      </a:r>
                      <a:endParaRPr lang="en-US" sz="1200" dirty="0">
                        <a:effectLst/>
                      </a:endParaRPr>
                    </a:p>
                    <a:p>
                      <a:pPr>
                        <a:lnSpc>
                          <a:spcPct val="130000"/>
                        </a:lnSpc>
                      </a:pPr>
                      <a:r>
                        <a:rPr lang="en-US" sz="1300" dirty="0" err="1">
                          <a:effectLst/>
                        </a:rPr>
                        <a:t>Căn</a:t>
                      </a:r>
                      <a:r>
                        <a:rPr lang="en-US" sz="1300" dirty="0">
                          <a:effectLst/>
                        </a:rPr>
                        <a:t> </a:t>
                      </a:r>
                      <a:r>
                        <a:rPr lang="en-US" sz="1300" dirty="0" err="1">
                          <a:effectLst/>
                        </a:rPr>
                        <a:t>cước</a:t>
                      </a:r>
                      <a:r>
                        <a:rPr lang="en-US" sz="1300" dirty="0">
                          <a:effectLst/>
                        </a:rPr>
                        <a:t> </a:t>
                      </a:r>
                      <a:r>
                        <a:rPr lang="en-US" sz="1300" dirty="0" err="1">
                          <a:effectLst/>
                        </a:rPr>
                        <a:t>công</a:t>
                      </a:r>
                      <a:r>
                        <a:rPr lang="en-US" sz="1300" dirty="0">
                          <a:effectLst/>
                        </a:rPr>
                        <a:t> </a:t>
                      </a:r>
                      <a:r>
                        <a:rPr lang="en-US" sz="1300" dirty="0" err="1">
                          <a:effectLst/>
                        </a:rPr>
                        <a:t>dân</a:t>
                      </a:r>
                      <a:endParaRPr lang="en-US" sz="1200" dirty="0">
                        <a:effectLst/>
                      </a:endParaRPr>
                    </a:p>
                    <a:p>
                      <a:pPr>
                        <a:lnSpc>
                          <a:spcPct val="130000"/>
                        </a:lnSpc>
                      </a:pPr>
                      <a:r>
                        <a:rPr lang="en-US" sz="1300" dirty="0" err="1">
                          <a:effectLst/>
                        </a:rPr>
                        <a:t>Địa</a:t>
                      </a:r>
                      <a:r>
                        <a:rPr lang="en-US" sz="1300" dirty="0">
                          <a:effectLst/>
                        </a:rPr>
                        <a:t> </a:t>
                      </a:r>
                      <a:r>
                        <a:rPr lang="en-US" sz="1300" dirty="0" err="1">
                          <a:effectLst/>
                        </a:rPr>
                        <a:t>chỉ</a:t>
                      </a:r>
                      <a:endParaRPr lang="en-US" sz="1200" dirty="0">
                        <a:effectLst/>
                      </a:endParaRPr>
                    </a:p>
                    <a:p>
                      <a:pPr>
                        <a:lnSpc>
                          <a:spcPct val="130000"/>
                        </a:lnSpc>
                      </a:pPr>
                      <a:r>
                        <a:rPr lang="en-US" sz="1300" dirty="0" err="1">
                          <a:effectLst/>
                        </a:rPr>
                        <a:t>Tên</a:t>
                      </a:r>
                      <a:r>
                        <a:rPr lang="en-US" sz="1300" dirty="0">
                          <a:effectLst/>
                        </a:rPr>
                        <a:t> </a:t>
                      </a:r>
                      <a:r>
                        <a:rPr lang="en-US" sz="1300" dirty="0" err="1">
                          <a:effectLst/>
                        </a:rPr>
                        <a:t>tài</a:t>
                      </a:r>
                      <a:r>
                        <a:rPr lang="en-US" sz="1300" dirty="0">
                          <a:effectLst/>
                        </a:rPr>
                        <a:t> </a:t>
                      </a:r>
                      <a:r>
                        <a:rPr lang="en-US" sz="1300" dirty="0" err="1">
                          <a:effectLst/>
                        </a:rPr>
                        <a:t>khoản</a:t>
                      </a:r>
                      <a:endParaRPr lang="en-US" sz="1200" dirty="0">
                        <a:effectLst/>
                      </a:endParaRPr>
                    </a:p>
                    <a:p>
                      <a:pPr>
                        <a:lnSpc>
                          <a:spcPct val="130000"/>
                        </a:lnSpc>
                      </a:pPr>
                      <a:r>
                        <a:rPr lang="en-US" sz="1300" dirty="0" err="1">
                          <a:effectLst/>
                        </a:rPr>
                        <a:t>Mật</a:t>
                      </a:r>
                      <a:r>
                        <a:rPr lang="en-US" sz="1300" dirty="0">
                          <a:effectLst/>
                        </a:rPr>
                        <a:t> </a:t>
                      </a:r>
                      <a:r>
                        <a:rPr lang="en-US" sz="1300" dirty="0" err="1">
                          <a:effectLst/>
                        </a:rPr>
                        <a:t>khẩu</a:t>
                      </a:r>
                      <a:endParaRPr lang="en-US" sz="1200" dirty="0">
                        <a:effectLst/>
                      </a:endParaRPr>
                    </a:p>
                    <a:p>
                      <a:pPr>
                        <a:lnSpc>
                          <a:spcPct val="130000"/>
                        </a:lnSpc>
                      </a:pPr>
                      <a:r>
                        <a:rPr lang="en-US" sz="1300" dirty="0">
                          <a:effectLst/>
                        </a:rPr>
                        <a:t>Vai </a:t>
                      </a:r>
                      <a:r>
                        <a:rPr lang="en-US" sz="1300" dirty="0" err="1">
                          <a:effectLst/>
                        </a:rPr>
                        <a:t>trò</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08281884"/>
                  </a:ext>
                </a:extLst>
              </a:tr>
            </a:tbl>
          </a:graphicData>
        </a:graphic>
      </p:graphicFrame>
      <p:sp>
        <p:nvSpPr>
          <p:cNvPr id="4" name="Slide Number Placeholder 3">
            <a:extLst>
              <a:ext uri="{FF2B5EF4-FFF2-40B4-BE49-F238E27FC236}">
                <a16:creationId xmlns:a16="http://schemas.microsoft.com/office/drawing/2014/main" id="{37BB7CB1-F639-0D14-FDC1-CE8B45BA79B9}"/>
              </a:ext>
            </a:extLst>
          </p:cNvPr>
          <p:cNvSpPr>
            <a:spLocks noGrp="1"/>
          </p:cNvSpPr>
          <p:nvPr>
            <p:ph type="sldNum" sz="quarter" idx="12"/>
          </p:nvPr>
        </p:nvSpPr>
        <p:spPr/>
        <p:txBody>
          <a:bodyPr/>
          <a:lstStyle/>
          <a:p>
            <a:fld id="{7ABBADF3-30DB-48D9-82C9-3A079DF6858D}" type="slidenum">
              <a:rPr lang="en-US" smtClean="0"/>
              <a:t>22</a:t>
            </a:fld>
            <a:endParaRPr lang="en-US"/>
          </a:p>
        </p:txBody>
      </p:sp>
    </p:spTree>
    <p:extLst>
      <p:ext uri="{BB962C8B-B14F-4D97-AF65-F5344CB8AC3E}">
        <p14:creationId xmlns:p14="http://schemas.microsoft.com/office/powerpoint/2010/main" val="978130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9CE81-DB5B-C71F-C178-DD3BFA1418F8}"/>
              </a:ext>
            </a:extLst>
          </p:cNvPr>
          <p:cNvSpPr>
            <a:spLocks noGrp="1"/>
          </p:cNvSpPr>
          <p:nvPr>
            <p:ph type="title"/>
          </p:nvPr>
        </p:nvSpPr>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nhà</a:t>
            </a:r>
            <a:r>
              <a:rPr lang="en-US" dirty="0"/>
              <a:t> </a:t>
            </a:r>
            <a:r>
              <a:rPr lang="en-US" dirty="0" err="1"/>
              <a:t>cung</a:t>
            </a:r>
            <a:r>
              <a:rPr lang="en-US" dirty="0"/>
              <a:t> </a:t>
            </a:r>
            <a:r>
              <a:rPr lang="en-US" dirty="0" err="1"/>
              <a:t>cấp</a:t>
            </a:r>
            <a:endParaRPr lang="en-US" dirty="0"/>
          </a:p>
        </p:txBody>
      </p:sp>
      <p:graphicFrame>
        <p:nvGraphicFramePr>
          <p:cNvPr id="5" name="Content Placeholder 4">
            <a:extLst>
              <a:ext uri="{FF2B5EF4-FFF2-40B4-BE49-F238E27FC236}">
                <a16:creationId xmlns:a16="http://schemas.microsoft.com/office/drawing/2014/main" id="{CE797546-79AC-3F12-EB70-0EFBEF7D057C}"/>
              </a:ext>
            </a:extLst>
          </p:cNvPr>
          <p:cNvGraphicFramePr>
            <a:graphicFrameLocks noGrp="1"/>
          </p:cNvGraphicFramePr>
          <p:nvPr>
            <p:ph idx="1"/>
            <p:extLst>
              <p:ext uri="{D42A27DB-BD31-4B8C-83A1-F6EECF244321}">
                <p14:modId xmlns:p14="http://schemas.microsoft.com/office/powerpoint/2010/main" val="2493419763"/>
              </p:ext>
            </p:extLst>
          </p:nvPr>
        </p:nvGraphicFramePr>
        <p:xfrm>
          <a:off x="3394550" y="2001520"/>
          <a:ext cx="6389529" cy="2355214"/>
        </p:xfrm>
        <a:graphic>
          <a:graphicData uri="http://schemas.openxmlformats.org/drawingml/2006/table">
            <a:tbl>
              <a:tblPr firstRow="1" firstCol="1" bandRow="1">
                <a:tableStyleId>{5C22544A-7EE6-4342-B048-85BDC9FD1C3A}</a:tableStyleId>
              </a:tblPr>
              <a:tblGrid>
                <a:gridCol w="1612176">
                  <a:extLst>
                    <a:ext uri="{9D8B030D-6E8A-4147-A177-3AD203B41FA5}">
                      <a16:colId xmlns:a16="http://schemas.microsoft.com/office/drawing/2014/main" val="178201349"/>
                    </a:ext>
                  </a:extLst>
                </a:gridCol>
                <a:gridCol w="1610112">
                  <a:extLst>
                    <a:ext uri="{9D8B030D-6E8A-4147-A177-3AD203B41FA5}">
                      <a16:colId xmlns:a16="http://schemas.microsoft.com/office/drawing/2014/main" val="322130774"/>
                    </a:ext>
                  </a:extLst>
                </a:gridCol>
                <a:gridCol w="1620433">
                  <a:extLst>
                    <a:ext uri="{9D8B030D-6E8A-4147-A177-3AD203B41FA5}">
                      <a16:colId xmlns:a16="http://schemas.microsoft.com/office/drawing/2014/main" val="3186981936"/>
                    </a:ext>
                  </a:extLst>
                </a:gridCol>
                <a:gridCol w="1546808">
                  <a:extLst>
                    <a:ext uri="{9D8B030D-6E8A-4147-A177-3AD203B41FA5}">
                      <a16:colId xmlns:a16="http://schemas.microsoft.com/office/drawing/2014/main" val="3724488770"/>
                    </a:ext>
                  </a:extLst>
                </a:gridCol>
              </a:tblGrid>
              <a:tr h="657984">
                <a:tc>
                  <a:txBody>
                    <a:bodyPr/>
                    <a:lstStyle/>
                    <a:p>
                      <a:pPr algn="ctr">
                        <a:lnSpc>
                          <a:spcPct val="130000"/>
                        </a:lnSpc>
                      </a:pPr>
                      <a:r>
                        <a:rPr lang="vi-VN" sz="1300">
                          <a:effectLst/>
                        </a:rPr>
                        <a:t>Thuộc tính chưa chuẩn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1NF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2NF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3NF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95400827"/>
                  </a:ext>
                </a:extLst>
              </a:tr>
              <a:tr h="1697230">
                <a:tc>
                  <a:txBody>
                    <a:bodyPr/>
                    <a:lstStyle/>
                    <a:p>
                      <a:pPr algn="just">
                        <a:lnSpc>
                          <a:spcPct val="130000"/>
                        </a:lnSpc>
                      </a:pPr>
                      <a:r>
                        <a:rPr lang="vi-VN" sz="1300">
                          <a:effectLst/>
                        </a:rPr>
                        <a:t>Mã nhà cung cấp Tên nhà cung cấp Email</a:t>
                      </a:r>
                      <a:endParaRPr lang="en-US" sz="1200">
                        <a:effectLst/>
                      </a:endParaRPr>
                    </a:p>
                    <a:p>
                      <a:pPr algn="just">
                        <a:lnSpc>
                          <a:spcPct val="130000"/>
                        </a:lnSpc>
                      </a:pPr>
                      <a:r>
                        <a:rPr lang="vi-VN" sz="1300">
                          <a:effectLst/>
                        </a:rPr>
                        <a:t>Số điện thoại</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30000"/>
                        </a:lnSpc>
                      </a:pPr>
                      <a:r>
                        <a:rPr lang="en-US" sz="1300">
                          <a:effectLst/>
                        </a:rPr>
                        <a:t>#</a:t>
                      </a:r>
                      <a:r>
                        <a:rPr lang="vi-VN" sz="1300">
                          <a:effectLst/>
                        </a:rPr>
                        <a:t>Mã nhà cung cấp Tên nhà cung cấp Email</a:t>
                      </a:r>
                      <a:endParaRPr lang="en-US" sz="1200">
                        <a:effectLst/>
                      </a:endParaRPr>
                    </a:p>
                    <a:p>
                      <a:pPr algn="just">
                        <a:lnSpc>
                          <a:spcPct val="130000"/>
                        </a:lnSpc>
                      </a:pPr>
                      <a:r>
                        <a:rPr lang="vi-VN" sz="1300">
                          <a:effectLst/>
                        </a:rPr>
                        <a:t>Số điện thoại</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30000"/>
                        </a:lnSpc>
                      </a:pPr>
                      <a:r>
                        <a:rPr lang="en-US" sz="1300">
                          <a:effectLst/>
                        </a:rPr>
                        <a:t>#</a:t>
                      </a:r>
                      <a:r>
                        <a:rPr lang="vi-VN" sz="1300">
                          <a:effectLst/>
                        </a:rPr>
                        <a:t>Mã nhà cung cấp Tên nhà cung cấp Email</a:t>
                      </a:r>
                      <a:endParaRPr lang="en-US" sz="1200">
                        <a:effectLst/>
                      </a:endParaRPr>
                    </a:p>
                    <a:p>
                      <a:pPr algn="just">
                        <a:lnSpc>
                          <a:spcPct val="130000"/>
                        </a:lnSpc>
                      </a:pPr>
                      <a:r>
                        <a:rPr lang="vi-VN" sz="1300">
                          <a:effectLst/>
                        </a:rPr>
                        <a:t>Số điện thoại</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30000"/>
                        </a:lnSpc>
                      </a:pPr>
                      <a:r>
                        <a:rPr lang="en-US" sz="1300" dirty="0">
                          <a:effectLst/>
                        </a:rPr>
                        <a:t>#</a:t>
                      </a:r>
                      <a:r>
                        <a:rPr lang="vi-VN" sz="1300" dirty="0">
                          <a:effectLst/>
                        </a:rPr>
                        <a:t>Mã nhà cung cấp Tên nhà cung cấp Email</a:t>
                      </a:r>
                      <a:endParaRPr lang="en-US" sz="1200" dirty="0">
                        <a:effectLst/>
                      </a:endParaRPr>
                    </a:p>
                    <a:p>
                      <a:pPr algn="just">
                        <a:lnSpc>
                          <a:spcPct val="130000"/>
                        </a:lnSpc>
                      </a:pPr>
                      <a:r>
                        <a:rPr lang="vi-VN" sz="1300" dirty="0">
                          <a:effectLst/>
                        </a:rPr>
                        <a:t>Số điện thoại</a:t>
                      </a:r>
                      <a:endParaRPr lang="en-US" sz="1200" dirty="0">
                        <a:effectLst/>
                      </a:endParaRPr>
                    </a:p>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18392056"/>
                  </a:ext>
                </a:extLst>
              </a:tr>
            </a:tbl>
          </a:graphicData>
        </a:graphic>
      </p:graphicFrame>
      <p:sp>
        <p:nvSpPr>
          <p:cNvPr id="4" name="Slide Number Placeholder 3">
            <a:extLst>
              <a:ext uri="{FF2B5EF4-FFF2-40B4-BE49-F238E27FC236}">
                <a16:creationId xmlns:a16="http://schemas.microsoft.com/office/drawing/2014/main" id="{9F39E3DD-F5E8-3BF2-1403-2757FA777189}"/>
              </a:ext>
            </a:extLst>
          </p:cNvPr>
          <p:cNvSpPr>
            <a:spLocks noGrp="1"/>
          </p:cNvSpPr>
          <p:nvPr>
            <p:ph type="sldNum" sz="quarter" idx="12"/>
          </p:nvPr>
        </p:nvSpPr>
        <p:spPr/>
        <p:txBody>
          <a:bodyPr/>
          <a:lstStyle/>
          <a:p>
            <a:fld id="{7ABBADF3-30DB-48D9-82C9-3A079DF6858D}" type="slidenum">
              <a:rPr lang="en-US" smtClean="0"/>
              <a:t>23</a:t>
            </a:fld>
            <a:endParaRPr lang="en-US"/>
          </a:p>
        </p:txBody>
      </p:sp>
    </p:spTree>
    <p:extLst>
      <p:ext uri="{BB962C8B-B14F-4D97-AF65-F5344CB8AC3E}">
        <p14:creationId xmlns:p14="http://schemas.microsoft.com/office/powerpoint/2010/main" val="3448511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39A45-9E9E-002D-1427-7549167B89BE}"/>
              </a:ext>
            </a:extLst>
          </p:cNvPr>
          <p:cNvSpPr>
            <a:spLocks noGrp="1"/>
          </p:cNvSpPr>
          <p:nvPr>
            <p:ph type="title"/>
          </p:nvPr>
        </p:nvSpPr>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kho</a:t>
            </a:r>
            <a:endParaRPr lang="en-US" dirty="0"/>
          </a:p>
        </p:txBody>
      </p:sp>
      <p:graphicFrame>
        <p:nvGraphicFramePr>
          <p:cNvPr id="5" name="Content Placeholder 4">
            <a:extLst>
              <a:ext uri="{FF2B5EF4-FFF2-40B4-BE49-F238E27FC236}">
                <a16:creationId xmlns:a16="http://schemas.microsoft.com/office/drawing/2014/main" id="{2B711607-1EE9-E697-BEC7-F761139AA491}"/>
              </a:ext>
            </a:extLst>
          </p:cNvPr>
          <p:cNvGraphicFramePr>
            <a:graphicFrameLocks noGrp="1"/>
          </p:cNvGraphicFramePr>
          <p:nvPr>
            <p:ph idx="1"/>
            <p:extLst>
              <p:ext uri="{D42A27DB-BD31-4B8C-83A1-F6EECF244321}">
                <p14:modId xmlns:p14="http://schemas.microsoft.com/office/powerpoint/2010/main" val="2906817540"/>
              </p:ext>
            </p:extLst>
          </p:nvPr>
        </p:nvGraphicFramePr>
        <p:xfrm>
          <a:off x="3465671" y="2225040"/>
          <a:ext cx="5754370" cy="1874138"/>
        </p:xfrm>
        <a:graphic>
          <a:graphicData uri="http://schemas.openxmlformats.org/drawingml/2006/table">
            <a:tbl>
              <a:tblPr firstRow="1" firstCol="1" bandRow="1">
                <a:tableStyleId>{5C22544A-7EE6-4342-B048-85BDC9FD1C3A}</a:tableStyleId>
              </a:tblPr>
              <a:tblGrid>
                <a:gridCol w="1454785">
                  <a:extLst>
                    <a:ext uri="{9D8B030D-6E8A-4147-A177-3AD203B41FA5}">
                      <a16:colId xmlns:a16="http://schemas.microsoft.com/office/drawing/2014/main" val="938108788"/>
                    </a:ext>
                  </a:extLst>
                </a:gridCol>
                <a:gridCol w="1449070">
                  <a:extLst>
                    <a:ext uri="{9D8B030D-6E8A-4147-A177-3AD203B41FA5}">
                      <a16:colId xmlns:a16="http://schemas.microsoft.com/office/drawing/2014/main" val="475762761"/>
                    </a:ext>
                  </a:extLst>
                </a:gridCol>
                <a:gridCol w="1457960">
                  <a:extLst>
                    <a:ext uri="{9D8B030D-6E8A-4147-A177-3AD203B41FA5}">
                      <a16:colId xmlns:a16="http://schemas.microsoft.com/office/drawing/2014/main" val="2969661128"/>
                    </a:ext>
                  </a:extLst>
                </a:gridCol>
                <a:gridCol w="1392555">
                  <a:extLst>
                    <a:ext uri="{9D8B030D-6E8A-4147-A177-3AD203B41FA5}">
                      <a16:colId xmlns:a16="http://schemas.microsoft.com/office/drawing/2014/main" val="325687267"/>
                    </a:ext>
                  </a:extLst>
                </a:gridCol>
              </a:tblGrid>
              <a:tr h="741798">
                <a:tc>
                  <a:txBody>
                    <a:bodyPr/>
                    <a:lstStyle/>
                    <a:p>
                      <a:pPr algn="ctr">
                        <a:lnSpc>
                          <a:spcPct val="130000"/>
                        </a:lnSpc>
                      </a:pPr>
                      <a:r>
                        <a:rPr lang="vi-VN" sz="1300">
                          <a:effectLst/>
                        </a:rPr>
                        <a:t>Thuộc tính chưa chuẩn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1NF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2NF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3NF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85494891"/>
                  </a:ext>
                </a:extLst>
              </a:tr>
              <a:tr h="1132340">
                <a:tc>
                  <a:txBody>
                    <a:bodyPr/>
                    <a:lstStyle/>
                    <a:p>
                      <a:pPr algn="just">
                        <a:lnSpc>
                          <a:spcPct val="130000"/>
                        </a:lnSpc>
                      </a:pP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30000"/>
                        </a:lnSpc>
                      </a:pPr>
                      <a:r>
                        <a:rPr lang="en-US" sz="1300">
                          <a:effectLst/>
                        </a:rPr>
                        <a:t>#</a:t>
                      </a: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30000"/>
                        </a:lnSpc>
                      </a:pPr>
                      <a:r>
                        <a:rPr lang="en-US" sz="1300">
                          <a:effectLst/>
                        </a:rPr>
                        <a:t>#</a:t>
                      </a: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30000"/>
                        </a:lnSpc>
                      </a:pPr>
                      <a:r>
                        <a:rPr lang="en-US" sz="1300" dirty="0">
                          <a:effectLst/>
                        </a:rPr>
                        <a:t>#</a:t>
                      </a:r>
                      <a:r>
                        <a:rPr lang="vi-VN" sz="1300" dirty="0">
                          <a:effectLst/>
                        </a:rPr>
                        <a:t>Mã kho</a:t>
                      </a:r>
                      <a:endParaRPr lang="en-US" sz="1200" dirty="0">
                        <a:effectLst/>
                      </a:endParaRPr>
                    </a:p>
                    <a:p>
                      <a:pPr algn="just">
                        <a:lnSpc>
                          <a:spcPct val="130000"/>
                        </a:lnSpc>
                      </a:pPr>
                      <a:r>
                        <a:rPr lang="vi-VN" sz="1300" dirty="0">
                          <a:effectLst/>
                        </a:rPr>
                        <a:t>Tên kho</a:t>
                      </a:r>
                      <a:endParaRPr lang="en-US" sz="1200" dirty="0">
                        <a:effectLst/>
                      </a:endParaRPr>
                    </a:p>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6585432"/>
                  </a:ext>
                </a:extLst>
              </a:tr>
            </a:tbl>
          </a:graphicData>
        </a:graphic>
      </p:graphicFrame>
      <p:sp>
        <p:nvSpPr>
          <p:cNvPr id="4" name="Slide Number Placeholder 3">
            <a:extLst>
              <a:ext uri="{FF2B5EF4-FFF2-40B4-BE49-F238E27FC236}">
                <a16:creationId xmlns:a16="http://schemas.microsoft.com/office/drawing/2014/main" id="{61315676-5E1F-4BCC-804A-80E1FB571EBE}"/>
              </a:ext>
            </a:extLst>
          </p:cNvPr>
          <p:cNvSpPr>
            <a:spLocks noGrp="1"/>
          </p:cNvSpPr>
          <p:nvPr>
            <p:ph type="sldNum" sz="quarter" idx="12"/>
          </p:nvPr>
        </p:nvSpPr>
        <p:spPr/>
        <p:txBody>
          <a:bodyPr/>
          <a:lstStyle/>
          <a:p>
            <a:fld id="{7ABBADF3-30DB-48D9-82C9-3A079DF6858D}" type="slidenum">
              <a:rPr lang="en-US" smtClean="0"/>
              <a:t>24</a:t>
            </a:fld>
            <a:endParaRPr lang="en-US"/>
          </a:p>
        </p:txBody>
      </p:sp>
    </p:spTree>
    <p:extLst>
      <p:ext uri="{BB962C8B-B14F-4D97-AF65-F5344CB8AC3E}">
        <p14:creationId xmlns:p14="http://schemas.microsoft.com/office/powerpoint/2010/main" val="308028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EEBF7-5D47-48A1-6A49-AA979FCE1623}"/>
              </a:ext>
            </a:extLst>
          </p:cNvPr>
          <p:cNvSpPr>
            <a:spLocks noGrp="1"/>
          </p:cNvSpPr>
          <p:nvPr>
            <p:ph type="title"/>
          </p:nvPr>
        </p:nvSpPr>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kệ</a:t>
            </a:r>
            <a:endParaRPr lang="en-US" dirty="0"/>
          </a:p>
        </p:txBody>
      </p:sp>
      <p:graphicFrame>
        <p:nvGraphicFramePr>
          <p:cNvPr id="5" name="Content Placeholder 4">
            <a:extLst>
              <a:ext uri="{FF2B5EF4-FFF2-40B4-BE49-F238E27FC236}">
                <a16:creationId xmlns:a16="http://schemas.microsoft.com/office/drawing/2014/main" id="{034922FD-4381-A40E-36E4-55B2BFF47354}"/>
              </a:ext>
            </a:extLst>
          </p:cNvPr>
          <p:cNvGraphicFramePr>
            <a:graphicFrameLocks noGrp="1"/>
          </p:cNvGraphicFramePr>
          <p:nvPr>
            <p:ph idx="1"/>
            <p:extLst>
              <p:ext uri="{D42A27DB-BD31-4B8C-83A1-F6EECF244321}">
                <p14:modId xmlns:p14="http://schemas.microsoft.com/office/powerpoint/2010/main" val="2211567585"/>
              </p:ext>
            </p:extLst>
          </p:nvPr>
        </p:nvGraphicFramePr>
        <p:xfrm>
          <a:off x="3465671" y="1849120"/>
          <a:ext cx="5754370" cy="2893948"/>
        </p:xfrm>
        <a:graphic>
          <a:graphicData uri="http://schemas.openxmlformats.org/drawingml/2006/table">
            <a:tbl>
              <a:tblPr firstRow="1" firstCol="1" bandRow="1">
                <a:tableStyleId>{5C22544A-7EE6-4342-B048-85BDC9FD1C3A}</a:tableStyleId>
              </a:tblPr>
              <a:tblGrid>
                <a:gridCol w="1454785">
                  <a:extLst>
                    <a:ext uri="{9D8B030D-6E8A-4147-A177-3AD203B41FA5}">
                      <a16:colId xmlns:a16="http://schemas.microsoft.com/office/drawing/2014/main" val="2591249699"/>
                    </a:ext>
                  </a:extLst>
                </a:gridCol>
                <a:gridCol w="1449070">
                  <a:extLst>
                    <a:ext uri="{9D8B030D-6E8A-4147-A177-3AD203B41FA5}">
                      <a16:colId xmlns:a16="http://schemas.microsoft.com/office/drawing/2014/main" val="3285806674"/>
                    </a:ext>
                  </a:extLst>
                </a:gridCol>
                <a:gridCol w="1457960">
                  <a:extLst>
                    <a:ext uri="{9D8B030D-6E8A-4147-A177-3AD203B41FA5}">
                      <a16:colId xmlns:a16="http://schemas.microsoft.com/office/drawing/2014/main" val="3007255681"/>
                    </a:ext>
                  </a:extLst>
                </a:gridCol>
                <a:gridCol w="1392555">
                  <a:extLst>
                    <a:ext uri="{9D8B030D-6E8A-4147-A177-3AD203B41FA5}">
                      <a16:colId xmlns:a16="http://schemas.microsoft.com/office/drawing/2014/main" val="3167310717"/>
                    </a:ext>
                  </a:extLst>
                </a:gridCol>
              </a:tblGrid>
              <a:tr h="560965">
                <a:tc>
                  <a:txBody>
                    <a:bodyPr/>
                    <a:lstStyle/>
                    <a:p>
                      <a:pPr algn="ctr">
                        <a:lnSpc>
                          <a:spcPct val="130000"/>
                        </a:lnSpc>
                      </a:pPr>
                      <a:r>
                        <a:rPr lang="vi-VN" sz="1300">
                          <a:effectLst/>
                        </a:rPr>
                        <a:t>Thuộc tính chưa chuẩn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1NF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2NF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3NF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08090666"/>
                  </a:ext>
                </a:extLst>
              </a:tr>
              <a:tr h="2332983">
                <a:tc>
                  <a:txBody>
                    <a:bodyPr/>
                    <a:lstStyle/>
                    <a:p>
                      <a:pPr algn="just">
                        <a:lnSpc>
                          <a:spcPct val="130000"/>
                        </a:lnSpc>
                      </a:pPr>
                      <a:r>
                        <a:rPr lang="vi-VN" sz="1300">
                          <a:effectLst/>
                        </a:rPr>
                        <a:t>Mã kệ</a:t>
                      </a:r>
                      <a:endParaRPr lang="en-US" sz="1200">
                        <a:effectLst/>
                      </a:endParaRPr>
                    </a:p>
                    <a:p>
                      <a:pPr algn="just">
                        <a:lnSpc>
                          <a:spcPct val="130000"/>
                        </a:lnSpc>
                      </a:pPr>
                      <a:r>
                        <a:rPr lang="vi-VN" sz="1300">
                          <a:effectLst/>
                        </a:rPr>
                        <a:t>Tên kệ</a:t>
                      </a:r>
                      <a:endParaRPr lang="en-US" sz="1200">
                        <a:effectLst/>
                      </a:endParaRPr>
                    </a:p>
                    <a:p>
                      <a:pPr algn="just">
                        <a:lnSpc>
                          <a:spcPct val="130000"/>
                        </a:lnSpc>
                      </a:pPr>
                      <a:r>
                        <a:rPr lang="vi-VN" sz="1300">
                          <a:effectLst/>
                        </a:rPr>
                        <a:t>Vị trí</a:t>
                      </a:r>
                      <a:endParaRPr lang="en-US" sz="1200">
                        <a:effectLst/>
                      </a:endParaRPr>
                    </a:p>
                    <a:p>
                      <a:pPr algn="just">
                        <a:lnSpc>
                          <a:spcPct val="130000"/>
                        </a:lnSpc>
                      </a:pPr>
                      <a:r>
                        <a:rPr lang="vi-VN"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a:t>
                      </a:r>
                      <a:r>
                        <a:rPr lang="vi-VN" sz="1300">
                          <a:effectLst/>
                        </a:rPr>
                        <a:t>Mã kệ</a:t>
                      </a:r>
                      <a:endParaRPr lang="en-US" sz="1200">
                        <a:effectLst/>
                      </a:endParaRPr>
                    </a:p>
                    <a:p>
                      <a:pPr algn="just">
                        <a:lnSpc>
                          <a:spcPct val="130000"/>
                        </a:lnSpc>
                      </a:pPr>
                      <a:r>
                        <a:rPr lang="vi-VN" sz="1300">
                          <a:effectLst/>
                        </a:rPr>
                        <a:t>Tên kệ</a:t>
                      </a:r>
                      <a:endParaRPr lang="en-US" sz="1200">
                        <a:effectLst/>
                      </a:endParaRPr>
                    </a:p>
                    <a:p>
                      <a:pPr algn="just">
                        <a:lnSpc>
                          <a:spcPct val="130000"/>
                        </a:lnSpc>
                      </a:pPr>
                      <a:r>
                        <a:rPr lang="vi-VN" sz="1300">
                          <a:effectLst/>
                        </a:rPr>
                        <a:t>Vị trí</a:t>
                      </a:r>
                      <a:endParaRPr lang="en-US" sz="1200">
                        <a:effectLst/>
                      </a:endParaRPr>
                    </a:p>
                    <a:p>
                      <a:pPr algn="just">
                        <a:lnSpc>
                          <a:spcPct val="130000"/>
                        </a:lnSpc>
                      </a:pPr>
                      <a:r>
                        <a:rPr lang="vi-VN" sz="1300">
                          <a:effectLst/>
                        </a:rPr>
                        <a:t> </a:t>
                      </a:r>
                      <a:endParaRPr lang="en-US" sz="1200">
                        <a:effectLst/>
                      </a:endParaRPr>
                    </a:p>
                    <a:p>
                      <a:pPr algn="just">
                        <a:lnSpc>
                          <a:spcPct val="130000"/>
                        </a:lnSpc>
                      </a:pPr>
                      <a:r>
                        <a:rPr lang="en-US" sz="1300">
                          <a:effectLst/>
                        </a:rPr>
                        <a:t>#</a:t>
                      </a:r>
                      <a:r>
                        <a:rPr lang="vi-VN" sz="1300">
                          <a:effectLst/>
                        </a:rPr>
                        <a:t>Mã kệ</a:t>
                      </a:r>
                      <a:endParaRPr lang="en-US" sz="1200">
                        <a:effectLst/>
                      </a:endParaRPr>
                    </a:p>
                    <a:p>
                      <a:pPr algn="just">
                        <a:lnSpc>
                          <a:spcPct val="130000"/>
                        </a:lnSpc>
                      </a:pPr>
                      <a:r>
                        <a:rPr lang="en-US" sz="1300">
                          <a:effectLst/>
                        </a:rPr>
                        <a:t>#</a:t>
                      </a: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a:t>
                      </a:r>
                      <a:r>
                        <a:rPr lang="vi-VN" sz="1300">
                          <a:effectLst/>
                        </a:rPr>
                        <a:t>Mã kệ</a:t>
                      </a:r>
                      <a:endParaRPr lang="en-US" sz="1200">
                        <a:effectLst/>
                      </a:endParaRPr>
                    </a:p>
                    <a:p>
                      <a:pPr algn="just">
                        <a:lnSpc>
                          <a:spcPct val="130000"/>
                        </a:lnSpc>
                      </a:pPr>
                      <a:r>
                        <a:rPr lang="vi-VN" sz="1300">
                          <a:effectLst/>
                        </a:rPr>
                        <a:t>Tên kệ</a:t>
                      </a:r>
                      <a:endParaRPr lang="en-US" sz="1200">
                        <a:effectLst/>
                      </a:endParaRPr>
                    </a:p>
                    <a:p>
                      <a:pPr algn="just">
                        <a:lnSpc>
                          <a:spcPct val="130000"/>
                        </a:lnSpc>
                      </a:pPr>
                      <a:r>
                        <a:rPr lang="vi-VN" sz="1300">
                          <a:effectLst/>
                        </a:rPr>
                        <a:t>Vị trí</a:t>
                      </a:r>
                      <a:endParaRPr lang="en-US" sz="1200">
                        <a:effectLst/>
                      </a:endParaRPr>
                    </a:p>
                    <a:p>
                      <a:pPr algn="just">
                        <a:lnSpc>
                          <a:spcPct val="130000"/>
                        </a:lnSpc>
                      </a:pPr>
                      <a:r>
                        <a:rPr lang="vi-VN" sz="1300">
                          <a:effectLst/>
                        </a:rPr>
                        <a:t> </a:t>
                      </a:r>
                      <a:endParaRPr lang="en-US" sz="1200">
                        <a:effectLst/>
                      </a:endParaRPr>
                    </a:p>
                    <a:p>
                      <a:pPr algn="just">
                        <a:lnSpc>
                          <a:spcPct val="130000"/>
                        </a:lnSpc>
                      </a:pPr>
                      <a:r>
                        <a:rPr lang="en-US" sz="1300">
                          <a:effectLst/>
                        </a:rPr>
                        <a:t>#</a:t>
                      </a: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dirty="0">
                          <a:effectLst/>
                        </a:rPr>
                        <a:t>#</a:t>
                      </a:r>
                      <a:r>
                        <a:rPr lang="vi-VN" sz="1300" dirty="0">
                          <a:effectLst/>
                        </a:rPr>
                        <a:t>Mã kệ</a:t>
                      </a:r>
                      <a:endParaRPr lang="en-US" sz="1200" dirty="0">
                        <a:effectLst/>
                      </a:endParaRPr>
                    </a:p>
                    <a:p>
                      <a:pPr algn="just">
                        <a:lnSpc>
                          <a:spcPct val="130000"/>
                        </a:lnSpc>
                      </a:pPr>
                      <a:r>
                        <a:rPr lang="vi-VN" sz="1300" dirty="0">
                          <a:effectLst/>
                        </a:rPr>
                        <a:t>Tên kệ</a:t>
                      </a:r>
                      <a:endParaRPr lang="en-US" sz="1200" dirty="0">
                        <a:effectLst/>
                      </a:endParaRPr>
                    </a:p>
                    <a:p>
                      <a:pPr algn="just">
                        <a:lnSpc>
                          <a:spcPct val="130000"/>
                        </a:lnSpc>
                      </a:pPr>
                      <a:r>
                        <a:rPr lang="vi-VN" sz="1300" dirty="0">
                          <a:effectLst/>
                        </a:rPr>
                        <a:t>Vị trí</a:t>
                      </a:r>
                      <a:endParaRPr lang="en-US" sz="1200" dirty="0">
                        <a:effectLst/>
                      </a:endParaRPr>
                    </a:p>
                    <a:p>
                      <a:pPr algn="just">
                        <a:lnSpc>
                          <a:spcPct val="130000"/>
                        </a:lnSpc>
                      </a:pPr>
                      <a:r>
                        <a:rPr lang="vi-VN" sz="1300" dirty="0">
                          <a:effectLst/>
                        </a:rPr>
                        <a:t> </a:t>
                      </a:r>
                      <a:endParaRPr lang="en-US" sz="1200" dirty="0">
                        <a:effectLst/>
                      </a:endParaRPr>
                    </a:p>
                    <a:p>
                      <a:pPr algn="just">
                        <a:lnSpc>
                          <a:spcPct val="130000"/>
                        </a:lnSpc>
                      </a:pPr>
                      <a:r>
                        <a:rPr lang="en-US" sz="1300" dirty="0">
                          <a:effectLst/>
                        </a:rPr>
                        <a:t>#</a:t>
                      </a:r>
                      <a:r>
                        <a:rPr lang="vi-VN" sz="1300" dirty="0">
                          <a:effectLst/>
                        </a:rPr>
                        <a:t>Mã kho</a:t>
                      </a:r>
                      <a:endParaRPr lang="en-US" sz="1200" dirty="0">
                        <a:effectLst/>
                      </a:endParaRPr>
                    </a:p>
                    <a:p>
                      <a:pPr algn="just">
                        <a:lnSpc>
                          <a:spcPct val="130000"/>
                        </a:lnSpc>
                      </a:pPr>
                      <a:r>
                        <a:rPr lang="vi-VN" sz="1300" dirty="0">
                          <a:effectLst/>
                        </a:rPr>
                        <a:t>Tên kho</a:t>
                      </a:r>
                      <a:endParaRPr lang="en-US" sz="1200" dirty="0">
                        <a:effectLst/>
                      </a:endParaRPr>
                    </a:p>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76143560"/>
                  </a:ext>
                </a:extLst>
              </a:tr>
            </a:tbl>
          </a:graphicData>
        </a:graphic>
      </p:graphicFrame>
      <p:sp>
        <p:nvSpPr>
          <p:cNvPr id="4" name="Slide Number Placeholder 3">
            <a:extLst>
              <a:ext uri="{FF2B5EF4-FFF2-40B4-BE49-F238E27FC236}">
                <a16:creationId xmlns:a16="http://schemas.microsoft.com/office/drawing/2014/main" id="{407D059A-800C-1314-445F-1D8891BB523C}"/>
              </a:ext>
            </a:extLst>
          </p:cNvPr>
          <p:cNvSpPr>
            <a:spLocks noGrp="1"/>
          </p:cNvSpPr>
          <p:nvPr>
            <p:ph type="sldNum" sz="quarter" idx="12"/>
          </p:nvPr>
        </p:nvSpPr>
        <p:spPr/>
        <p:txBody>
          <a:bodyPr/>
          <a:lstStyle/>
          <a:p>
            <a:fld id="{7ABBADF3-30DB-48D9-82C9-3A079DF6858D}" type="slidenum">
              <a:rPr lang="en-US" smtClean="0"/>
              <a:t>25</a:t>
            </a:fld>
            <a:endParaRPr lang="en-US"/>
          </a:p>
        </p:txBody>
      </p:sp>
    </p:spTree>
    <p:extLst>
      <p:ext uri="{BB962C8B-B14F-4D97-AF65-F5344CB8AC3E}">
        <p14:creationId xmlns:p14="http://schemas.microsoft.com/office/powerpoint/2010/main" val="763911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E06F-7749-CCDC-47CC-26936ED60F0B}"/>
              </a:ext>
            </a:extLst>
          </p:cNvPr>
          <p:cNvSpPr>
            <a:spLocks noGrp="1"/>
          </p:cNvSpPr>
          <p:nvPr>
            <p:ph type="title"/>
          </p:nvPr>
        </p:nvSpPr>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phiếu</a:t>
            </a:r>
            <a:r>
              <a:rPr lang="en-US" dirty="0"/>
              <a:t> </a:t>
            </a:r>
            <a:r>
              <a:rPr lang="en-US" dirty="0" err="1"/>
              <a:t>nhập</a:t>
            </a:r>
            <a:endParaRPr lang="en-US" dirty="0"/>
          </a:p>
        </p:txBody>
      </p:sp>
      <p:graphicFrame>
        <p:nvGraphicFramePr>
          <p:cNvPr id="5" name="Content Placeholder 4">
            <a:extLst>
              <a:ext uri="{FF2B5EF4-FFF2-40B4-BE49-F238E27FC236}">
                <a16:creationId xmlns:a16="http://schemas.microsoft.com/office/drawing/2014/main" id="{2AD5CADA-DC1F-21F8-B0CC-2A21AEE6692E}"/>
              </a:ext>
            </a:extLst>
          </p:cNvPr>
          <p:cNvGraphicFramePr>
            <a:graphicFrameLocks noGrp="1"/>
          </p:cNvGraphicFramePr>
          <p:nvPr>
            <p:ph idx="1"/>
          </p:nvPr>
        </p:nvGraphicFramePr>
        <p:xfrm>
          <a:off x="4179053" y="826516"/>
          <a:ext cx="4327607" cy="5312474"/>
        </p:xfrm>
        <a:graphic>
          <a:graphicData uri="http://schemas.openxmlformats.org/drawingml/2006/table">
            <a:tbl>
              <a:tblPr firstRow="1" firstCol="1" bandRow="1">
                <a:tableStyleId>{5C22544A-7EE6-4342-B048-85BDC9FD1C3A}</a:tableStyleId>
              </a:tblPr>
              <a:tblGrid>
                <a:gridCol w="1092169">
                  <a:extLst>
                    <a:ext uri="{9D8B030D-6E8A-4147-A177-3AD203B41FA5}">
                      <a16:colId xmlns:a16="http://schemas.microsoft.com/office/drawing/2014/main" val="96380542"/>
                    </a:ext>
                  </a:extLst>
                </a:gridCol>
                <a:gridCol w="1090259">
                  <a:extLst>
                    <a:ext uri="{9D8B030D-6E8A-4147-A177-3AD203B41FA5}">
                      <a16:colId xmlns:a16="http://schemas.microsoft.com/office/drawing/2014/main" val="3353891386"/>
                    </a:ext>
                  </a:extLst>
                </a:gridCol>
                <a:gridCol w="1096945">
                  <a:extLst>
                    <a:ext uri="{9D8B030D-6E8A-4147-A177-3AD203B41FA5}">
                      <a16:colId xmlns:a16="http://schemas.microsoft.com/office/drawing/2014/main" val="3061519001"/>
                    </a:ext>
                  </a:extLst>
                </a:gridCol>
                <a:gridCol w="1048234">
                  <a:extLst>
                    <a:ext uri="{9D8B030D-6E8A-4147-A177-3AD203B41FA5}">
                      <a16:colId xmlns:a16="http://schemas.microsoft.com/office/drawing/2014/main" val="4159555366"/>
                    </a:ext>
                  </a:extLst>
                </a:gridCol>
              </a:tblGrid>
              <a:tr h="368052">
                <a:tc>
                  <a:txBody>
                    <a:bodyPr/>
                    <a:lstStyle/>
                    <a:p>
                      <a:pPr algn="ctr">
                        <a:lnSpc>
                          <a:spcPct val="130000"/>
                        </a:lnSpc>
                      </a:pPr>
                      <a:r>
                        <a:rPr lang="vi-VN" sz="1000">
                          <a:effectLst/>
                        </a:rPr>
                        <a:t>Thuộc tính chưa chuẩn hóa</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nchor="ctr"/>
                </a:tc>
                <a:tc>
                  <a:txBody>
                    <a:bodyPr/>
                    <a:lstStyle/>
                    <a:p>
                      <a:pPr algn="ctr">
                        <a:lnSpc>
                          <a:spcPct val="130000"/>
                        </a:lnSpc>
                      </a:pPr>
                      <a:r>
                        <a:rPr lang="vi-VN" sz="1000">
                          <a:effectLst/>
                        </a:rPr>
                        <a:t>1NF</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nchor="ctr"/>
                </a:tc>
                <a:tc>
                  <a:txBody>
                    <a:bodyPr/>
                    <a:lstStyle/>
                    <a:p>
                      <a:pPr algn="ctr">
                        <a:lnSpc>
                          <a:spcPct val="130000"/>
                        </a:lnSpc>
                      </a:pPr>
                      <a:r>
                        <a:rPr lang="vi-VN" sz="1000">
                          <a:effectLst/>
                        </a:rPr>
                        <a:t>2NF</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nchor="ctr"/>
                </a:tc>
                <a:tc>
                  <a:txBody>
                    <a:bodyPr/>
                    <a:lstStyle/>
                    <a:p>
                      <a:pPr algn="ctr">
                        <a:lnSpc>
                          <a:spcPct val="130000"/>
                        </a:lnSpc>
                      </a:pPr>
                      <a:r>
                        <a:rPr lang="vi-VN" sz="1000">
                          <a:effectLst/>
                        </a:rPr>
                        <a:t>3NF</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nchor="ctr"/>
                </a:tc>
                <a:extLst>
                  <a:ext uri="{0D108BD9-81ED-4DB2-BD59-A6C34878D82A}">
                    <a16:rowId xmlns:a16="http://schemas.microsoft.com/office/drawing/2014/main" val="4208163326"/>
                  </a:ext>
                </a:extLst>
              </a:tr>
              <a:tr h="4823072">
                <a:tc>
                  <a:txBody>
                    <a:bodyPr/>
                    <a:lstStyle/>
                    <a:p>
                      <a:pPr>
                        <a:lnSpc>
                          <a:spcPct val="130000"/>
                        </a:lnSpc>
                      </a:pPr>
                      <a:r>
                        <a:rPr lang="en-US" sz="1000" kern="100">
                          <a:effectLst/>
                        </a:rPr>
                        <a:t>Mã phiếu nhập</a:t>
                      </a:r>
                      <a:endParaRPr lang="en-US" sz="900">
                        <a:effectLst/>
                      </a:endParaRPr>
                    </a:p>
                    <a:p>
                      <a:pPr>
                        <a:lnSpc>
                          <a:spcPct val="130000"/>
                        </a:lnSpc>
                      </a:pPr>
                      <a:r>
                        <a:rPr lang="en-US" sz="1000" kern="100">
                          <a:effectLst/>
                        </a:rPr>
                        <a:t>Ngày nhập</a:t>
                      </a:r>
                      <a:endParaRPr lang="en-US" sz="900">
                        <a:effectLst/>
                      </a:endParaRPr>
                    </a:p>
                    <a:p>
                      <a:pPr>
                        <a:lnSpc>
                          <a:spcPct val="130000"/>
                        </a:lnSpc>
                      </a:pPr>
                      <a:r>
                        <a:rPr lang="en-US" sz="1000" kern="100">
                          <a:effectLst/>
                        </a:rPr>
                        <a:t>Mã nhân viên</a:t>
                      </a:r>
                      <a:endParaRPr lang="en-US" sz="900">
                        <a:effectLst/>
                      </a:endParaRPr>
                    </a:p>
                    <a:p>
                      <a:pPr>
                        <a:lnSpc>
                          <a:spcPct val="130000"/>
                        </a:lnSpc>
                      </a:pPr>
                      <a:r>
                        <a:rPr lang="en-US" sz="1000" kern="100">
                          <a:effectLst/>
                        </a:rPr>
                        <a:t>Mã nhà cung cấp</a:t>
                      </a:r>
                      <a:endParaRPr lang="en-US" sz="900">
                        <a:effectLst/>
                      </a:endParaRPr>
                    </a:p>
                    <a:p>
                      <a:pPr>
                        <a:lnSpc>
                          <a:spcPct val="130000"/>
                        </a:lnSpc>
                      </a:pPr>
                      <a:r>
                        <a:rPr lang="en-US" sz="1000" kern="100">
                          <a:effectLst/>
                        </a:rPr>
                        <a:t>Mã kho</a:t>
                      </a:r>
                      <a:endParaRPr lang="en-US" sz="900">
                        <a:effectLst/>
                      </a:endParaRPr>
                    </a:p>
                    <a:p>
                      <a:pPr algn="just">
                        <a:lnSpc>
                          <a:spcPct val="130000"/>
                        </a:lnSpc>
                      </a:pPr>
                      <a:r>
                        <a:rPr lang="vi-VN" sz="1000">
                          <a:effectLst/>
                        </a:rPr>
                        <a:t> </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tc>
                <a:tc>
                  <a:txBody>
                    <a:bodyPr/>
                    <a:lstStyle/>
                    <a:p>
                      <a:pPr algn="just">
                        <a:lnSpc>
                          <a:spcPct val="130000"/>
                        </a:lnSpc>
                      </a:pPr>
                      <a:r>
                        <a:rPr lang="en-US" sz="1000">
                          <a:effectLst/>
                        </a:rPr>
                        <a:t>#</a:t>
                      </a:r>
                      <a:r>
                        <a:rPr lang="vi-VN" sz="1000">
                          <a:effectLst/>
                        </a:rPr>
                        <a:t>Mã phiếu nhập Ngày nhập</a:t>
                      </a:r>
                      <a:endParaRPr lang="en-US" sz="900">
                        <a:effectLst/>
                      </a:endParaRPr>
                    </a:p>
                    <a:p>
                      <a:pPr algn="just">
                        <a:lnSpc>
                          <a:spcPct val="130000"/>
                        </a:lnSpc>
                      </a:pPr>
                      <a:r>
                        <a:rPr lang="en-US" sz="1000">
                          <a:effectLst/>
                        </a:rPr>
                        <a:t>Mã nhân viên</a:t>
                      </a:r>
                      <a:endParaRPr lang="en-US" sz="900">
                        <a:effectLst/>
                      </a:endParaRPr>
                    </a:p>
                    <a:p>
                      <a:pPr algn="just">
                        <a:lnSpc>
                          <a:spcPct val="130000"/>
                        </a:lnSpc>
                      </a:pPr>
                      <a:r>
                        <a:rPr lang="en-US" sz="1000">
                          <a:effectLst/>
                        </a:rPr>
                        <a:t>Mã nhà cung cấp</a:t>
                      </a:r>
                      <a:endParaRPr lang="en-US" sz="900">
                        <a:effectLst/>
                      </a:endParaRPr>
                    </a:p>
                    <a:p>
                      <a:pPr algn="just">
                        <a:lnSpc>
                          <a:spcPct val="130000"/>
                        </a:lnSpc>
                      </a:pPr>
                      <a:r>
                        <a:rPr lang="vi-VN" sz="1000">
                          <a:effectLst/>
                        </a:rPr>
                        <a:t> </a:t>
                      </a:r>
                      <a:endParaRPr lang="en-US" sz="900">
                        <a:effectLst/>
                      </a:endParaRPr>
                    </a:p>
                    <a:p>
                      <a:pPr algn="just">
                        <a:lnSpc>
                          <a:spcPct val="130000"/>
                        </a:lnSpc>
                      </a:pPr>
                      <a:r>
                        <a:rPr lang="en-US" sz="1000">
                          <a:effectLst/>
                        </a:rPr>
                        <a:t>#</a:t>
                      </a:r>
                      <a:r>
                        <a:rPr lang="vi-VN" sz="1000">
                          <a:effectLst/>
                        </a:rPr>
                        <a:t>Mã kho</a:t>
                      </a:r>
                      <a:endParaRPr lang="en-US" sz="900">
                        <a:effectLst/>
                      </a:endParaRPr>
                    </a:p>
                    <a:p>
                      <a:pPr algn="just">
                        <a:lnSpc>
                          <a:spcPct val="130000"/>
                        </a:lnSpc>
                      </a:pPr>
                      <a:r>
                        <a:rPr lang="en-US" sz="1000">
                          <a:effectLst/>
                        </a:rPr>
                        <a:t>Tên kho</a:t>
                      </a:r>
                      <a:endParaRPr lang="en-US" sz="900">
                        <a:effectLst/>
                      </a:endParaRPr>
                    </a:p>
                    <a:p>
                      <a:pPr algn="just">
                        <a:lnSpc>
                          <a:spcPct val="130000"/>
                        </a:lnSpc>
                      </a:pPr>
                      <a:r>
                        <a:rPr lang="en-US" sz="1000">
                          <a:effectLst/>
                        </a:rPr>
                        <a:t>Địa chỉ</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tc>
                <a:tc>
                  <a:txBody>
                    <a:bodyPr/>
                    <a:lstStyle/>
                    <a:p>
                      <a:pPr algn="just">
                        <a:lnSpc>
                          <a:spcPct val="130000"/>
                        </a:lnSpc>
                      </a:pPr>
                      <a:r>
                        <a:rPr lang="en-US" sz="1000">
                          <a:effectLst/>
                        </a:rPr>
                        <a:t>#</a:t>
                      </a:r>
                      <a:r>
                        <a:rPr lang="vi-VN" sz="1000">
                          <a:effectLst/>
                        </a:rPr>
                        <a:t>Mã phiếu nhập Ngày nhập</a:t>
                      </a:r>
                      <a:endParaRPr lang="en-US" sz="900">
                        <a:effectLst/>
                      </a:endParaRPr>
                    </a:p>
                    <a:p>
                      <a:pPr algn="just">
                        <a:lnSpc>
                          <a:spcPct val="130000"/>
                        </a:lnSpc>
                      </a:pPr>
                      <a:r>
                        <a:rPr lang="en-US" sz="1000">
                          <a:effectLst/>
                        </a:rPr>
                        <a:t>Mã nhân viên</a:t>
                      </a:r>
                      <a:endParaRPr lang="en-US" sz="900">
                        <a:effectLst/>
                      </a:endParaRPr>
                    </a:p>
                    <a:p>
                      <a:pPr algn="just">
                        <a:lnSpc>
                          <a:spcPct val="130000"/>
                        </a:lnSpc>
                      </a:pPr>
                      <a:r>
                        <a:rPr lang="en-US" sz="1000">
                          <a:effectLst/>
                        </a:rPr>
                        <a:t> </a:t>
                      </a:r>
                      <a:endParaRPr lang="en-US" sz="900">
                        <a:effectLst/>
                      </a:endParaRPr>
                    </a:p>
                    <a:p>
                      <a:pPr algn="just">
                        <a:lnSpc>
                          <a:spcPct val="130000"/>
                        </a:lnSpc>
                      </a:pPr>
                      <a:r>
                        <a:rPr lang="en-US" sz="1000">
                          <a:effectLst/>
                        </a:rPr>
                        <a:t> </a:t>
                      </a:r>
                      <a:endParaRPr lang="en-US" sz="900">
                        <a:effectLst/>
                      </a:endParaRPr>
                    </a:p>
                    <a:p>
                      <a:pPr algn="just">
                        <a:lnSpc>
                          <a:spcPct val="130000"/>
                        </a:lnSpc>
                      </a:pPr>
                      <a:r>
                        <a:rPr lang="en-US" sz="1000">
                          <a:effectLst/>
                        </a:rPr>
                        <a:t>#</a:t>
                      </a:r>
                      <a:r>
                        <a:rPr lang="vi-VN" sz="1000">
                          <a:effectLst/>
                        </a:rPr>
                        <a:t>Mã kho</a:t>
                      </a:r>
                      <a:endParaRPr lang="en-US" sz="900">
                        <a:effectLst/>
                      </a:endParaRPr>
                    </a:p>
                    <a:p>
                      <a:pPr algn="just">
                        <a:lnSpc>
                          <a:spcPct val="130000"/>
                        </a:lnSpc>
                      </a:pPr>
                      <a:r>
                        <a:rPr lang="vi-VN" sz="1000">
                          <a:effectLst/>
                        </a:rPr>
                        <a:t>Tên kho</a:t>
                      </a:r>
                      <a:endParaRPr lang="en-US" sz="900">
                        <a:effectLst/>
                      </a:endParaRPr>
                    </a:p>
                    <a:p>
                      <a:pPr algn="just">
                        <a:lnSpc>
                          <a:spcPct val="130000"/>
                        </a:lnSpc>
                      </a:pPr>
                      <a:r>
                        <a:rPr lang="vi-VN" sz="1000">
                          <a:effectLst/>
                        </a:rPr>
                        <a:t>Địa chỉ</a:t>
                      </a:r>
                      <a:endParaRPr lang="en-US" sz="900">
                        <a:effectLst/>
                      </a:endParaRPr>
                    </a:p>
                    <a:p>
                      <a:pPr algn="just">
                        <a:lnSpc>
                          <a:spcPct val="130000"/>
                        </a:lnSpc>
                      </a:pPr>
                      <a:r>
                        <a:rPr lang="en-US" sz="1000">
                          <a:effectLst/>
                        </a:rPr>
                        <a:t> </a:t>
                      </a:r>
                      <a:endParaRPr lang="en-US" sz="900">
                        <a:effectLst/>
                      </a:endParaRPr>
                    </a:p>
                    <a:p>
                      <a:pPr algn="just">
                        <a:lnSpc>
                          <a:spcPct val="130000"/>
                        </a:lnSpc>
                      </a:pPr>
                      <a:r>
                        <a:rPr lang="en-US" sz="1000">
                          <a:effectLst/>
                        </a:rPr>
                        <a:t>#</a:t>
                      </a:r>
                      <a:r>
                        <a:rPr lang="vi-VN" sz="1000">
                          <a:effectLst/>
                        </a:rPr>
                        <a:t>Mã nhà cung cấp Tên nhà cung cấp Email</a:t>
                      </a:r>
                      <a:endParaRPr lang="en-US" sz="900">
                        <a:effectLst/>
                      </a:endParaRPr>
                    </a:p>
                    <a:p>
                      <a:pPr algn="just">
                        <a:lnSpc>
                          <a:spcPct val="130000"/>
                        </a:lnSpc>
                      </a:pPr>
                      <a:r>
                        <a:rPr lang="vi-VN" sz="1000">
                          <a:effectLst/>
                        </a:rPr>
                        <a:t>Số điện thoại</a:t>
                      </a:r>
                      <a:endParaRPr lang="en-US" sz="900">
                        <a:effectLst/>
                      </a:endParaRPr>
                    </a:p>
                    <a:p>
                      <a:pPr algn="just">
                        <a:lnSpc>
                          <a:spcPct val="130000"/>
                        </a:lnSpc>
                      </a:pPr>
                      <a:r>
                        <a:rPr lang="vi-VN" sz="1000">
                          <a:effectLst/>
                        </a:rPr>
                        <a:t>Địa chỉ</a:t>
                      </a:r>
                      <a:endParaRPr lang="en-US" sz="900">
                        <a:effectLst/>
                        <a:latin typeface=".VnTime"/>
                        <a:ea typeface="Times New Roman" panose="02020603050405020304" pitchFamily="18" charset="0"/>
                        <a:cs typeface="Times New Roman" panose="02020603050405020304" pitchFamily="18" charset="0"/>
                      </a:endParaRPr>
                    </a:p>
                  </a:txBody>
                  <a:tcPr marL="51576" marR="51576" marT="0" marB="0"/>
                </a:tc>
                <a:tc>
                  <a:txBody>
                    <a:bodyPr/>
                    <a:lstStyle/>
                    <a:p>
                      <a:pPr algn="just">
                        <a:lnSpc>
                          <a:spcPct val="130000"/>
                        </a:lnSpc>
                      </a:pPr>
                      <a:r>
                        <a:rPr lang="en-US" sz="1000" dirty="0">
                          <a:effectLst/>
                        </a:rPr>
                        <a:t>#</a:t>
                      </a:r>
                      <a:r>
                        <a:rPr lang="vi-VN" sz="1000" dirty="0">
                          <a:effectLst/>
                        </a:rPr>
                        <a:t>Mã phiếu nhập Ngày nhập</a:t>
                      </a:r>
                      <a:endParaRPr lang="en-US" sz="900" dirty="0">
                        <a:effectLst/>
                      </a:endParaRPr>
                    </a:p>
                    <a:p>
                      <a:pPr algn="just">
                        <a:lnSpc>
                          <a:spcPct val="130000"/>
                        </a:lnSpc>
                      </a:pPr>
                      <a:r>
                        <a:rPr lang="en-US" sz="1000" dirty="0">
                          <a:effectLst/>
                        </a:rPr>
                        <a:t> </a:t>
                      </a:r>
                      <a:endParaRPr lang="en-US" sz="900" dirty="0">
                        <a:effectLst/>
                      </a:endParaRPr>
                    </a:p>
                    <a:p>
                      <a:pPr algn="just">
                        <a:lnSpc>
                          <a:spcPct val="130000"/>
                        </a:lnSpc>
                      </a:pPr>
                      <a:r>
                        <a:rPr lang="en-US" sz="1000" dirty="0">
                          <a:effectLst/>
                        </a:rPr>
                        <a:t> </a:t>
                      </a:r>
                      <a:endParaRPr lang="en-US" sz="900" dirty="0">
                        <a:effectLst/>
                      </a:endParaRPr>
                    </a:p>
                    <a:p>
                      <a:pPr algn="just">
                        <a:lnSpc>
                          <a:spcPct val="130000"/>
                        </a:lnSpc>
                      </a:pPr>
                      <a:r>
                        <a:rPr lang="en-US" sz="1000" dirty="0">
                          <a:effectLst/>
                        </a:rPr>
                        <a:t> </a:t>
                      </a:r>
                      <a:endParaRPr lang="en-US" sz="900" dirty="0">
                        <a:effectLst/>
                      </a:endParaRPr>
                    </a:p>
                    <a:p>
                      <a:pPr algn="just">
                        <a:lnSpc>
                          <a:spcPct val="130000"/>
                        </a:lnSpc>
                      </a:pPr>
                      <a:r>
                        <a:rPr lang="en-US" sz="1000" dirty="0">
                          <a:effectLst/>
                        </a:rPr>
                        <a:t>#</a:t>
                      </a:r>
                      <a:r>
                        <a:rPr lang="vi-VN" sz="1000" dirty="0">
                          <a:effectLst/>
                        </a:rPr>
                        <a:t>Mã kho</a:t>
                      </a:r>
                      <a:endParaRPr lang="en-US" sz="900" dirty="0">
                        <a:effectLst/>
                      </a:endParaRPr>
                    </a:p>
                    <a:p>
                      <a:pPr algn="just">
                        <a:lnSpc>
                          <a:spcPct val="130000"/>
                        </a:lnSpc>
                      </a:pPr>
                      <a:r>
                        <a:rPr lang="vi-VN" sz="1000" dirty="0">
                          <a:effectLst/>
                        </a:rPr>
                        <a:t>Tên kho</a:t>
                      </a:r>
                      <a:endParaRPr lang="en-US" sz="900" dirty="0">
                        <a:effectLst/>
                      </a:endParaRPr>
                    </a:p>
                    <a:p>
                      <a:pPr algn="just">
                        <a:lnSpc>
                          <a:spcPct val="130000"/>
                        </a:lnSpc>
                      </a:pPr>
                      <a:r>
                        <a:rPr lang="vi-VN" sz="1000" dirty="0">
                          <a:effectLst/>
                        </a:rPr>
                        <a:t>Địa chỉ</a:t>
                      </a:r>
                      <a:endParaRPr lang="en-US" sz="900" dirty="0">
                        <a:effectLst/>
                      </a:endParaRPr>
                    </a:p>
                    <a:p>
                      <a:pPr algn="just">
                        <a:lnSpc>
                          <a:spcPct val="130000"/>
                        </a:lnSpc>
                      </a:pPr>
                      <a:r>
                        <a:rPr lang="en-US" sz="1000" dirty="0">
                          <a:effectLst/>
                        </a:rPr>
                        <a:t> </a:t>
                      </a:r>
                      <a:endParaRPr lang="en-US" sz="900" dirty="0">
                        <a:effectLst/>
                      </a:endParaRPr>
                    </a:p>
                    <a:p>
                      <a:pPr algn="just">
                        <a:lnSpc>
                          <a:spcPct val="130000"/>
                        </a:lnSpc>
                      </a:pPr>
                      <a:r>
                        <a:rPr lang="en-US" sz="1000" dirty="0">
                          <a:effectLst/>
                        </a:rPr>
                        <a:t>#</a:t>
                      </a:r>
                      <a:r>
                        <a:rPr lang="vi-VN" sz="1000" dirty="0">
                          <a:effectLst/>
                        </a:rPr>
                        <a:t>Mã nhà cung cấp Tên nhà cung cấp Email</a:t>
                      </a:r>
                      <a:endParaRPr lang="en-US" sz="900" dirty="0">
                        <a:effectLst/>
                      </a:endParaRPr>
                    </a:p>
                    <a:p>
                      <a:pPr algn="just">
                        <a:lnSpc>
                          <a:spcPct val="130000"/>
                        </a:lnSpc>
                      </a:pPr>
                      <a:r>
                        <a:rPr lang="vi-VN" sz="1000" dirty="0">
                          <a:effectLst/>
                        </a:rPr>
                        <a:t>Số điện thoại</a:t>
                      </a:r>
                      <a:endParaRPr lang="en-US" sz="900" dirty="0">
                        <a:effectLst/>
                      </a:endParaRPr>
                    </a:p>
                    <a:p>
                      <a:pPr algn="just">
                        <a:lnSpc>
                          <a:spcPct val="130000"/>
                        </a:lnSpc>
                      </a:pPr>
                      <a:r>
                        <a:rPr lang="vi-VN" sz="1000" dirty="0">
                          <a:effectLst/>
                        </a:rPr>
                        <a:t>Địa chỉ</a:t>
                      </a:r>
                      <a:endParaRPr lang="en-US" sz="900" dirty="0">
                        <a:effectLst/>
                      </a:endParaRPr>
                    </a:p>
                    <a:p>
                      <a:pPr algn="just">
                        <a:lnSpc>
                          <a:spcPct val="130000"/>
                        </a:lnSpc>
                      </a:pPr>
                      <a:r>
                        <a:rPr lang="en-US" sz="1000" dirty="0">
                          <a:effectLst/>
                        </a:rPr>
                        <a:t> </a:t>
                      </a:r>
                      <a:endParaRPr lang="en-US" sz="900" dirty="0">
                        <a:effectLst/>
                      </a:endParaRPr>
                    </a:p>
                    <a:p>
                      <a:pPr>
                        <a:lnSpc>
                          <a:spcPct val="130000"/>
                        </a:lnSpc>
                      </a:pPr>
                      <a:r>
                        <a:rPr lang="en-US" sz="1000" dirty="0">
                          <a:effectLst/>
                        </a:rPr>
                        <a:t>#Mã </a:t>
                      </a:r>
                      <a:r>
                        <a:rPr lang="en-US" sz="1000" dirty="0" err="1">
                          <a:effectLst/>
                        </a:rPr>
                        <a:t>nhân</a:t>
                      </a:r>
                      <a:r>
                        <a:rPr lang="en-US" sz="1000" dirty="0">
                          <a:effectLst/>
                        </a:rPr>
                        <a:t> </a:t>
                      </a:r>
                      <a:r>
                        <a:rPr lang="en-US" sz="1000" dirty="0" err="1">
                          <a:effectLst/>
                        </a:rPr>
                        <a:t>viên</a:t>
                      </a:r>
                      <a:endParaRPr lang="en-US" sz="900" dirty="0">
                        <a:effectLst/>
                      </a:endParaRPr>
                    </a:p>
                    <a:p>
                      <a:pPr>
                        <a:lnSpc>
                          <a:spcPct val="130000"/>
                        </a:lnSpc>
                      </a:pPr>
                      <a:r>
                        <a:rPr lang="en-US" sz="1000" dirty="0" err="1">
                          <a:effectLst/>
                        </a:rPr>
                        <a:t>Tên</a:t>
                      </a:r>
                      <a:r>
                        <a:rPr lang="en-US" sz="1000" dirty="0">
                          <a:effectLst/>
                        </a:rPr>
                        <a:t> </a:t>
                      </a:r>
                      <a:r>
                        <a:rPr lang="en-US" sz="1000" dirty="0" err="1">
                          <a:effectLst/>
                        </a:rPr>
                        <a:t>nhân</a:t>
                      </a:r>
                      <a:r>
                        <a:rPr lang="en-US" sz="1000" dirty="0">
                          <a:effectLst/>
                        </a:rPr>
                        <a:t> </a:t>
                      </a:r>
                      <a:r>
                        <a:rPr lang="en-US" sz="1000" dirty="0" err="1">
                          <a:effectLst/>
                        </a:rPr>
                        <a:t>viên</a:t>
                      </a:r>
                      <a:endParaRPr lang="en-US" sz="900" dirty="0">
                        <a:effectLst/>
                      </a:endParaRPr>
                    </a:p>
                    <a:p>
                      <a:pPr>
                        <a:lnSpc>
                          <a:spcPct val="130000"/>
                        </a:lnSpc>
                      </a:pPr>
                      <a:r>
                        <a:rPr lang="en-US" sz="1000" dirty="0">
                          <a:effectLst/>
                        </a:rPr>
                        <a:t>Email</a:t>
                      </a:r>
                      <a:endParaRPr lang="en-US" sz="900" dirty="0">
                        <a:effectLst/>
                      </a:endParaRPr>
                    </a:p>
                    <a:p>
                      <a:pPr>
                        <a:lnSpc>
                          <a:spcPct val="130000"/>
                        </a:lnSpc>
                      </a:pPr>
                      <a:r>
                        <a:rPr lang="en-US" sz="1000" dirty="0" err="1">
                          <a:effectLst/>
                        </a:rPr>
                        <a:t>Số</a:t>
                      </a:r>
                      <a:r>
                        <a:rPr lang="en-US" sz="1000" dirty="0">
                          <a:effectLst/>
                        </a:rPr>
                        <a:t> </a:t>
                      </a:r>
                      <a:r>
                        <a:rPr lang="en-US" sz="1000" dirty="0" err="1">
                          <a:effectLst/>
                        </a:rPr>
                        <a:t>điện</a:t>
                      </a:r>
                      <a:r>
                        <a:rPr lang="en-US" sz="1000" dirty="0">
                          <a:effectLst/>
                        </a:rPr>
                        <a:t> </a:t>
                      </a:r>
                      <a:r>
                        <a:rPr lang="en-US" sz="1000" dirty="0" err="1">
                          <a:effectLst/>
                        </a:rPr>
                        <a:t>thoại</a:t>
                      </a:r>
                      <a:endParaRPr lang="en-US" sz="900" dirty="0">
                        <a:effectLst/>
                      </a:endParaRPr>
                    </a:p>
                    <a:p>
                      <a:pPr>
                        <a:lnSpc>
                          <a:spcPct val="130000"/>
                        </a:lnSpc>
                      </a:pPr>
                      <a:r>
                        <a:rPr lang="en-US" sz="1000" dirty="0" err="1">
                          <a:effectLst/>
                        </a:rPr>
                        <a:t>Căn</a:t>
                      </a:r>
                      <a:r>
                        <a:rPr lang="en-US" sz="1000" dirty="0">
                          <a:effectLst/>
                        </a:rPr>
                        <a:t> </a:t>
                      </a:r>
                      <a:r>
                        <a:rPr lang="en-US" sz="1000" dirty="0" err="1">
                          <a:effectLst/>
                        </a:rPr>
                        <a:t>cước</a:t>
                      </a:r>
                      <a:r>
                        <a:rPr lang="en-US" sz="1000" dirty="0">
                          <a:effectLst/>
                        </a:rPr>
                        <a:t> </a:t>
                      </a:r>
                      <a:r>
                        <a:rPr lang="en-US" sz="1000" dirty="0" err="1">
                          <a:effectLst/>
                        </a:rPr>
                        <a:t>công</a:t>
                      </a:r>
                      <a:r>
                        <a:rPr lang="en-US" sz="1000" dirty="0">
                          <a:effectLst/>
                        </a:rPr>
                        <a:t> </a:t>
                      </a:r>
                      <a:r>
                        <a:rPr lang="en-US" sz="1000" dirty="0" err="1">
                          <a:effectLst/>
                        </a:rPr>
                        <a:t>dân</a:t>
                      </a:r>
                      <a:endParaRPr lang="en-US" sz="900" dirty="0">
                        <a:effectLst/>
                      </a:endParaRPr>
                    </a:p>
                    <a:p>
                      <a:pPr>
                        <a:lnSpc>
                          <a:spcPct val="130000"/>
                        </a:lnSpc>
                      </a:pPr>
                      <a:r>
                        <a:rPr lang="en-US" sz="1000" dirty="0" err="1">
                          <a:effectLst/>
                        </a:rPr>
                        <a:t>Địa</a:t>
                      </a:r>
                      <a:r>
                        <a:rPr lang="en-US" sz="1000" dirty="0">
                          <a:effectLst/>
                        </a:rPr>
                        <a:t> </a:t>
                      </a:r>
                      <a:r>
                        <a:rPr lang="en-US" sz="1000" dirty="0" err="1">
                          <a:effectLst/>
                        </a:rPr>
                        <a:t>chỉ</a:t>
                      </a:r>
                      <a:endParaRPr lang="en-US" sz="900" dirty="0">
                        <a:effectLst/>
                      </a:endParaRPr>
                    </a:p>
                    <a:p>
                      <a:pPr>
                        <a:lnSpc>
                          <a:spcPct val="130000"/>
                        </a:lnSpc>
                      </a:pPr>
                      <a:r>
                        <a:rPr lang="en-US" sz="1000" dirty="0" err="1">
                          <a:effectLst/>
                        </a:rPr>
                        <a:t>Tên</a:t>
                      </a:r>
                      <a:r>
                        <a:rPr lang="en-US" sz="1000" dirty="0">
                          <a:effectLst/>
                        </a:rPr>
                        <a:t> </a:t>
                      </a:r>
                      <a:r>
                        <a:rPr lang="en-US" sz="1000" dirty="0" err="1">
                          <a:effectLst/>
                        </a:rPr>
                        <a:t>tài</a:t>
                      </a:r>
                      <a:r>
                        <a:rPr lang="en-US" sz="1000" dirty="0">
                          <a:effectLst/>
                        </a:rPr>
                        <a:t> </a:t>
                      </a:r>
                      <a:r>
                        <a:rPr lang="en-US" sz="1000" dirty="0" err="1">
                          <a:effectLst/>
                        </a:rPr>
                        <a:t>khoản</a:t>
                      </a:r>
                      <a:endParaRPr lang="en-US" sz="900" dirty="0">
                        <a:effectLst/>
                      </a:endParaRPr>
                    </a:p>
                    <a:p>
                      <a:pPr>
                        <a:lnSpc>
                          <a:spcPct val="130000"/>
                        </a:lnSpc>
                      </a:pPr>
                      <a:r>
                        <a:rPr lang="en-US" sz="1000" dirty="0" err="1">
                          <a:effectLst/>
                        </a:rPr>
                        <a:t>Mật</a:t>
                      </a:r>
                      <a:r>
                        <a:rPr lang="en-US" sz="1000" dirty="0">
                          <a:effectLst/>
                        </a:rPr>
                        <a:t> </a:t>
                      </a:r>
                      <a:r>
                        <a:rPr lang="en-US" sz="1000" dirty="0" err="1">
                          <a:effectLst/>
                        </a:rPr>
                        <a:t>khẩu</a:t>
                      </a:r>
                      <a:endParaRPr lang="en-US" sz="900" dirty="0">
                        <a:effectLst/>
                      </a:endParaRPr>
                    </a:p>
                    <a:p>
                      <a:pPr algn="just">
                        <a:lnSpc>
                          <a:spcPct val="130000"/>
                        </a:lnSpc>
                      </a:pPr>
                      <a:r>
                        <a:rPr lang="en-US" sz="1000" dirty="0">
                          <a:effectLst/>
                        </a:rPr>
                        <a:t>Vai </a:t>
                      </a:r>
                      <a:r>
                        <a:rPr lang="en-US" sz="1000" dirty="0" err="1">
                          <a:effectLst/>
                        </a:rPr>
                        <a:t>trò</a:t>
                      </a:r>
                      <a:endParaRPr lang="en-US" sz="900" dirty="0">
                        <a:effectLst/>
                        <a:latin typeface=".VnTime"/>
                        <a:ea typeface="Times New Roman" panose="02020603050405020304" pitchFamily="18" charset="0"/>
                        <a:cs typeface="Times New Roman" panose="02020603050405020304" pitchFamily="18" charset="0"/>
                      </a:endParaRPr>
                    </a:p>
                  </a:txBody>
                  <a:tcPr marL="51576" marR="51576" marT="0" marB="0"/>
                </a:tc>
                <a:extLst>
                  <a:ext uri="{0D108BD9-81ED-4DB2-BD59-A6C34878D82A}">
                    <a16:rowId xmlns:a16="http://schemas.microsoft.com/office/drawing/2014/main" val="2079612452"/>
                  </a:ext>
                </a:extLst>
              </a:tr>
            </a:tbl>
          </a:graphicData>
        </a:graphic>
      </p:graphicFrame>
      <p:sp>
        <p:nvSpPr>
          <p:cNvPr id="4" name="Slide Number Placeholder 3">
            <a:extLst>
              <a:ext uri="{FF2B5EF4-FFF2-40B4-BE49-F238E27FC236}">
                <a16:creationId xmlns:a16="http://schemas.microsoft.com/office/drawing/2014/main" id="{9E1902D3-93FC-0CC5-0991-AD06801CE615}"/>
              </a:ext>
            </a:extLst>
          </p:cNvPr>
          <p:cNvSpPr>
            <a:spLocks noGrp="1"/>
          </p:cNvSpPr>
          <p:nvPr>
            <p:ph type="sldNum" sz="quarter" idx="12"/>
          </p:nvPr>
        </p:nvSpPr>
        <p:spPr/>
        <p:txBody>
          <a:bodyPr/>
          <a:lstStyle/>
          <a:p>
            <a:fld id="{7ABBADF3-30DB-48D9-82C9-3A079DF6858D}" type="slidenum">
              <a:rPr lang="en-US" smtClean="0"/>
              <a:t>26</a:t>
            </a:fld>
            <a:endParaRPr lang="en-US"/>
          </a:p>
        </p:txBody>
      </p:sp>
    </p:spTree>
    <p:extLst>
      <p:ext uri="{BB962C8B-B14F-4D97-AF65-F5344CB8AC3E}">
        <p14:creationId xmlns:p14="http://schemas.microsoft.com/office/powerpoint/2010/main" val="2790923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44A81-61AE-F0C6-EB21-8AA1912389F2}"/>
              </a:ext>
            </a:extLst>
          </p:cNvPr>
          <p:cNvSpPr>
            <a:spLocks noGrp="1"/>
          </p:cNvSpPr>
          <p:nvPr>
            <p:ph type="title"/>
          </p:nvPr>
        </p:nvSpPr>
        <p:spPr/>
        <p:txBody>
          <a:bodyPr/>
          <a:lstStyle/>
          <a:p>
            <a:r>
              <a:rPr lang="en-US" dirty="0" err="1"/>
              <a:t>Chuẩn</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thông</a:t>
            </a:r>
            <a:r>
              <a:rPr lang="en-US" dirty="0"/>
              <a:t> tin </a:t>
            </a:r>
            <a:r>
              <a:rPr lang="en-US" dirty="0" err="1"/>
              <a:t>phiếu</a:t>
            </a:r>
            <a:r>
              <a:rPr lang="en-US" dirty="0"/>
              <a:t> </a:t>
            </a:r>
            <a:r>
              <a:rPr lang="en-US" dirty="0" err="1"/>
              <a:t>xuất</a:t>
            </a:r>
            <a:endParaRPr lang="en-US" dirty="0"/>
          </a:p>
        </p:txBody>
      </p:sp>
      <p:graphicFrame>
        <p:nvGraphicFramePr>
          <p:cNvPr id="5" name="Content Placeholder 4">
            <a:extLst>
              <a:ext uri="{FF2B5EF4-FFF2-40B4-BE49-F238E27FC236}">
                <a16:creationId xmlns:a16="http://schemas.microsoft.com/office/drawing/2014/main" id="{F1F84B58-723D-996E-EAA9-AAEBA3D85FF4}"/>
              </a:ext>
            </a:extLst>
          </p:cNvPr>
          <p:cNvGraphicFramePr>
            <a:graphicFrameLocks noGrp="1"/>
          </p:cNvGraphicFramePr>
          <p:nvPr>
            <p:ph idx="1"/>
          </p:nvPr>
        </p:nvGraphicFramePr>
        <p:xfrm>
          <a:off x="3394869" y="1060322"/>
          <a:ext cx="5895975" cy="4845749"/>
        </p:xfrm>
        <a:graphic>
          <a:graphicData uri="http://schemas.openxmlformats.org/drawingml/2006/table">
            <a:tbl>
              <a:tblPr firstRow="1" firstCol="1" bandRow="1">
                <a:tableStyleId>{5C22544A-7EE6-4342-B048-85BDC9FD1C3A}</a:tableStyleId>
              </a:tblPr>
              <a:tblGrid>
                <a:gridCol w="1470660">
                  <a:extLst>
                    <a:ext uri="{9D8B030D-6E8A-4147-A177-3AD203B41FA5}">
                      <a16:colId xmlns:a16="http://schemas.microsoft.com/office/drawing/2014/main" val="927324992"/>
                    </a:ext>
                  </a:extLst>
                </a:gridCol>
                <a:gridCol w="1468755">
                  <a:extLst>
                    <a:ext uri="{9D8B030D-6E8A-4147-A177-3AD203B41FA5}">
                      <a16:colId xmlns:a16="http://schemas.microsoft.com/office/drawing/2014/main" val="3546434100"/>
                    </a:ext>
                  </a:extLst>
                </a:gridCol>
                <a:gridCol w="1478280">
                  <a:extLst>
                    <a:ext uri="{9D8B030D-6E8A-4147-A177-3AD203B41FA5}">
                      <a16:colId xmlns:a16="http://schemas.microsoft.com/office/drawing/2014/main" val="551485660"/>
                    </a:ext>
                  </a:extLst>
                </a:gridCol>
                <a:gridCol w="1478280">
                  <a:extLst>
                    <a:ext uri="{9D8B030D-6E8A-4147-A177-3AD203B41FA5}">
                      <a16:colId xmlns:a16="http://schemas.microsoft.com/office/drawing/2014/main" val="776681813"/>
                    </a:ext>
                  </a:extLst>
                </a:gridCol>
              </a:tblGrid>
              <a:tr h="0">
                <a:tc>
                  <a:txBody>
                    <a:bodyPr/>
                    <a:lstStyle/>
                    <a:p>
                      <a:pPr algn="ctr">
                        <a:lnSpc>
                          <a:spcPct val="130000"/>
                        </a:lnSpc>
                      </a:pPr>
                      <a:r>
                        <a:rPr lang="vi-VN" sz="1300">
                          <a:effectLst/>
                        </a:rPr>
                        <a:t>Thuộc tính chưa chuẩn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1NF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2NF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3NF</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72124054"/>
                  </a:ext>
                </a:extLst>
              </a:tr>
              <a:tr h="0">
                <a:tc>
                  <a:txBody>
                    <a:bodyPr/>
                    <a:lstStyle/>
                    <a:p>
                      <a:pPr algn="just">
                        <a:lnSpc>
                          <a:spcPct val="130000"/>
                        </a:lnSpc>
                      </a:pPr>
                      <a:r>
                        <a:rPr lang="vi-VN" sz="1300">
                          <a:effectLst/>
                        </a:rPr>
                        <a:t>Mã phiếu xuất Ngày xuất</a:t>
                      </a:r>
                      <a:endParaRPr lang="en-US" sz="1200">
                        <a:effectLst/>
                      </a:endParaRPr>
                    </a:p>
                    <a:p>
                      <a:pPr algn="just">
                        <a:lnSpc>
                          <a:spcPct val="130000"/>
                        </a:lnSpc>
                      </a:pPr>
                      <a:r>
                        <a:rPr lang="vi-VN" sz="1300">
                          <a:effectLst/>
                        </a:rPr>
                        <a:t>Mã nhân viên</a:t>
                      </a:r>
                      <a:endParaRPr lang="en-US" sz="1200">
                        <a:effectLst/>
                      </a:endParaRPr>
                    </a:p>
                    <a:p>
                      <a:pPr algn="just">
                        <a:lnSpc>
                          <a:spcPct val="130000"/>
                        </a:lnSpc>
                      </a:pPr>
                      <a:r>
                        <a:rPr lang="en-US"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xuất Ngày xuất</a:t>
                      </a:r>
                      <a:endParaRPr lang="en-US" sz="1200">
                        <a:effectLst/>
                      </a:endParaRPr>
                    </a:p>
                    <a:p>
                      <a:pPr algn="just">
                        <a:lnSpc>
                          <a:spcPct val="130000"/>
                        </a:lnSpc>
                      </a:pPr>
                      <a:r>
                        <a:rPr lang="en-US" sz="1300">
                          <a:effectLst/>
                        </a:rPr>
                        <a:t>Mã nhân viên</a:t>
                      </a:r>
                      <a:endParaRPr lang="en-US" sz="1200">
                        <a:effectLst/>
                      </a:endParaRPr>
                    </a:p>
                    <a:p>
                      <a:pPr algn="just">
                        <a:lnSpc>
                          <a:spcPct val="130000"/>
                        </a:lnSpc>
                      </a:pPr>
                      <a:r>
                        <a:rPr lang="vi-VN" sz="1300">
                          <a:effectLst/>
                        </a:rPr>
                        <a:t> </a:t>
                      </a:r>
                      <a:endParaRPr lang="en-US" sz="1200">
                        <a:effectLst/>
                      </a:endParaRPr>
                    </a:p>
                    <a:p>
                      <a:pPr algn="just">
                        <a:lnSpc>
                          <a:spcPct val="130000"/>
                        </a:lnSpc>
                      </a:pPr>
                      <a:r>
                        <a:rPr lang="en-US" sz="1300">
                          <a:effectLst/>
                        </a:rPr>
                        <a:t>#</a:t>
                      </a: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xuất Ngày xuất</a:t>
                      </a:r>
                      <a:endParaRPr lang="en-US" sz="1200">
                        <a:effectLst/>
                      </a:endParaRPr>
                    </a:p>
                    <a:p>
                      <a:pPr algn="just">
                        <a:lnSpc>
                          <a:spcPct val="130000"/>
                        </a:lnSpc>
                      </a:pPr>
                      <a:r>
                        <a:rPr lang="en-US" sz="1300">
                          <a:effectLst/>
                        </a:rPr>
                        <a:t> </a:t>
                      </a:r>
                      <a:endParaRPr lang="en-US" sz="1200">
                        <a:effectLst/>
                      </a:endParaRPr>
                    </a:p>
                    <a:p>
                      <a:pPr algn="just">
                        <a:lnSpc>
                          <a:spcPct val="130000"/>
                        </a:lnSpc>
                      </a:pPr>
                      <a:r>
                        <a:rPr lang="vi-VN" sz="1300">
                          <a:effectLst/>
                        </a:rPr>
                        <a:t> </a:t>
                      </a:r>
                      <a:endParaRPr lang="en-US" sz="1200">
                        <a:effectLst/>
                      </a:endParaRPr>
                    </a:p>
                    <a:p>
                      <a:pPr algn="just">
                        <a:lnSpc>
                          <a:spcPct val="130000"/>
                        </a:lnSpc>
                      </a:pPr>
                      <a:r>
                        <a:rPr lang="en-US" sz="1300">
                          <a:effectLst/>
                        </a:rPr>
                        <a:t>#</a:t>
                      </a:r>
                      <a:r>
                        <a:rPr lang="vi-VN" sz="1300">
                          <a:effectLst/>
                        </a:rPr>
                        <a:t>Mã kho</a:t>
                      </a:r>
                      <a:endParaRPr lang="en-US" sz="1200">
                        <a:effectLst/>
                      </a:endParaRPr>
                    </a:p>
                    <a:p>
                      <a:pPr algn="just">
                        <a:lnSpc>
                          <a:spcPct val="130000"/>
                        </a:lnSpc>
                      </a:pPr>
                      <a:r>
                        <a:rPr lang="vi-VN" sz="1300">
                          <a:effectLst/>
                        </a:rPr>
                        <a:t>Tên kho</a:t>
                      </a:r>
                      <a:endParaRPr lang="en-US" sz="1200">
                        <a:effectLst/>
                      </a:endParaRPr>
                    </a:p>
                    <a:p>
                      <a:pPr algn="just">
                        <a:lnSpc>
                          <a:spcPct val="130000"/>
                        </a:lnSpc>
                      </a:pPr>
                      <a:r>
                        <a:rPr lang="vi-VN" sz="1300">
                          <a:effectLst/>
                        </a:rPr>
                        <a:t>Địa chỉ</a:t>
                      </a:r>
                      <a:endParaRPr lang="en-US" sz="1200">
                        <a:effectLst/>
                      </a:endParaRPr>
                    </a:p>
                    <a:p>
                      <a:pPr algn="just">
                        <a:lnSpc>
                          <a:spcPct val="130000"/>
                        </a:lnSpc>
                      </a:pPr>
                      <a:r>
                        <a:rPr lang="en-US" sz="1300">
                          <a:effectLst/>
                        </a:rPr>
                        <a:t> </a:t>
                      </a:r>
                      <a:endParaRPr lang="en-US" sz="1200">
                        <a:effectLst/>
                      </a:endParaRPr>
                    </a:p>
                    <a:p>
                      <a:pPr>
                        <a:lnSpc>
                          <a:spcPct val="130000"/>
                        </a:lnSpc>
                      </a:pPr>
                      <a:r>
                        <a:rPr lang="en-US" sz="1300">
                          <a:effectLst/>
                        </a:rPr>
                        <a:t>#Mã nhân viên</a:t>
                      </a:r>
                      <a:endParaRPr lang="en-US" sz="1200">
                        <a:effectLst/>
                      </a:endParaRPr>
                    </a:p>
                    <a:p>
                      <a:pPr>
                        <a:lnSpc>
                          <a:spcPct val="130000"/>
                        </a:lnSpc>
                      </a:pPr>
                      <a:r>
                        <a:rPr lang="en-US" sz="1300">
                          <a:effectLst/>
                        </a:rPr>
                        <a:t>Tên nhân viên</a:t>
                      </a:r>
                      <a:endParaRPr lang="en-US" sz="1200">
                        <a:effectLst/>
                      </a:endParaRPr>
                    </a:p>
                    <a:p>
                      <a:pPr>
                        <a:lnSpc>
                          <a:spcPct val="130000"/>
                        </a:lnSpc>
                      </a:pPr>
                      <a:r>
                        <a:rPr lang="en-US" sz="1300">
                          <a:effectLst/>
                        </a:rPr>
                        <a:t>Email</a:t>
                      </a:r>
                      <a:endParaRPr lang="en-US" sz="1200">
                        <a:effectLst/>
                      </a:endParaRPr>
                    </a:p>
                    <a:p>
                      <a:pPr>
                        <a:lnSpc>
                          <a:spcPct val="130000"/>
                        </a:lnSpc>
                      </a:pPr>
                      <a:r>
                        <a:rPr lang="en-US" sz="1300">
                          <a:effectLst/>
                        </a:rPr>
                        <a:t>Số điện thoại</a:t>
                      </a:r>
                      <a:endParaRPr lang="en-US" sz="1200">
                        <a:effectLst/>
                      </a:endParaRPr>
                    </a:p>
                    <a:p>
                      <a:pPr>
                        <a:lnSpc>
                          <a:spcPct val="130000"/>
                        </a:lnSpc>
                      </a:pPr>
                      <a:r>
                        <a:rPr lang="en-US" sz="1300">
                          <a:effectLst/>
                        </a:rPr>
                        <a:t>Căn cước công dân</a:t>
                      </a:r>
                      <a:endParaRPr lang="en-US" sz="1200">
                        <a:effectLst/>
                      </a:endParaRPr>
                    </a:p>
                    <a:p>
                      <a:pPr>
                        <a:lnSpc>
                          <a:spcPct val="130000"/>
                        </a:lnSpc>
                      </a:pPr>
                      <a:r>
                        <a:rPr lang="en-US" sz="1300">
                          <a:effectLst/>
                        </a:rPr>
                        <a:t>Địa chỉ</a:t>
                      </a:r>
                      <a:endParaRPr lang="en-US" sz="1200">
                        <a:effectLst/>
                      </a:endParaRPr>
                    </a:p>
                    <a:p>
                      <a:pPr>
                        <a:lnSpc>
                          <a:spcPct val="130000"/>
                        </a:lnSpc>
                      </a:pPr>
                      <a:r>
                        <a:rPr lang="en-US" sz="1300">
                          <a:effectLst/>
                        </a:rPr>
                        <a:t>Tên tài khoản</a:t>
                      </a:r>
                      <a:endParaRPr lang="en-US" sz="1200">
                        <a:effectLst/>
                      </a:endParaRPr>
                    </a:p>
                    <a:p>
                      <a:pPr>
                        <a:lnSpc>
                          <a:spcPct val="130000"/>
                        </a:lnSpc>
                      </a:pPr>
                      <a:r>
                        <a:rPr lang="en-US" sz="1300">
                          <a:effectLst/>
                        </a:rPr>
                        <a:t>Mật khẩu</a:t>
                      </a:r>
                      <a:endParaRPr lang="en-US" sz="1200">
                        <a:effectLst/>
                      </a:endParaRPr>
                    </a:p>
                    <a:p>
                      <a:pPr algn="just">
                        <a:lnSpc>
                          <a:spcPct val="130000"/>
                        </a:lnSpc>
                      </a:pPr>
                      <a:r>
                        <a:rPr lang="en-US" sz="1300">
                          <a:effectLst/>
                        </a:rPr>
                        <a:t>Vai trò</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phiếu xuất Ngày xuất</a:t>
                      </a:r>
                      <a:endParaRPr lang="en-US" sz="1200" dirty="0">
                        <a:effectLst/>
                      </a:endParaRPr>
                    </a:p>
                    <a:p>
                      <a:pPr algn="just">
                        <a:lnSpc>
                          <a:spcPct val="130000"/>
                        </a:lnSpc>
                      </a:pPr>
                      <a:r>
                        <a:rPr lang="en-US" sz="1300" dirty="0">
                          <a:effectLst/>
                        </a:rPr>
                        <a:t> </a:t>
                      </a:r>
                      <a:endParaRPr lang="en-US" sz="1200" dirty="0">
                        <a:effectLst/>
                      </a:endParaRPr>
                    </a:p>
                    <a:p>
                      <a:pPr algn="just">
                        <a:lnSpc>
                          <a:spcPct val="130000"/>
                        </a:lnSpc>
                      </a:pPr>
                      <a:r>
                        <a:rPr lang="vi-VN" sz="1300" dirty="0">
                          <a:effectLst/>
                        </a:rPr>
                        <a:t> </a:t>
                      </a:r>
                      <a:endParaRPr lang="en-US" sz="1200" dirty="0">
                        <a:effectLst/>
                      </a:endParaRPr>
                    </a:p>
                    <a:p>
                      <a:pPr algn="just">
                        <a:lnSpc>
                          <a:spcPct val="130000"/>
                        </a:lnSpc>
                      </a:pPr>
                      <a:r>
                        <a:rPr lang="en-US" sz="1300" dirty="0">
                          <a:effectLst/>
                        </a:rPr>
                        <a:t>#</a:t>
                      </a:r>
                      <a:r>
                        <a:rPr lang="vi-VN" sz="1300" dirty="0">
                          <a:effectLst/>
                        </a:rPr>
                        <a:t>Mã kho</a:t>
                      </a:r>
                      <a:endParaRPr lang="en-US" sz="1200" dirty="0">
                        <a:effectLst/>
                      </a:endParaRPr>
                    </a:p>
                    <a:p>
                      <a:pPr algn="just">
                        <a:lnSpc>
                          <a:spcPct val="130000"/>
                        </a:lnSpc>
                      </a:pPr>
                      <a:r>
                        <a:rPr lang="vi-VN" sz="1300" dirty="0">
                          <a:effectLst/>
                        </a:rPr>
                        <a:t>Tên kho</a:t>
                      </a:r>
                      <a:endParaRPr lang="en-US" sz="1200" dirty="0">
                        <a:effectLst/>
                      </a:endParaRPr>
                    </a:p>
                    <a:p>
                      <a:pPr algn="just">
                        <a:lnSpc>
                          <a:spcPct val="130000"/>
                        </a:lnSpc>
                      </a:pPr>
                      <a:r>
                        <a:rPr lang="vi-VN" sz="1300" dirty="0">
                          <a:effectLst/>
                        </a:rPr>
                        <a:t>Địa chỉ</a:t>
                      </a:r>
                      <a:endParaRPr lang="en-US" sz="1200" dirty="0">
                        <a:effectLst/>
                      </a:endParaRPr>
                    </a:p>
                    <a:p>
                      <a:pPr algn="just">
                        <a:lnSpc>
                          <a:spcPct val="130000"/>
                        </a:lnSpc>
                      </a:pPr>
                      <a:r>
                        <a:rPr lang="en-US" sz="1300" dirty="0">
                          <a:effectLst/>
                        </a:rPr>
                        <a:t> </a:t>
                      </a:r>
                      <a:endParaRPr lang="en-US" sz="1200" dirty="0">
                        <a:effectLst/>
                      </a:endParaRPr>
                    </a:p>
                    <a:p>
                      <a:pPr>
                        <a:lnSpc>
                          <a:spcPct val="130000"/>
                        </a:lnSpc>
                      </a:pPr>
                      <a:r>
                        <a:rPr lang="en-US" sz="1300" dirty="0">
                          <a:effectLst/>
                        </a:rPr>
                        <a:t>#Mã </a:t>
                      </a:r>
                      <a:r>
                        <a:rPr lang="en-US" sz="1300" dirty="0" err="1">
                          <a:effectLst/>
                        </a:rPr>
                        <a:t>nhân</a:t>
                      </a:r>
                      <a:r>
                        <a:rPr lang="en-US" sz="1300" dirty="0">
                          <a:effectLst/>
                        </a:rPr>
                        <a:t> </a:t>
                      </a:r>
                      <a:r>
                        <a:rPr lang="en-US" sz="1300" dirty="0" err="1">
                          <a:effectLst/>
                        </a:rPr>
                        <a:t>viên</a:t>
                      </a:r>
                      <a:endParaRPr lang="en-US" sz="1200" dirty="0">
                        <a:effectLst/>
                      </a:endParaRPr>
                    </a:p>
                    <a:p>
                      <a:pPr>
                        <a:lnSpc>
                          <a:spcPct val="130000"/>
                        </a:lnSpc>
                      </a:pPr>
                      <a:r>
                        <a:rPr lang="en-US" sz="1300" dirty="0" err="1">
                          <a:effectLst/>
                        </a:rPr>
                        <a:t>Tên</a:t>
                      </a:r>
                      <a:r>
                        <a:rPr lang="en-US" sz="1300" dirty="0">
                          <a:effectLst/>
                        </a:rPr>
                        <a:t> </a:t>
                      </a:r>
                      <a:r>
                        <a:rPr lang="en-US" sz="1300" dirty="0" err="1">
                          <a:effectLst/>
                        </a:rPr>
                        <a:t>nhân</a:t>
                      </a:r>
                      <a:r>
                        <a:rPr lang="en-US" sz="1300" dirty="0">
                          <a:effectLst/>
                        </a:rPr>
                        <a:t> </a:t>
                      </a:r>
                      <a:r>
                        <a:rPr lang="en-US" sz="1300" dirty="0" err="1">
                          <a:effectLst/>
                        </a:rPr>
                        <a:t>viên</a:t>
                      </a:r>
                      <a:endParaRPr lang="en-US" sz="1200" dirty="0">
                        <a:effectLst/>
                      </a:endParaRPr>
                    </a:p>
                    <a:p>
                      <a:pPr>
                        <a:lnSpc>
                          <a:spcPct val="130000"/>
                        </a:lnSpc>
                      </a:pPr>
                      <a:r>
                        <a:rPr lang="en-US" sz="1300" dirty="0">
                          <a:effectLst/>
                        </a:rPr>
                        <a:t>Email</a:t>
                      </a:r>
                      <a:endParaRPr lang="en-US" sz="1200" dirty="0">
                        <a:effectLst/>
                      </a:endParaRPr>
                    </a:p>
                    <a:p>
                      <a:pPr>
                        <a:lnSpc>
                          <a:spcPct val="130000"/>
                        </a:lnSpc>
                      </a:pPr>
                      <a:r>
                        <a:rPr lang="en-US" sz="1300" dirty="0" err="1">
                          <a:effectLst/>
                        </a:rPr>
                        <a:t>Số</a:t>
                      </a:r>
                      <a:r>
                        <a:rPr lang="en-US" sz="1300" dirty="0">
                          <a:effectLst/>
                        </a:rPr>
                        <a:t> </a:t>
                      </a:r>
                      <a:r>
                        <a:rPr lang="en-US" sz="1300" dirty="0" err="1">
                          <a:effectLst/>
                        </a:rPr>
                        <a:t>điện</a:t>
                      </a:r>
                      <a:r>
                        <a:rPr lang="en-US" sz="1300" dirty="0">
                          <a:effectLst/>
                        </a:rPr>
                        <a:t> </a:t>
                      </a:r>
                      <a:r>
                        <a:rPr lang="en-US" sz="1300" dirty="0" err="1">
                          <a:effectLst/>
                        </a:rPr>
                        <a:t>thoại</a:t>
                      </a:r>
                      <a:endParaRPr lang="en-US" sz="1200" dirty="0">
                        <a:effectLst/>
                      </a:endParaRPr>
                    </a:p>
                    <a:p>
                      <a:pPr>
                        <a:lnSpc>
                          <a:spcPct val="130000"/>
                        </a:lnSpc>
                      </a:pPr>
                      <a:r>
                        <a:rPr lang="en-US" sz="1300" dirty="0" err="1">
                          <a:effectLst/>
                        </a:rPr>
                        <a:t>Căn</a:t>
                      </a:r>
                      <a:r>
                        <a:rPr lang="en-US" sz="1300" dirty="0">
                          <a:effectLst/>
                        </a:rPr>
                        <a:t> </a:t>
                      </a:r>
                      <a:r>
                        <a:rPr lang="en-US" sz="1300" dirty="0" err="1">
                          <a:effectLst/>
                        </a:rPr>
                        <a:t>cước</a:t>
                      </a:r>
                      <a:r>
                        <a:rPr lang="en-US" sz="1300" dirty="0">
                          <a:effectLst/>
                        </a:rPr>
                        <a:t> </a:t>
                      </a:r>
                      <a:r>
                        <a:rPr lang="en-US" sz="1300" dirty="0" err="1">
                          <a:effectLst/>
                        </a:rPr>
                        <a:t>công</a:t>
                      </a:r>
                      <a:r>
                        <a:rPr lang="en-US" sz="1300" dirty="0">
                          <a:effectLst/>
                        </a:rPr>
                        <a:t> </a:t>
                      </a:r>
                      <a:r>
                        <a:rPr lang="en-US" sz="1300" dirty="0" err="1">
                          <a:effectLst/>
                        </a:rPr>
                        <a:t>dân</a:t>
                      </a:r>
                      <a:endParaRPr lang="en-US" sz="1200" dirty="0">
                        <a:effectLst/>
                      </a:endParaRPr>
                    </a:p>
                    <a:p>
                      <a:pPr>
                        <a:lnSpc>
                          <a:spcPct val="130000"/>
                        </a:lnSpc>
                      </a:pPr>
                      <a:r>
                        <a:rPr lang="en-US" sz="1300" dirty="0" err="1">
                          <a:effectLst/>
                        </a:rPr>
                        <a:t>Địa</a:t>
                      </a:r>
                      <a:r>
                        <a:rPr lang="en-US" sz="1300" dirty="0">
                          <a:effectLst/>
                        </a:rPr>
                        <a:t> </a:t>
                      </a:r>
                      <a:r>
                        <a:rPr lang="en-US" sz="1300" dirty="0" err="1">
                          <a:effectLst/>
                        </a:rPr>
                        <a:t>chỉ</a:t>
                      </a:r>
                      <a:endParaRPr lang="en-US" sz="1200" dirty="0">
                        <a:effectLst/>
                      </a:endParaRPr>
                    </a:p>
                    <a:p>
                      <a:pPr>
                        <a:lnSpc>
                          <a:spcPct val="130000"/>
                        </a:lnSpc>
                      </a:pPr>
                      <a:r>
                        <a:rPr lang="en-US" sz="1300" dirty="0" err="1">
                          <a:effectLst/>
                        </a:rPr>
                        <a:t>Tên</a:t>
                      </a:r>
                      <a:r>
                        <a:rPr lang="en-US" sz="1300" dirty="0">
                          <a:effectLst/>
                        </a:rPr>
                        <a:t> </a:t>
                      </a:r>
                      <a:r>
                        <a:rPr lang="en-US" sz="1300" dirty="0" err="1">
                          <a:effectLst/>
                        </a:rPr>
                        <a:t>tài</a:t>
                      </a:r>
                      <a:r>
                        <a:rPr lang="en-US" sz="1300" dirty="0">
                          <a:effectLst/>
                        </a:rPr>
                        <a:t> </a:t>
                      </a:r>
                      <a:r>
                        <a:rPr lang="en-US" sz="1300" dirty="0" err="1">
                          <a:effectLst/>
                        </a:rPr>
                        <a:t>khoản</a:t>
                      </a:r>
                      <a:endParaRPr lang="en-US" sz="1200" dirty="0">
                        <a:effectLst/>
                      </a:endParaRPr>
                    </a:p>
                    <a:p>
                      <a:pPr>
                        <a:lnSpc>
                          <a:spcPct val="130000"/>
                        </a:lnSpc>
                      </a:pPr>
                      <a:r>
                        <a:rPr lang="en-US" sz="1300" dirty="0" err="1">
                          <a:effectLst/>
                        </a:rPr>
                        <a:t>Mật</a:t>
                      </a:r>
                      <a:r>
                        <a:rPr lang="en-US" sz="1300" dirty="0">
                          <a:effectLst/>
                        </a:rPr>
                        <a:t> </a:t>
                      </a:r>
                      <a:r>
                        <a:rPr lang="en-US" sz="1300" dirty="0" err="1">
                          <a:effectLst/>
                        </a:rPr>
                        <a:t>khẩu</a:t>
                      </a:r>
                      <a:endParaRPr lang="en-US" sz="1200" dirty="0">
                        <a:effectLst/>
                      </a:endParaRPr>
                    </a:p>
                    <a:p>
                      <a:pPr algn="just">
                        <a:lnSpc>
                          <a:spcPct val="130000"/>
                        </a:lnSpc>
                      </a:pPr>
                      <a:r>
                        <a:rPr lang="en-US" sz="1300" dirty="0">
                          <a:effectLst/>
                        </a:rPr>
                        <a:t>Vai </a:t>
                      </a:r>
                      <a:r>
                        <a:rPr lang="en-US" sz="1300" dirty="0" err="1">
                          <a:effectLst/>
                        </a:rPr>
                        <a:t>trò</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19998326"/>
                  </a:ext>
                </a:extLst>
              </a:tr>
            </a:tbl>
          </a:graphicData>
        </a:graphic>
      </p:graphicFrame>
      <p:sp>
        <p:nvSpPr>
          <p:cNvPr id="4" name="Slide Number Placeholder 3">
            <a:extLst>
              <a:ext uri="{FF2B5EF4-FFF2-40B4-BE49-F238E27FC236}">
                <a16:creationId xmlns:a16="http://schemas.microsoft.com/office/drawing/2014/main" id="{5B729ACC-6824-6D9E-F703-E3D4AC868F3C}"/>
              </a:ext>
            </a:extLst>
          </p:cNvPr>
          <p:cNvSpPr>
            <a:spLocks noGrp="1"/>
          </p:cNvSpPr>
          <p:nvPr>
            <p:ph type="sldNum" sz="quarter" idx="12"/>
          </p:nvPr>
        </p:nvSpPr>
        <p:spPr/>
        <p:txBody>
          <a:bodyPr/>
          <a:lstStyle/>
          <a:p>
            <a:fld id="{7ABBADF3-30DB-48D9-82C9-3A079DF6858D}" type="slidenum">
              <a:rPr lang="en-US" smtClean="0"/>
              <a:t>27</a:t>
            </a:fld>
            <a:endParaRPr lang="en-US"/>
          </a:p>
        </p:txBody>
      </p:sp>
    </p:spTree>
    <p:extLst>
      <p:ext uri="{BB962C8B-B14F-4D97-AF65-F5344CB8AC3E}">
        <p14:creationId xmlns:p14="http://schemas.microsoft.com/office/powerpoint/2010/main" val="1078820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21CD-85CE-24B6-EC34-C6863A5A08DE}"/>
              </a:ext>
            </a:extLst>
          </p:cNvPr>
          <p:cNvSpPr>
            <a:spLocks noGrp="1"/>
          </p:cNvSpPr>
          <p:nvPr>
            <p:ph type="title"/>
          </p:nvPr>
        </p:nvSpPr>
        <p:spPr/>
        <p:txBody>
          <a:bodyPr/>
          <a:lstStyle/>
          <a:p>
            <a:r>
              <a:rPr lang="en-US" dirty="0"/>
              <a:t>Ma </a:t>
            </a:r>
            <a:r>
              <a:rPr lang="en-US" dirty="0" err="1"/>
              <a:t>trận</a:t>
            </a:r>
            <a:r>
              <a:rPr lang="en-US" dirty="0"/>
              <a:t> </a:t>
            </a:r>
            <a:r>
              <a:rPr lang="en-US" dirty="0" err="1"/>
              <a:t>thực</a:t>
            </a:r>
            <a:r>
              <a:rPr lang="en-US" dirty="0"/>
              <a:t> </a:t>
            </a:r>
            <a:r>
              <a:rPr lang="en-US" dirty="0" err="1"/>
              <a:t>thể</a:t>
            </a:r>
            <a:endParaRPr lang="en-US" dirty="0"/>
          </a:p>
        </p:txBody>
      </p:sp>
      <p:graphicFrame>
        <p:nvGraphicFramePr>
          <p:cNvPr id="5" name="Content Placeholder 4">
            <a:extLst>
              <a:ext uri="{FF2B5EF4-FFF2-40B4-BE49-F238E27FC236}">
                <a16:creationId xmlns:a16="http://schemas.microsoft.com/office/drawing/2014/main" id="{35A9680F-A541-E651-44CC-C4331DBC74D7}"/>
              </a:ext>
            </a:extLst>
          </p:cNvPr>
          <p:cNvGraphicFramePr>
            <a:graphicFrameLocks noGrp="1"/>
          </p:cNvGraphicFramePr>
          <p:nvPr>
            <p:ph idx="1"/>
            <p:extLst>
              <p:ext uri="{D42A27DB-BD31-4B8C-83A1-F6EECF244321}">
                <p14:modId xmlns:p14="http://schemas.microsoft.com/office/powerpoint/2010/main" val="2410896249"/>
              </p:ext>
            </p:extLst>
          </p:nvPr>
        </p:nvGraphicFramePr>
        <p:xfrm>
          <a:off x="838201" y="1005840"/>
          <a:ext cx="10510520" cy="5079998"/>
        </p:xfrm>
        <a:graphic>
          <a:graphicData uri="http://schemas.openxmlformats.org/drawingml/2006/table">
            <a:tbl>
              <a:tblPr firstRow="1" firstCol="1" bandRow="1">
                <a:tableStyleId>{5C22544A-7EE6-4342-B048-85BDC9FD1C3A}</a:tableStyleId>
              </a:tblPr>
              <a:tblGrid>
                <a:gridCol w="1535831">
                  <a:extLst>
                    <a:ext uri="{9D8B030D-6E8A-4147-A177-3AD203B41FA5}">
                      <a16:colId xmlns:a16="http://schemas.microsoft.com/office/drawing/2014/main" val="759534059"/>
                    </a:ext>
                  </a:extLst>
                </a:gridCol>
                <a:gridCol w="996307">
                  <a:extLst>
                    <a:ext uri="{9D8B030D-6E8A-4147-A177-3AD203B41FA5}">
                      <a16:colId xmlns:a16="http://schemas.microsoft.com/office/drawing/2014/main" val="1681195795"/>
                    </a:ext>
                  </a:extLst>
                </a:gridCol>
                <a:gridCol w="982704">
                  <a:extLst>
                    <a:ext uri="{9D8B030D-6E8A-4147-A177-3AD203B41FA5}">
                      <a16:colId xmlns:a16="http://schemas.microsoft.com/office/drawing/2014/main" val="2460652036"/>
                    </a:ext>
                  </a:extLst>
                </a:gridCol>
                <a:gridCol w="802484">
                  <a:extLst>
                    <a:ext uri="{9D8B030D-6E8A-4147-A177-3AD203B41FA5}">
                      <a16:colId xmlns:a16="http://schemas.microsoft.com/office/drawing/2014/main" val="1717430727"/>
                    </a:ext>
                  </a:extLst>
                </a:gridCol>
                <a:gridCol w="703875">
                  <a:extLst>
                    <a:ext uri="{9D8B030D-6E8A-4147-A177-3AD203B41FA5}">
                      <a16:colId xmlns:a16="http://schemas.microsoft.com/office/drawing/2014/main" val="3133008835"/>
                    </a:ext>
                  </a:extLst>
                </a:gridCol>
                <a:gridCol w="971371">
                  <a:extLst>
                    <a:ext uri="{9D8B030D-6E8A-4147-A177-3AD203B41FA5}">
                      <a16:colId xmlns:a16="http://schemas.microsoft.com/office/drawing/2014/main" val="3600003220"/>
                    </a:ext>
                  </a:extLst>
                </a:gridCol>
                <a:gridCol w="983838">
                  <a:extLst>
                    <a:ext uri="{9D8B030D-6E8A-4147-A177-3AD203B41FA5}">
                      <a16:colId xmlns:a16="http://schemas.microsoft.com/office/drawing/2014/main" val="2743209253"/>
                    </a:ext>
                  </a:extLst>
                </a:gridCol>
                <a:gridCol w="1032576">
                  <a:extLst>
                    <a:ext uri="{9D8B030D-6E8A-4147-A177-3AD203B41FA5}">
                      <a16:colId xmlns:a16="http://schemas.microsoft.com/office/drawing/2014/main" val="2249502082"/>
                    </a:ext>
                  </a:extLst>
                </a:gridCol>
                <a:gridCol w="1298938">
                  <a:extLst>
                    <a:ext uri="{9D8B030D-6E8A-4147-A177-3AD203B41FA5}">
                      <a16:colId xmlns:a16="http://schemas.microsoft.com/office/drawing/2014/main" val="534792327"/>
                    </a:ext>
                  </a:extLst>
                </a:gridCol>
                <a:gridCol w="1202596">
                  <a:extLst>
                    <a:ext uri="{9D8B030D-6E8A-4147-A177-3AD203B41FA5}">
                      <a16:colId xmlns:a16="http://schemas.microsoft.com/office/drawing/2014/main" val="777443004"/>
                    </a:ext>
                  </a:extLst>
                </a:gridCol>
              </a:tblGrid>
              <a:tr h="253917">
                <a:tc>
                  <a:txBody>
                    <a:bodyPr/>
                    <a:lstStyle/>
                    <a:p>
                      <a:pPr algn="ctr">
                        <a:lnSpc>
                          <a:spcPct val="130000"/>
                        </a:lnSpc>
                      </a:pPr>
                      <a:r>
                        <a:rPr lang="vi-VN" sz="1300">
                          <a:effectLst/>
                        </a:rPr>
                        <a:t>Thực thể</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Chi tiết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0495147"/>
                  </a:ext>
                </a:extLst>
              </a:tr>
              <a:tr h="564630">
                <a:tc>
                  <a:txBody>
                    <a:bodyPr/>
                    <a:lstStyle/>
                    <a:p>
                      <a:pPr algn="ctr">
                        <a:lnSpc>
                          <a:spcPct val="130000"/>
                        </a:lnSpc>
                      </a:pPr>
                      <a:r>
                        <a:rPr lang="vi-VN" sz="1300">
                          <a:effectLst/>
                        </a:rPr>
                        <a:t>Khóa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583408105"/>
                  </a:ext>
                </a:extLst>
              </a:tr>
              <a:tr h="536231">
                <a:tc>
                  <a:txBody>
                    <a:bodyPr/>
                    <a:lstStyle/>
                    <a:p>
                      <a:pPr algn="ctr">
                        <a:lnSpc>
                          <a:spcPct val="130000"/>
                        </a:lnSpc>
                      </a:pPr>
                      <a:r>
                        <a:rPr lang="vi-VN" sz="1300">
                          <a:effectLst/>
                        </a:rPr>
                        <a:t>Mã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7274054"/>
                  </a:ext>
                </a:extLst>
              </a:tr>
              <a:tr h="536231">
                <a:tc>
                  <a:txBody>
                    <a:bodyPr/>
                    <a:lstStyle/>
                    <a:p>
                      <a:pPr algn="ctr">
                        <a:lnSpc>
                          <a:spcPct val="130000"/>
                        </a:lnSpc>
                      </a:pPr>
                      <a:r>
                        <a:rPr lang="vi-VN" sz="1300">
                          <a:effectLst/>
                        </a:rPr>
                        <a:t>Mã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62130842"/>
                  </a:ext>
                </a:extLst>
              </a:tr>
              <a:tr h="253917">
                <a:tc>
                  <a:txBody>
                    <a:bodyPr/>
                    <a:lstStyle/>
                    <a:p>
                      <a:pPr algn="ctr">
                        <a:lnSpc>
                          <a:spcPct val="130000"/>
                        </a:lnSpc>
                      </a:pPr>
                      <a:r>
                        <a:rPr lang="vi-VN"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dirty="0">
                          <a:effectLst/>
                        </a:rPr>
                        <a:t> </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33943813"/>
                  </a:ext>
                </a:extLst>
              </a:tr>
              <a:tr h="253917">
                <a:tc>
                  <a:txBody>
                    <a:bodyPr/>
                    <a:lstStyle/>
                    <a:p>
                      <a:pPr algn="ctr">
                        <a:lnSpc>
                          <a:spcPct val="130000"/>
                        </a:lnSpc>
                      </a:pPr>
                      <a:r>
                        <a:rPr lang="vi-VN" sz="1300">
                          <a:effectLst/>
                        </a:rPr>
                        <a:t>Mã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3803798"/>
                  </a:ext>
                </a:extLst>
              </a:tr>
              <a:tr h="536231">
                <a:tc>
                  <a:txBody>
                    <a:bodyPr/>
                    <a:lstStyle/>
                    <a:p>
                      <a:pPr algn="ctr">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6218102"/>
                  </a:ext>
                </a:extLst>
              </a:tr>
              <a:tr h="536231">
                <a:tc>
                  <a:txBody>
                    <a:bodyPr/>
                    <a:lstStyle/>
                    <a:p>
                      <a:pPr algn="ctr">
                        <a:lnSpc>
                          <a:spcPct val="130000"/>
                        </a:lnSpc>
                      </a:pPr>
                      <a:r>
                        <a:rPr lang="vi-VN" sz="1300">
                          <a:effectLst/>
                        </a:rPr>
                        <a:t>Mã 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50159026"/>
                  </a:ext>
                </a:extLst>
              </a:tr>
              <a:tr h="536231">
                <a:tc>
                  <a:txBody>
                    <a:bodyPr/>
                    <a:lstStyle/>
                    <a:p>
                      <a:pPr algn="ctr">
                        <a:lnSpc>
                          <a:spcPct val="130000"/>
                        </a:lnSpc>
                      </a:pPr>
                      <a:r>
                        <a:rPr lang="vi-VN" sz="1300">
                          <a:effectLst/>
                        </a:rPr>
                        <a:t>Mã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44560521"/>
                  </a:ext>
                </a:extLst>
              </a:tr>
              <a:tr h="536231">
                <a:tc>
                  <a:txBody>
                    <a:bodyPr/>
                    <a:lstStyle/>
                    <a:p>
                      <a:pPr algn="ctr">
                        <a:lnSpc>
                          <a:spcPct val="130000"/>
                        </a:lnSpc>
                      </a:pPr>
                      <a:r>
                        <a:rPr lang="vi-VN" sz="1300">
                          <a:effectLst/>
                        </a:rPr>
                        <a:t>Mã 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22579518"/>
                  </a:ext>
                </a:extLst>
              </a:tr>
              <a:tr h="536231">
                <a:tc>
                  <a:txBody>
                    <a:bodyPr/>
                    <a:lstStyle/>
                    <a:p>
                      <a:pPr algn="ctr">
                        <a:lnSpc>
                          <a:spcPct val="130000"/>
                        </a:lnSpc>
                      </a:pPr>
                      <a:r>
                        <a:rPr lang="vi-VN" sz="1300">
                          <a:effectLst/>
                        </a:rPr>
                        <a:t>Mã chi tiết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dirty="0">
                          <a:effectLst/>
                        </a:rPr>
                        <a:t>PK</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59251008"/>
                  </a:ext>
                </a:extLst>
              </a:tr>
            </a:tbl>
          </a:graphicData>
        </a:graphic>
      </p:graphicFrame>
      <p:sp>
        <p:nvSpPr>
          <p:cNvPr id="4" name="Slide Number Placeholder 3">
            <a:extLst>
              <a:ext uri="{FF2B5EF4-FFF2-40B4-BE49-F238E27FC236}">
                <a16:creationId xmlns:a16="http://schemas.microsoft.com/office/drawing/2014/main" id="{2B912EEC-14DD-45B6-BD4F-E10B0F7C4BEC}"/>
              </a:ext>
            </a:extLst>
          </p:cNvPr>
          <p:cNvSpPr>
            <a:spLocks noGrp="1"/>
          </p:cNvSpPr>
          <p:nvPr>
            <p:ph type="sldNum" sz="quarter" idx="12"/>
          </p:nvPr>
        </p:nvSpPr>
        <p:spPr/>
        <p:txBody>
          <a:bodyPr/>
          <a:lstStyle/>
          <a:p>
            <a:fld id="{7ABBADF3-30DB-48D9-82C9-3A079DF6858D}" type="slidenum">
              <a:rPr lang="en-US" smtClean="0"/>
              <a:t>28</a:t>
            </a:fld>
            <a:endParaRPr lang="en-US"/>
          </a:p>
        </p:txBody>
      </p:sp>
    </p:spTree>
    <p:extLst>
      <p:ext uri="{BB962C8B-B14F-4D97-AF65-F5344CB8AC3E}">
        <p14:creationId xmlns:p14="http://schemas.microsoft.com/office/powerpoint/2010/main" val="2785077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0B46-3ED2-7FC2-0A4D-02BFF76A6A18}"/>
              </a:ext>
            </a:extLst>
          </p:cNvPr>
          <p:cNvSpPr>
            <a:spLocks noGrp="1"/>
          </p:cNvSpPr>
          <p:nvPr>
            <p:ph type="title"/>
          </p:nvPr>
        </p:nvSpPr>
        <p:spPr/>
        <p:txBody>
          <a:bodyPr/>
          <a:lstStyle/>
          <a:p>
            <a:r>
              <a:rPr lang="en-US" dirty="0" err="1"/>
              <a:t>Sơ</a:t>
            </a:r>
            <a:r>
              <a:rPr lang="en-US" dirty="0"/>
              <a:t> </a:t>
            </a:r>
            <a:r>
              <a:rPr lang="en-US" dirty="0" err="1"/>
              <a:t>đồ</a:t>
            </a:r>
            <a:r>
              <a:rPr lang="en-US" dirty="0"/>
              <a:t> diagram</a:t>
            </a:r>
          </a:p>
        </p:txBody>
      </p:sp>
      <p:sp>
        <p:nvSpPr>
          <p:cNvPr id="4" name="Slide Number Placeholder 3">
            <a:extLst>
              <a:ext uri="{FF2B5EF4-FFF2-40B4-BE49-F238E27FC236}">
                <a16:creationId xmlns:a16="http://schemas.microsoft.com/office/drawing/2014/main" id="{2A162FE9-26A3-8B97-4B1E-7B832E4D7626}"/>
              </a:ext>
            </a:extLst>
          </p:cNvPr>
          <p:cNvSpPr>
            <a:spLocks noGrp="1"/>
          </p:cNvSpPr>
          <p:nvPr>
            <p:ph type="sldNum" sz="quarter" idx="12"/>
          </p:nvPr>
        </p:nvSpPr>
        <p:spPr/>
        <p:txBody>
          <a:bodyPr/>
          <a:lstStyle/>
          <a:p>
            <a:fld id="{7ABBADF3-30DB-48D9-82C9-3A079DF6858D}" type="slidenum">
              <a:rPr lang="en-US" smtClean="0"/>
              <a:t>29</a:t>
            </a:fld>
            <a:endParaRPr lang="en-US"/>
          </a:p>
        </p:txBody>
      </p:sp>
      <p:pic>
        <p:nvPicPr>
          <p:cNvPr id="5" name="Content Placeholder 4">
            <a:extLst>
              <a:ext uri="{FF2B5EF4-FFF2-40B4-BE49-F238E27FC236}">
                <a16:creationId xmlns:a16="http://schemas.microsoft.com/office/drawing/2014/main" id="{19C3D2FB-9CEB-378A-B90E-AF3610993279}"/>
              </a:ext>
            </a:extLst>
          </p:cNvPr>
          <p:cNvPicPr>
            <a:picLocks noGrp="1" noChangeAspect="1"/>
          </p:cNvPicPr>
          <p:nvPr>
            <p:ph idx="1"/>
          </p:nvPr>
        </p:nvPicPr>
        <p:blipFill>
          <a:blip r:embed="rId2"/>
          <a:stretch>
            <a:fillRect/>
          </a:stretch>
        </p:blipFill>
        <p:spPr>
          <a:xfrm>
            <a:off x="2029012" y="885825"/>
            <a:ext cx="8627689" cy="5191125"/>
          </a:xfrm>
          <a:prstGeom prst="rect">
            <a:avLst/>
          </a:prstGeom>
        </p:spPr>
      </p:pic>
    </p:spTree>
    <p:extLst>
      <p:ext uri="{BB962C8B-B14F-4D97-AF65-F5344CB8AC3E}">
        <p14:creationId xmlns:p14="http://schemas.microsoft.com/office/powerpoint/2010/main" val="867343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hệ</a:t>
            </a:r>
            <a:r>
              <a:rPr lang="en-US" dirty="0"/>
              <a:t> </a:t>
            </a:r>
            <a:r>
              <a:rPr lang="en-US" dirty="0" err="1"/>
              <a:t>thống</a:t>
            </a:r>
            <a:endParaRPr lang="en-US" dirty="0"/>
          </a:p>
        </p:txBody>
      </p:sp>
      <p:sp>
        <p:nvSpPr>
          <p:cNvPr id="5" name="Text Placeholder 4"/>
          <p:cNvSpPr>
            <a:spLocks noGrp="1"/>
          </p:cNvSpPr>
          <p:nvPr>
            <p:ph type="body" idx="1"/>
          </p:nvPr>
        </p:nvSpPr>
        <p:spPr/>
        <p:txBody>
          <a:bodyPr>
            <a:normAutofit/>
          </a:bodyPr>
          <a:lstStyle/>
          <a:p>
            <a:r>
              <a:rPr lang="en-US" dirty="0" err="1">
                <a:solidFill>
                  <a:schemeClr val="tx1"/>
                </a:solidFill>
              </a:rPr>
              <a:t>Thiết</a:t>
            </a:r>
            <a:r>
              <a:rPr lang="en-US" dirty="0">
                <a:solidFill>
                  <a:schemeClr val="tx1"/>
                </a:solidFill>
              </a:rPr>
              <a:t> </a:t>
            </a:r>
            <a:r>
              <a:rPr lang="en-US" dirty="0" err="1">
                <a:solidFill>
                  <a:schemeClr val="tx1"/>
                </a:solidFill>
              </a:rPr>
              <a:t>kế</a:t>
            </a:r>
            <a:r>
              <a:rPr lang="en-US" dirty="0">
                <a:solidFill>
                  <a:schemeClr val="tx1"/>
                </a:solidFill>
              </a:rPr>
              <a:t> </a:t>
            </a:r>
            <a:r>
              <a:rPr lang="en-US" dirty="0" err="1">
                <a:solidFill>
                  <a:schemeClr val="tx1"/>
                </a:solidFill>
              </a:rPr>
              <a:t>cơ</a:t>
            </a:r>
            <a:r>
              <a:rPr lang="en-US" dirty="0">
                <a:solidFill>
                  <a:schemeClr val="tx1"/>
                </a:solidFill>
              </a:rPr>
              <a:t> </a:t>
            </a:r>
            <a:r>
              <a:rPr lang="en-US" dirty="0" err="1">
                <a:solidFill>
                  <a:schemeClr val="tx1"/>
                </a:solidFill>
              </a:rPr>
              <a:t>sở</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endParaRPr lang="en-US" dirty="0">
              <a:solidFill>
                <a:schemeClr val="tx1"/>
              </a:solidFill>
            </a:endParaRPr>
          </a:p>
          <a:p>
            <a:r>
              <a:rPr lang="en-US" dirty="0" err="1">
                <a:solidFill>
                  <a:schemeClr val="tx1"/>
                </a:solidFill>
              </a:rPr>
              <a:t>Thiết</a:t>
            </a:r>
            <a:r>
              <a:rPr lang="en-US" dirty="0">
                <a:solidFill>
                  <a:schemeClr val="tx1"/>
                </a:solidFill>
              </a:rPr>
              <a:t> </a:t>
            </a:r>
            <a:r>
              <a:rPr lang="en-US" dirty="0" err="1">
                <a:solidFill>
                  <a:schemeClr val="tx1"/>
                </a:solidFill>
              </a:rPr>
              <a:t>kế</a:t>
            </a:r>
            <a:r>
              <a:rPr lang="en-US" dirty="0">
                <a:solidFill>
                  <a:schemeClr val="tx1"/>
                </a:solidFill>
              </a:rPr>
              <a:t> </a:t>
            </a:r>
            <a:r>
              <a:rPr lang="en-US" dirty="0" err="1">
                <a:solidFill>
                  <a:schemeClr val="tx1"/>
                </a:solidFill>
              </a:rPr>
              <a:t>giao</a:t>
            </a:r>
            <a:r>
              <a:rPr lang="en-US" dirty="0">
                <a:solidFill>
                  <a:schemeClr val="tx1"/>
                </a:solidFill>
              </a:rPr>
              <a:t> </a:t>
            </a:r>
            <a:r>
              <a:rPr lang="en-US" dirty="0" err="1">
                <a:solidFill>
                  <a:schemeClr val="tx1"/>
                </a:solidFill>
              </a:rPr>
              <a:t>diện</a:t>
            </a:r>
            <a:endParaRPr lang="en-US"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70336"/>
            <a:ext cx="11008807" cy="610701"/>
          </a:xfrm>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5" name="Content Placeholder 4"/>
          <p:cNvSpPr>
            <a:spLocks noGrp="1"/>
          </p:cNvSpPr>
          <p:nvPr>
            <p:ph idx="1"/>
          </p:nvPr>
        </p:nvSpPr>
        <p:spPr/>
        <p:txBody>
          <a:bodyPr/>
          <a:lstStyle/>
          <a:p>
            <a:pPr marL="514350" indent="-514350">
              <a:buAutoNum type="arabicPeriod"/>
            </a:pPr>
            <a:r>
              <a:rPr lang="en-US" sz="2500" dirty="0" err="1"/>
              <a:t>Bảng</a:t>
            </a:r>
            <a:r>
              <a:rPr lang="en-US" sz="2500" dirty="0"/>
              <a:t> </a:t>
            </a:r>
            <a:r>
              <a:rPr lang="en-US" sz="2500" dirty="0" err="1"/>
              <a:t>nhân</a:t>
            </a:r>
            <a:r>
              <a:rPr lang="en-US" sz="2500" dirty="0"/>
              <a:t> </a:t>
            </a:r>
            <a:r>
              <a:rPr lang="en-US" sz="2500" dirty="0" err="1"/>
              <a:t>viên</a:t>
            </a:r>
            <a:endParaRPr lang="en-US" sz="2500" dirty="0"/>
          </a:p>
          <a:p>
            <a:pPr marL="0" indent="0">
              <a:buNone/>
            </a:pPr>
            <a:endParaRPr lang="en-US" dirty="0"/>
          </a:p>
        </p:txBody>
      </p:sp>
      <p:sp>
        <p:nvSpPr>
          <p:cNvPr id="2" name="Slide Number Placeholder 1"/>
          <p:cNvSpPr>
            <a:spLocks noGrp="1"/>
          </p:cNvSpPr>
          <p:nvPr>
            <p:ph type="sldNum" sz="quarter" idx="12"/>
          </p:nvPr>
        </p:nvSpPr>
        <p:spPr/>
        <p:txBody>
          <a:bodyPr/>
          <a:lstStyle/>
          <a:p>
            <a:fld id="{7ABBADF3-30DB-48D9-82C9-3A079DF6858D}" type="slidenum">
              <a:rPr lang="en-US" smtClean="0"/>
              <a:t>31</a:t>
            </a:fld>
            <a:endParaRPr lang="en-US"/>
          </a:p>
        </p:txBody>
      </p:sp>
      <p:graphicFrame>
        <p:nvGraphicFramePr>
          <p:cNvPr id="3" name="Table 2">
            <a:extLst>
              <a:ext uri="{FF2B5EF4-FFF2-40B4-BE49-F238E27FC236}">
                <a16:creationId xmlns:a16="http://schemas.microsoft.com/office/drawing/2014/main" id="{5F6A2010-A0BE-0299-6423-DC744150B6C8}"/>
              </a:ext>
            </a:extLst>
          </p:cNvPr>
          <p:cNvGraphicFramePr>
            <a:graphicFrameLocks noGrp="1"/>
          </p:cNvGraphicFramePr>
          <p:nvPr>
            <p:extLst>
              <p:ext uri="{D42A27DB-BD31-4B8C-83A1-F6EECF244321}">
                <p14:modId xmlns:p14="http://schemas.microsoft.com/office/powerpoint/2010/main" val="2467206250"/>
              </p:ext>
            </p:extLst>
          </p:nvPr>
        </p:nvGraphicFramePr>
        <p:xfrm>
          <a:off x="2133600" y="1493520"/>
          <a:ext cx="8688474" cy="4277358"/>
        </p:xfrm>
        <a:graphic>
          <a:graphicData uri="http://schemas.openxmlformats.org/drawingml/2006/table">
            <a:tbl>
              <a:tblPr firstRow="1" firstCol="1" bandRow="1">
                <a:tableStyleId>{5C22544A-7EE6-4342-B048-85BDC9FD1C3A}</a:tableStyleId>
              </a:tblPr>
              <a:tblGrid>
                <a:gridCol w="2182186">
                  <a:extLst>
                    <a:ext uri="{9D8B030D-6E8A-4147-A177-3AD203B41FA5}">
                      <a16:colId xmlns:a16="http://schemas.microsoft.com/office/drawing/2014/main" val="3180047602"/>
                    </a:ext>
                  </a:extLst>
                </a:gridCol>
                <a:gridCol w="2220537">
                  <a:extLst>
                    <a:ext uri="{9D8B030D-6E8A-4147-A177-3AD203B41FA5}">
                      <a16:colId xmlns:a16="http://schemas.microsoft.com/office/drawing/2014/main" val="3568761843"/>
                    </a:ext>
                  </a:extLst>
                </a:gridCol>
                <a:gridCol w="2162051">
                  <a:extLst>
                    <a:ext uri="{9D8B030D-6E8A-4147-A177-3AD203B41FA5}">
                      <a16:colId xmlns:a16="http://schemas.microsoft.com/office/drawing/2014/main" val="2458985449"/>
                    </a:ext>
                  </a:extLst>
                </a:gridCol>
                <a:gridCol w="2123700">
                  <a:extLst>
                    <a:ext uri="{9D8B030D-6E8A-4147-A177-3AD203B41FA5}">
                      <a16:colId xmlns:a16="http://schemas.microsoft.com/office/drawing/2014/main" val="254837110"/>
                    </a:ext>
                  </a:extLst>
                </a:gridCol>
              </a:tblGrid>
              <a:tr h="380568">
                <a:tc gridSpan="4">
                  <a:txBody>
                    <a:bodyPr/>
                    <a:lstStyle/>
                    <a:p>
                      <a:pPr algn="ctr">
                        <a:lnSpc>
                          <a:spcPct val="130000"/>
                        </a:lnSpc>
                      </a:pPr>
                      <a:r>
                        <a:rPr lang="vi-VN" sz="1300">
                          <a:effectLst/>
                        </a:rPr>
                        <a:t>Bảng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41299415"/>
                  </a:ext>
                </a:extLst>
              </a:tr>
              <a:tr h="380568">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18715905"/>
                  </a:ext>
                </a:extLst>
              </a:tr>
              <a:tr h="380568">
                <a:tc>
                  <a:txBody>
                    <a:bodyPr/>
                    <a:lstStyle/>
                    <a:p>
                      <a:pPr algn="just">
                        <a:lnSpc>
                          <a:spcPct val="130000"/>
                        </a:lnSpc>
                      </a:pPr>
                      <a:r>
                        <a:rPr lang="vi-VN" sz="1300">
                          <a:effectLst/>
                        </a:rPr>
                        <a:t>MaNhanVien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6809987"/>
                  </a:ext>
                </a:extLst>
              </a:tr>
              <a:tr h="380568">
                <a:tc>
                  <a:txBody>
                    <a:bodyPr/>
                    <a:lstStyle/>
                    <a:p>
                      <a:pPr algn="just">
                        <a:lnSpc>
                          <a:spcPct val="130000"/>
                        </a:lnSpc>
                      </a:pPr>
                      <a:r>
                        <a:rPr lang="vi-VN" sz="1300">
                          <a:effectLst/>
                        </a:rPr>
                        <a:t>TenNhanVien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2334553"/>
                  </a:ext>
                </a:extLst>
              </a:tr>
              <a:tr h="380568">
                <a:tc>
                  <a:txBody>
                    <a:bodyPr/>
                    <a:lstStyle/>
                    <a:p>
                      <a:pPr algn="just">
                        <a:lnSpc>
                          <a:spcPct val="130000"/>
                        </a:lnSpc>
                      </a:pPr>
                      <a:r>
                        <a:rPr lang="vi-VN"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3617194"/>
                  </a:ext>
                </a:extLst>
              </a:tr>
              <a:tr h="380568">
                <a:tc>
                  <a:txBody>
                    <a:bodyPr/>
                    <a:lstStyle/>
                    <a:p>
                      <a:pPr algn="just">
                        <a:lnSpc>
                          <a:spcPct val="130000"/>
                        </a:lnSpc>
                      </a:pPr>
                      <a:r>
                        <a:rPr lang="vi-VN" sz="1300">
                          <a:effectLst/>
                        </a:rPr>
                        <a:t>SoDienThoai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VARCHAR(20)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Số điện thoại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77682481"/>
                  </a:ext>
                </a:extLst>
              </a:tr>
              <a:tr h="471678">
                <a:tc>
                  <a:txBody>
                    <a:bodyPr/>
                    <a:lstStyle/>
                    <a:p>
                      <a:pPr algn="just">
                        <a:lnSpc>
                          <a:spcPct val="130000"/>
                        </a:lnSpc>
                      </a:pPr>
                      <a:r>
                        <a:rPr lang="vi-VN" sz="1300">
                          <a:effectLst/>
                        </a:rPr>
                        <a:t>CCCD</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VARCHAR(20)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Căn cước công dân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2806609"/>
                  </a:ext>
                </a:extLst>
              </a:tr>
              <a:tr h="380568">
                <a:tc>
                  <a:txBody>
                    <a:bodyPr/>
                    <a:lstStyle/>
                    <a:p>
                      <a:pPr algn="just">
                        <a:lnSpc>
                          <a:spcPct val="130000"/>
                        </a:lnSpc>
                      </a:pPr>
                      <a:r>
                        <a:rPr lang="vi-VN" sz="1300">
                          <a:effectLst/>
                        </a:rPr>
                        <a:t>DiaChi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45349656"/>
                  </a:ext>
                </a:extLst>
              </a:tr>
              <a:tr h="380568">
                <a:tc>
                  <a:txBody>
                    <a:bodyPr/>
                    <a:lstStyle/>
                    <a:p>
                      <a:pPr algn="just">
                        <a:lnSpc>
                          <a:spcPct val="130000"/>
                        </a:lnSpc>
                      </a:pPr>
                      <a:r>
                        <a:rPr lang="vi-VN" sz="1300">
                          <a:effectLst/>
                        </a:rPr>
                        <a:t>TenTaiKhoan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tài khoản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97011245"/>
                  </a:ext>
                </a:extLst>
              </a:tr>
              <a:tr h="380568">
                <a:tc>
                  <a:txBody>
                    <a:bodyPr/>
                    <a:lstStyle/>
                    <a:p>
                      <a:pPr algn="just">
                        <a:lnSpc>
                          <a:spcPct val="130000"/>
                        </a:lnSpc>
                      </a:pPr>
                      <a:r>
                        <a:rPr lang="vi-VN" sz="1300">
                          <a:effectLst/>
                        </a:rPr>
                        <a:t>MatKhau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Mật khẩu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5237799"/>
                  </a:ext>
                </a:extLst>
              </a:tr>
              <a:tr h="380568">
                <a:tc>
                  <a:txBody>
                    <a:bodyPr/>
                    <a:lstStyle/>
                    <a:p>
                      <a:pPr algn="just">
                        <a:lnSpc>
                          <a:spcPct val="130000"/>
                        </a:lnSpc>
                      </a:pPr>
                      <a:r>
                        <a:rPr lang="vi-VN" sz="1300">
                          <a:effectLst/>
                        </a:rPr>
                        <a:t>VaiTro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BIT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Vai trò</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78127059"/>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2. </a:t>
            </a:r>
            <a:r>
              <a:rPr lang="en-US" sz="2500" dirty="0" err="1"/>
              <a:t>Bảng</a:t>
            </a:r>
            <a:r>
              <a:rPr lang="en-US" sz="2500" dirty="0"/>
              <a:t> </a:t>
            </a:r>
            <a:r>
              <a:rPr lang="en-US" sz="2500" dirty="0" err="1"/>
              <a:t>nhà</a:t>
            </a:r>
            <a:r>
              <a:rPr lang="en-US" sz="2500" dirty="0"/>
              <a:t> </a:t>
            </a:r>
            <a:r>
              <a:rPr lang="en-US" sz="2500" dirty="0" err="1"/>
              <a:t>cung</a:t>
            </a:r>
            <a:r>
              <a:rPr lang="en-US" sz="2500" dirty="0"/>
              <a:t> </a:t>
            </a:r>
            <a:r>
              <a:rPr lang="en-US" sz="2500" dirty="0" err="1"/>
              <a:t>cấp</a:t>
            </a: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32</a:t>
            </a:fld>
            <a:endParaRPr lang="en-US"/>
          </a:p>
        </p:txBody>
      </p:sp>
      <p:graphicFrame>
        <p:nvGraphicFramePr>
          <p:cNvPr id="5" name="Table 4">
            <a:extLst>
              <a:ext uri="{FF2B5EF4-FFF2-40B4-BE49-F238E27FC236}">
                <a16:creationId xmlns:a16="http://schemas.microsoft.com/office/drawing/2014/main" id="{4849397D-55F2-13CD-A791-971EA44AA5A3}"/>
              </a:ext>
            </a:extLst>
          </p:cNvPr>
          <p:cNvGraphicFramePr>
            <a:graphicFrameLocks noGrp="1"/>
          </p:cNvGraphicFramePr>
          <p:nvPr>
            <p:extLst>
              <p:ext uri="{D42A27DB-BD31-4B8C-83A1-F6EECF244321}">
                <p14:modId xmlns:p14="http://schemas.microsoft.com/office/powerpoint/2010/main" val="1872967564"/>
              </p:ext>
            </p:extLst>
          </p:nvPr>
        </p:nvGraphicFramePr>
        <p:xfrm>
          <a:off x="3218814" y="1463041"/>
          <a:ext cx="7418705" cy="3332479"/>
        </p:xfrm>
        <a:graphic>
          <a:graphicData uri="http://schemas.openxmlformats.org/drawingml/2006/table">
            <a:tbl>
              <a:tblPr firstRow="1" firstCol="1" bandRow="1">
                <a:tableStyleId>{5C22544A-7EE6-4342-B048-85BDC9FD1C3A}</a:tableStyleId>
              </a:tblPr>
              <a:tblGrid>
                <a:gridCol w="1882101">
                  <a:extLst>
                    <a:ext uri="{9D8B030D-6E8A-4147-A177-3AD203B41FA5}">
                      <a16:colId xmlns:a16="http://schemas.microsoft.com/office/drawing/2014/main" val="389878753"/>
                    </a:ext>
                  </a:extLst>
                </a:gridCol>
                <a:gridCol w="1895200">
                  <a:extLst>
                    <a:ext uri="{9D8B030D-6E8A-4147-A177-3AD203B41FA5}">
                      <a16:colId xmlns:a16="http://schemas.microsoft.com/office/drawing/2014/main" val="2066051853"/>
                    </a:ext>
                  </a:extLst>
                </a:gridCol>
                <a:gridCol w="1839531">
                  <a:extLst>
                    <a:ext uri="{9D8B030D-6E8A-4147-A177-3AD203B41FA5}">
                      <a16:colId xmlns:a16="http://schemas.microsoft.com/office/drawing/2014/main" val="4065996070"/>
                    </a:ext>
                  </a:extLst>
                </a:gridCol>
                <a:gridCol w="1801873">
                  <a:extLst>
                    <a:ext uri="{9D8B030D-6E8A-4147-A177-3AD203B41FA5}">
                      <a16:colId xmlns:a16="http://schemas.microsoft.com/office/drawing/2014/main" val="2499399502"/>
                    </a:ext>
                  </a:extLst>
                </a:gridCol>
              </a:tblGrid>
              <a:tr h="425210">
                <a:tc gridSpan="4">
                  <a:txBody>
                    <a:bodyPr/>
                    <a:lstStyle/>
                    <a:p>
                      <a:pPr algn="ctr">
                        <a:lnSpc>
                          <a:spcPct val="130000"/>
                        </a:lnSpc>
                      </a:pPr>
                      <a:r>
                        <a:rPr lang="vi-VN" sz="1300">
                          <a:effectLst/>
                        </a:rPr>
                        <a:t>Bảng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20619658"/>
                  </a:ext>
                </a:extLst>
              </a:tr>
              <a:tr h="425210">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73038212"/>
                  </a:ext>
                </a:extLst>
              </a:tr>
              <a:tr h="606609">
                <a:tc>
                  <a:txBody>
                    <a:bodyPr/>
                    <a:lstStyle/>
                    <a:p>
                      <a:pPr algn="just">
                        <a:lnSpc>
                          <a:spcPct val="130000"/>
                        </a:lnSpc>
                      </a:pPr>
                      <a:r>
                        <a:rPr lang="en-US" sz="1300">
                          <a:effectLst/>
                        </a:rPr>
                        <a:t>MaNhaCungCap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dirty="0">
                          <a:effectLst/>
                        </a:rPr>
                        <a:t>VARCHAR(10)</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48942955"/>
                  </a:ext>
                </a:extLst>
              </a:tr>
              <a:tr h="577788">
                <a:tc>
                  <a:txBody>
                    <a:bodyPr/>
                    <a:lstStyle/>
                    <a:p>
                      <a:pPr algn="just">
                        <a:lnSpc>
                          <a:spcPct val="130000"/>
                        </a:lnSpc>
                      </a:pPr>
                      <a:r>
                        <a:rPr lang="en-US" sz="1300">
                          <a:effectLst/>
                        </a:rPr>
                        <a:t>TenNhaCungCap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dirty="0">
                          <a:effectLst/>
                        </a:rPr>
                        <a:t>NVARCHAR(50)</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nhà cung cấp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20545953"/>
                  </a:ext>
                </a:extLst>
              </a:tr>
              <a:tr h="432554">
                <a:tc>
                  <a:txBody>
                    <a:bodyPr/>
                    <a:lstStyle/>
                    <a:p>
                      <a:pPr algn="just">
                        <a:lnSpc>
                          <a:spcPct val="130000"/>
                        </a:lnSpc>
                      </a:pPr>
                      <a:r>
                        <a:rPr lang="en-US"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66042736"/>
                  </a:ext>
                </a:extLst>
              </a:tr>
              <a:tr h="432554">
                <a:tc>
                  <a:txBody>
                    <a:bodyPr/>
                    <a:lstStyle/>
                    <a:p>
                      <a:pPr algn="just">
                        <a:lnSpc>
                          <a:spcPct val="130000"/>
                        </a:lnSpc>
                      </a:pPr>
                      <a:r>
                        <a:rPr lang="en-US" sz="1300">
                          <a:effectLst/>
                        </a:rPr>
                        <a:t>SoDienThoai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VARCHAR(20)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Số điện thoại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84460896"/>
                  </a:ext>
                </a:extLst>
              </a:tr>
              <a:tr h="432554">
                <a:tc>
                  <a:txBody>
                    <a:bodyPr/>
                    <a:lstStyle/>
                    <a:p>
                      <a:pPr algn="just">
                        <a:lnSpc>
                          <a:spcPct val="130000"/>
                        </a:lnSpc>
                      </a:pPr>
                      <a:r>
                        <a:rPr lang="en-US" sz="1300">
                          <a:effectLst/>
                        </a:rPr>
                        <a:t>DiaChi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74877839"/>
                  </a:ext>
                </a:extLst>
              </a:tr>
            </a:tbl>
          </a:graphicData>
        </a:graphic>
      </p:graphicFrame>
    </p:spTree>
    <p:extLst>
      <p:ext uri="{BB962C8B-B14F-4D97-AF65-F5344CB8AC3E}">
        <p14:creationId xmlns:p14="http://schemas.microsoft.com/office/powerpoint/2010/main" val="2773675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a:xfrm>
            <a:off x="726440" y="833385"/>
            <a:ext cx="11008807" cy="5191230"/>
          </a:xfrm>
        </p:spPr>
        <p:txBody>
          <a:bodyPr/>
          <a:lstStyle/>
          <a:p>
            <a:pPr marL="0" indent="0">
              <a:buNone/>
            </a:pPr>
            <a:r>
              <a:rPr lang="en-US" sz="2500" dirty="0"/>
              <a:t>3. </a:t>
            </a:r>
            <a:r>
              <a:rPr lang="en-US" sz="2500" dirty="0" err="1"/>
              <a:t>Bảng</a:t>
            </a:r>
            <a:r>
              <a:rPr lang="en-US" sz="2500" dirty="0"/>
              <a:t> </a:t>
            </a:r>
            <a:r>
              <a:rPr lang="en-US" sz="2500" dirty="0" err="1"/>
              <a:t>kho</a:t>
            </a:r>
            <a:r>
              <a:rPr lang="en-US" sz="2500" dirty="0"/>
              <a:t> </a:t>
            </a:r>
            <a:r>
              <a:rPr lang="en-US" sz="2500" dirty="0" err="1"/>
              <a:t>hàng</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33</a:t>
            </a:fld>
            <a:endParaRPr lang="en-US"/>
          </a:p>
        </p:txBody>
      </p:sp>
      <p:graphicFrame>
        <p:nvGraphicFramePr>
          <p:cNvPr id="5" name="Table 4">
            <a:extLst>
              <a:ext uri="{FF2B5EF4-FFF2-40B4-BE49-F238E27FC236}">
                <a16:creationId xmlns:a16="http://schemas.microsoft.com/office/drawing/2014/main" id="{0772BBCB-E262-B287-E373-66FD41574623}"/>
              </a:ext>
            </a:extLst>
          </p:cNvPr>
          <p:cNvGraphicFramePr>
            <a:graphicFrameLocks noGrp="1"/>
          </p:cNvGraphicFramePr>
          <p:nvPr>
            <p:extLst>
              <p:ext uri="{D42A27DB-BD31-4B8C-83A1-F6EECF244321}">
                <p14:modId xmlns:p14="http://schemas.microsoft.com/office/powerpoint/2010/main" val="1883653269"/>
              </p:ext>
            </p:extLst>
          </p:nvPr>
        </p:nvGraphicFramePr>
        <p:xfrm>
          <a:off x="3218814" y="1330961"/>
          <a:ext cx="6758304" cy="2098042"/>
        </p:xfrm>
        <a:graphic>
          <a:graphicData uri="http://schemas.openxmlformats.org/drawingml/2006/table">
            <a:tbl>
              <a:tblPr firstRow="1" firstCol="1" bandRow="1">
                <a:tableStyleId>{5C22544A-7EE6-4342-B048-85BDC9FD1C3A}</a:tableStyleId>
              </a:tblPr>
              <a:tblGrid>
                <a:gridCol w="1678762">
                  <a:extLst>
                    <a:ext uri="{9D8B030D-6E8A-4147-A177-3AD203B41FA5}">
                      <a16:colId xmlns:a16="http://schemas.microsoft.com/office/drawing/2014/main" val="2227524497"/>
                    </a:ext>
                  </a:extLst>
                </a:gridCol>
                <a:gridCol w="1727984">
                  <a:extLst>
                    <a:ext uri="{9D8B030D-6E8A-4147-A177-3AD203B41FA5}">
                      <a16:colId xmlns:a16="http://schemas.microsoft.com/office/drawing/2014/main" val="2663707704"/>
                    </a:ext>
                  </a:extLst>
                </a:gridCol>
                <a:gridCol w="1692186">
                  <a:extLst>
                    <a:ext uri="{9D8B030D-6E8A-4147-A177-3AD203B41FA5}">
                      <a16:colId xmlns:a16="http://schemas.microsoft.com/office/drawing/2014/main" val="4046894624"/>
                    </a:ext>
                  </a:extLst>
                </a:gridCol>
                <a:gridCol w="1659372">
                  <a:extLst>
                    <a:ext uri="{9D8B030D-6E8A-4147-A177-3AD203B41FA5}">
                      <a16:colId xmlns:a16="http://schemas.microsoft.com/office/drawing/2014/main" val="1720606384"/>
                    </a:ext>
                  </a:extLst>
                </a:gridCol>
              </a:tblGrid>
              <a:tr h="415304">
                <a:tc gridSpan="4">
                  <a:txBody>
                    <a:bodyPr/>
                    <a:lstStyle/>
                    <a:p>
                      <a:pPr algn="ctr">
                        <a:lnSpc>
                          <a:spcPct val="130000"/>
                        </a:lnSpc>
                      </a:pPr>
                      <a:r>
                        <a:rPr lang="vi-VN" sz="1300" dirty="0">
                          <a:effectLst/>
                        </a:rPr>
                        <a:t>Bảng kho hàng</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49528099"/>
                  </a:ext>
                </a:extLst>
              </a:tr>
              <a:tr h="415304">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75914245"/>
                  </a:ext>
                </a:extLst>
              </a:tr>
              <a:tr h="422478">
                <a:tc>
                  <a:txBody>
                    <a:bodyPr/>
                    <a:lstStyle/>
                    <a:p>
                      <a:pPr algn="just">
                        <a:lnSpc>
                          <a:spcPct val="130000"/>
                        </a:lnSpc>
                      </a:pPr>
                      <a:r>
                        <a:rPr lang="en-US" sz="1300">
                          <a:effectLst/>
                        </a:rPr>
                        <a:t>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16153177"/>
                  </a:ext>
                </a:extLst>
              </a:tr>
              <a:tr h="422478">
                <a:tc>
                  <a:txBody>
                    <a:bodyPr/>
                    <a:lstStyle/>
                    <a:p>
                      <a:pPr algn="just">
                        <a:lnSpc>
                          <a:spcPct val="130000"/>
                        </a:lnSpc>
                      </a:pPr>
                      <a:r>
                        <a:rPr lang="en-US" sz="1300">
                          <a:effectLst/>
                        </a:rPr>
                        <a:t>TenKho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0170939"/>
                  </a:ext>
                </a:extLst>
              </a:tr>
              <a:tr h="422478">
                <a:tc>
                  <a:txBody>
                    <a:bodyPr/>
                    <a:lstStyle/>
                    <a:p>
                      <a:pPr algn="just">
                        <a:lnSpc>
                          <a:spcPct val="130000"/>
                        </a:lnSpc>
                      </a:pPr>
                      <a:r>
                        <a:rPr lang="en-US" sz="1300">
                          <a:effectLst/>
                        </a:rPr>
                        <a:t>DiaChi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2769100"/>
                  </a:ext>
                </a:extLst>
              </a:tr>
            </a:tbl>
          </a:graphicData>
        </a:graphic>
      </p:graphicFrame>
    </p:spTree>
    <p:extLst>
      <p:ext uri="{BB962C8B-B14F-4D97-AF65-F5344CB8AC3E}">
        <p14:creationId xmlns:p14="http://schemas.microsoft.com/office/powerpoint/2010/main" val="4278685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4. </a:t>
            </a:r>
            <a:r>
              <a:rPr lang="en-US" sz="2500" dirty="0" err="1"/>
              <a:t>Bảng</a:t>
            </a:r>
            <a:r>
              <a:rPr lang="en-US" sz="2500" dirty="0"/>
              <a:t> </a:t>
            </a:r>
            <a:r>
              <a:rPr lang="en-US" sz="2500" dirty="0" err="1"/>
              <a:t>kệ</a:t>
            </a:r>
            <a:r>
              <a:rPr lang="en-US" sz="2500" dirty="0"/>
              <a:t> </a:t>
            </a:r>
            <a:r>
              <a:rPr lang="en-US" sz="2500" dirty="0" err="1"/>
              <a:t>hàng</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34</a:t>
            </a:fld>
            <a:endParaRPr lang="en-US"/>
          </a:p>
        </p:txBody>
      </p:sp>
      <p:graphicFrame>
        <p:nvGraphicFramePr>
          <p:cNvPr id="5" name="Table 4">
            <a:extLst>
              <a:ext uri="{FF2B5EF4-FFF2-40B4-BE49-F238E27FC236}">
                <a16:creationId xmlns:a16="http://schemas.microsoft.com/office/drawing/2014/main" id="{BA7D8B54-EF58-882A-1E70-0DA3C1F2A3EF}"/>
              </a:ext>
            </a:extLst>
          </p:cNvPr>
          <p:cNvGraphicFramePr>
            <a:graphicFrameLocks noGrp="1"/>
          </p:cNvGraphicFramePr>
          <p:nvPr>
            <p:extLst>
              <p:ext uri="{D42A27DB-BD31-4B8C-83A1-F6EECF244321}">
                <p14:modId xmlns:p14="http://schemas.microsoft.com/office/powerpoint/2010/main" val="2327256422"/>
              </p:ext>
            </p:extLst>
          </p:nvPr>
        </p:nvGraphicFramePr>
        <p:xfrm>
          <a:off x="3147060" y="1341120"/>
          <a:ext cx="5897880" cy="2087880"/>
        </p:xfrm>
        <a:graphic>
          <a:graphicData uri="http://schemas.openxmlformats.org/drawingml/2006/table">
            <a:tbl>
              <a:tblPr firstRow="1" firstCol="1" bandRow="1">
                <a:tableStyleId>{5C22544A-7EE6-4342-B048-85BDC9FD1C3A}</a:tableStyleId>
              </a:tblPr>
              <a:tblGrid>
                <a:gridCol w="1474470">
                  <a:extLst>
                    <a:ext uri="{9D8B030D-6E8A-4147-A177-3AD203B41FA5}">
                      <a16:colId xmlns:a16="http://schemas.microsoft.com/office/drawing/2014/main" val="2487178144"/>
                    </a:ext>
                  </a:extLst>
                </a:gridCol>
                <a:gridCol w="1474470">
                  <a:extLst>
                    <a:ext uri="{9D8B030D-6E8A-4147-A177-3AD203B41FA5}">
                      <a16:colId xmlns:a16="http://schemas.microsoft.com/office/drawing/2014/main" val="3347838408"/>
                    </a:ext>
                  </a:extLst>
                </a:gridCol>
                <a:gridCol w="1474470">
                  <a:extLst>
                    <a:ext uri="{9D8B030D-6E8A-4147-A177-3AD203B41FA5}">
                      <a16:colId xmlns:a16="http://schemas.microsoft.com/office/drawing/2014/main" val="3117212789"/>
                    </a:ext>
                  </a:extLst>
                </a:gridCol>
                <a:gridCol w="1474470">
                  <a:extLst>
                    <a:ext uri="{9D8B030D-6E8A-4147-A177-3AD203B41FA5}">
                      <a16:colId xmlns:a16="http://schemas.microsoft.com/office/drawing/2014/main" val="3846582510"/>
                    </a:ext>
                  </a:extLst>
                </a:gridCol>
              </a:tblGrid>
              <a:tr h="344018">
                <a:tc gridSpan="4">
                  <a:txBody>
                    <a:bodyPr/>
                    <a:lstStyle/>
                    <a:p>
                      <a:pPr algn="ctr">
                        <a:lnSpc>
                          <a:spcPct val="130000"/>
                        </a:lnSpc>
                      </a:pPr>
                      <a:r>
                        <a:rPr lang="vi-VN" sz="1300">
                          <a:effectLst/>
                        </a:rPr>
                        <a:t>Bảng hệ hàng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48869250"/>
                  </a:ext>
                </a:extLst>
              </a:tr>
              <a:tr h="344018">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74778976"/>
                  </a:ext>
                </a:extLst>
              </a:tr>
              <a:tr h="349961">
                <a:tc>
                  <a:txBody>
                    <a:bodyPr/>
                    <a:lstStyle/>
                    <a:p>
                      <a:pPr algn="just">
                        <a:lnSpc>
                          <a:spcPct val="130000"/>
                        </a:lnSpc>
                      </a:pPr>
                      <a:r>
                        <a:rPr lang="en-US" sz="1300">
                          <a:effectLst/>
                        </a:rPr>
                        <a:t>MaKe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415803"/>
                  </a:ext>
                </a:extLst>
              </a:tr>
              <a:tr h="349961">
                <a:tc>
                  <a:txBody>
                    <a:bodyPr/>
                    <a:lstStyle/>
                    <a:p>
                      <a:pPr algn="just">
                        <a:lnSpc>
                          <a:spcPct val="130000"/>
                        </a:lnSpc>
                      </a:pPr>
                      <a:r>
                        <a:rPr lang="en-US" sz="1300">
                          <a:effectLst/>
                        </a:rPr>
                        <a:t>TenKe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92958999"/>
                  </a:ext>
                </a:extLst>
              </a:tr>
              <a:tr h="349961">
                <a:tc>
                  <a:txBody>
                    <a:bodyPr/>
                    <a:lstStyle/>
                    <a:p>
                      <a:pPr algn="just">
                        <a:lnSpc>
                          <a:spcPct val="130000"/>
                        </a:lnSpc>
                      </a:pPr>
                      <a:r>
                        <a:rPr lang="en-US" sz="1300">
                          <a:effectLst/>
                        </a:rPr>
                        <a:t>ViTri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Vị trí</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91490974"/>
                  </a:ext>
                </a:extLst>
              </a:tr>
              <a:tr h="349961">
                <a:tc>
                  <a:txBody>
                    <a:bodyPr/>
                    <a:lstStyle/>
                    <a:p>
                      <a:pPr algn="just">
                        <a:lnSpc>
                          <a:spcPct val="130000"/>
                        </a:lnSpc>
                      </a:pPr>
                      <a:r>
                        <a:rPr lang="en-US" sz="1300">
                          <a:effectLst/>
                        </a:rPr>
                        <a:t>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kho</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1292633"/>
                  </a:ext>
                </a:extLst>
              </a:tr>
            </a:tbl>
          </a:graphicData>
        </a:graphic>
      </p:graphicFrame>
    </p:spTree>
    <p:extLst>
      <p:ext uri="{BB962C8B-B14F-4D97-AF65-F5344CB8AC3E}">
        <p14:creationId xmlns:p14="http://schemas.microsoft.com/office/powerpoint/2010/main" val="2529314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5. </a:t>
            </a:r>
            <a:r>
              <a:rPr lang="en-US" sz="2500" dirty="0" err="1"/>
              <a:t>Bảng</a:t>
            </a:r>
            <a:r>
              <a:rPr lang="en-US" sz="2500" dirty="0"/>
              <a:t> </a:t>
            </a:r>
            <a:r>
              <a:rPr lang="en-US" sz="2500" dirty="0" err="1"/>
              <a:t>hàng</a:t>
            </a:r>
            <a:r>
              <a:rPr lang="en-US" sz="2500" dirty="0"/>
              <a:t> </a:t>
            </a:r>
            <a:r>
              <a:rPr lang="en-US" sz="2500" dirty="0" err="1"/>
              <a:t>hóa</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35</a:t>
            </a:fld>
            <a:endParaRPr lang="en-US"/>
          </a:p>
        </p:txBody>
      </p:sp>
      <p:graphicFrame>
        <p:nvGraphicFramePr>
          <p:cNvPr id="5" name="Table 4">
            <a:extLst>
              <a:ext uri="{FF2B5EF4-FFF2-40B4-BE49-F238E27FC236}">
                <a16:creationId xmlns:a16="http://schemas.microsoft.com/office/drawing/2014/main" id="{AF59D7CF-201C-5FF1-AC57-493C76852970}"/>
              </a:ext>
            </a:extLst>
          </p:cNvPr>
          <p:cNvGraphicFramePr>
            <a:graphicFrameLocks noGrp="1"/>
          </p:cNvGraphicFramePr>
          <p:nvPr>
            <p:extLst>
              <p:ext uri="{D42A27DB-BD31-4B8C-83A1-F6EECF244321}">
                <p14:modId xmlns:p14="http://schemas.microsoft.com/office/powerpoint/2010/main" val="2861905208"/>
              </p:ext>
            </p:extLst>
          </p:nvPr>
        </p:nvGraphicFramePr>
        <p:xfrm>
          <a:off x="3218814" y="1361440"/>
          <a:ext cx="6768465" cy="4188331"/>
        </p:xfrm>
        <a:graphic>
          <a:graphicData uri="http://schemas.openxmlformats.org/drawingml/2006/table">
            <a:tbl>
              <a:tblPr firstRow="1" firstCol="1" bandRow="1">
                <a:tableStyleId>{5C22544A-7EE6-4342-B048-85BDC9FD1C3A}</a:tableStyleId>
              </a:tblPr>
              <a:tblGrid>
                <a:gridCol w="1694730">
                  <a:extLst>
                    <a:ext uri="{9D8B030D-6E8A-4147-A177-3AD203B41FA5}">
                      <a16:colId xmlns:a16="http://schemas.microsoft.com/office/drawing/2014/main" val="1179807645"/>
                    </a:ext>
                  </a:extLst>
                </a:gridCol>
                <a:gridCol w="1729835">
                  <a:extLst>
                    <a:ext uri="{9D8B030D-6E8A-4147-A177-3AD203B41FA5}">
                      <a16:colId xmlns:a16="http://schemas.microsoft.com/office/drawing/2014/main" val="3478625952"/>
                    </a:ext>
                  </a:extLst>
                </a:gridCol>
                <a:gridCol w="1682033">
                  <a:extLst>
                    <a:ext uri="{9D8B030D-6E8A-4147-A177-3AD203B41FA5}">
                      <a16:colId xmlns:a16="http://schemas.microsoft.com/office/drawing/2014/main" val="1743949582"/>
                    </a:ext>
                  </a:extLst>
                </a:gridCol>
                <a:gridCol w="1661867">
                  <a:extLst>
                    <a:ext uri="{9D8B030D-6E8A-4147-A177-3AD203B41FA5}">
                      <a16:colId xmlns:a16="http://schemas.microsoft.com/office/drawing/2014/main" val="1386584011"/>
                    </a:ext>
                  </a:extLst>
                </a:gridCol>
              </a:tblGrid>
              <a:tr h="317539">
                <a:tc gridSpan="4">
                  <a:txBody>
                    <a:bodyPr/>
                    <a:lstStyle/>
                    <a:p>
                      <a:pPr algn="ctr">
                        <a:lnSpc>
                          <a:spcPct val="130000"/>
                        </a:lnSpc>
                      </a:pPr>
                      <a:r>
                        <a:rPr lang="vi-VN" sz="1300">
                          <a:effectLst/>
                        </a:rPr>
                        <a:t>Bảng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1495350"/>
                  </a:ext>
                </a:extLst>
              </a:tr>
              <a:tr h="317539">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34334642"/>
                  </a:ext>
                </a:extLst>
              </a:tr>
              <a:tr h="323023">
                <a:tc>
                  <a:txBody>
                    <a:bodyPr/>
                    <a:lstStyle/>
                    <a:p>
                      <a:pPr algn="just">
                        <a:lnSpc>
                          <a:spcPct val="130000"/>
                        </a:lnSpc>
                      </a:pPr>
                      <a:r>
                        <a:rPr lang="en-US" sz="1300">
                          <a:effectLst/>
                        </a:rPr>
                        <a:t>MaHangHoa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30471120"/>
                  </a:ext>
                </a:extLst>
              </a:tr>
              <a:tr h="323023">
                <a:tc>
                  <a:txBody>
                    <a:bodyPr/>
                    <a:lstStyle/>
                    <a:p>
                      <a:pPr algn="just">
                        <a:lnSpc>
                          <a:spcPct val="130000"/>
                        </a:lnSpc>
                      </a:pPr>
                      <a:r>
                        <a:rPr lang="en-US" sz="1300">
                          <a:effectLst/>
                        </a:rPr>
                        <a:t>TenHangHoa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66295295"/>
                  </a:ext>
                </a:extLst>
              </a:tr>
              <a:tr h="323023">
                <a:tc>
                  <a:txBody>
                    <a:bodyPr/>
                    <a:lstStyle/>
                    <a:p>
                      <a:pPr algn="just">
                        <a:lnSpc>
                          <a:spcPct val="130000"/>
                        </a:lnSpc>
                      </a:pPr>
                      <a:r>
                        <a:rPr lang="en-US" sz="1300">
                          <a:effectLst/>
                        </a:rPr>
                        <a:t>DonViTinh</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Đơn vị tính</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26610303"/>
                  </a:ext>
                </a:extLst>
              </a:tr>
              <a:tr h="323023">
                <a:tc>
                  <a:txBody>
                    <a:bodyPr/>
                    <a:lstStyle/>
                    <a:p>
                      <a:pPr algn="just">
                        <a:lnSpc>
                          <a:spcPct val="130000"/>
                        </a:lnSpc>
                      </a:pPr>
                      <a:r>
                        <a:rPr lang="en-US" sz="1300">
                          <a:effectLst/>
                        </a:rPr>
                        <a:t> SoLuong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Số lượng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29621983"/>
                  </a:ext>
                </a:extLst>
              </a:tr>
              <a:tr h="323023">
                <a:tc>
                  <a:txBody>
                    <a:bodyPr/>
                    <a:lstStyle/>
                    <a:p>
                      <a:pPr algn="just">
                        <a:lnSpc>
                          <a:spcPct val="130000"/>
                        </a:lnSpc>
                      </a:pPr>
                      <a:r>
                        <a:rPr lang="en-US" sz="1300">
                          <a:effectLst/>
                        </a:rPr>
                        <a:t> MaKe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8960164"/>
                  </a:ext>
                </a:extLst>
              </a:tr>
              <a:tr h="323023">
                <a:tc>
                  <a:txBody>
                    <a:bodyPr/>
                    <a:lstStyle/>
                    <a:p>
                      <a:pPr algn="just">
                        <a:lnSpc>
                          <a:spcPct val="130000"/>
                        </a:lnSpc>
                      </a:pPr>
                      <a:r>
                        <a:rPr lang="en-US" sz="1300">
                          <a:effectLst/>
                        </a:rPr>
                        <a:t>KichThuoc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Kích thước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24508732"/>
                  </a:ext>
                </a:extLst>
              </a:tr>
              <a:tr h="323023">
                <a:tc>
                  <a:txBody>
                    <a:bodyPr/>
                    <a:lstStyle/>
                    <a:p>
                      <a:pPr algn="just">
                        <a:lnSpc>
                          <a:spcPct val="130000"/>
                        </a:lnSpc>
                      </a:pPr>
                      <a:r>
                        <a:rPr lang="en-US" sz="1300">
                          <a:effectLst/>
                        </a:rPr>
                        <a:t>MauSac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Màu sắc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14800537"/>
                  </a:ext>
                </a:extLst>
              </a:tr>
              <a:tr h="323023">
                <a:tc>
                  <a:txBody>
                    <a:bodyPr/>
                    <a:lstStyle/>
                    <a:p>
                      <a:pPr algn="just">
                        <a:lnSpc>
                          <a:spcPct val="130000"/>
                        </a:lnSpc>
                      </a:pPr>
                      <a:r>
                        <a:rPr lang="en-US" sz="1300">
                          <a:effectLst/>
                        </a:rPr>
                        <a:t>ChatLieu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Chất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2011759"/>
                  </a:ext>
                </a:extLst>
              </a:tr>
              <a:tr h="323023">
                <a:tc>
                  <a:txBody>
                    <a:bodyPr/>
                    <a:lstStyle/>
                    <a:p>
                      <a:pPr algn="just">
                        <a:lnSpc>
                          <a:spcPct val="130000"/>
                        </a:lnSpc>
                      </a:pPr>
                      <a:r>
                        <a:rPr lang="en-US" sz="1300">
                          <a:effectLst/>
                        </a:rPr>
                        <a:t>ThuongHieu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Thương hiệu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41931166"/>
                  </a:ext>
                </a:extLst>
              </a:tr>
              <a:tr h="323023">
                <a:tc>
                  <a:txBody>
                    <a:bodyPr/>
                    <a:lstStyle/>
                    <a:p>
                      <a:pPr algn="just">
                        <a:lnSpc>
                          <a:spcPct val="130000"/>
                        </a:lnSpc>
                      </a:pPr>
                      <a:r>
                        <a:rPr lang="en-US" sz="1300">
                          <a:effectLst/>
                        </a:rPr>
                        <a:t> XuatXu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Xuất xứ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47972411"/>
                  </a:ext>
                </a:extLst>
              </a:tr>
              <a:tr h="323023">
                <a:tc>
                  <a:txBody>
                    <a:bodyPr/>
                    <a:lstStyle/>
                    <a:p>
                      <a:pPr algn="just">
                        <a:lnSpc>
                          <a:spcPct val="130000"/>
                        </a:lnSpc>
                      </a:pPr>
                      <a:r>
                        <a:rPr lang="en-US" sz="1300">
                          <a:effectLst/>
                        </a:rPr>
                        <a:t>GhiChu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Ghi chú </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65682067"/>
                  </a:ext>
                </a:extLst>
              </a:tr>
            </a:tbl>
          </a:graphicData>
        </a:graphic>
      </p:graphicFrame>
    </p:spTree>
    <p:extLst>
      <p:ext uri="{BB962C8B-B14F-4D97-AF65-F5344CB8AC3E}">
        <p14:creationId xmlns:p14="http://schemas.microsoft.com/office/powerpoint/2010/main" val="3381655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6. </a:t>
            </a:r>
            <a:r>
              <a:rPr lang="en-US" sz="2500" dirty="0" err="1"/>
              <a:t>Bảng</a:t>
            </a:r>
            <a:r>
              <a:rPr lang="en-US" sz="2500" dirty="0"/>
              <a:t> </a:t>
            </a:r>
            <a:r>
              <a:rPr lang="en-US" sz="2500" dirty="0" err="1"/>
              <a:t>phiếu</a:t>
            </a:r>
            <a:r>
              <a:rPr lang="en-US" sz="2500" dirty="0"/>
              <a:t> </a:t>
            </a:r>
            <a:r>
              <a:rPr lang="en-US" sz="2500" dirty="0" err="1"/>
              <a:t>nhập</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36</a:t>
            </a:fld>
            <a:endParaRPr lang="en-US"/>
          </a:p>
        </p:txBody>
      </p:sp>
      <p:graphicFrame>
        <p:nvGraphicFramePr>
          <p:cNvPr id="5" name="Table 4">
            <a:extLst>
              <a:ext uri="{FF2B5EF4-FFF2-40B4-BE49-F238E27FC236}">
                <a16:creationId xmlns:a16="http://schemas.microsoft.com/office/drawing/2014/main" id="{C61623D4-EAE4-7AA0-18C4-36FED452CDE0}"/>
              </a:ext>
            </a:extLst>
          </p:cNvPr>
          <p:cNvGraphicFramePr>
            <a:graphicFrameLocks noGrp="1"/>
          </p:cNvGraphicFramePr>
          <p:nvPr>
            <p:extLst>
              <p:ext uri="{D42A27DB-BD31-4B8C-83A1-F6EECF244321}">
                <p14:modId xmlns:p14="http://schemas.microsoft.com/office/powerpoint/2010/main" val="781927213"/>
              </p:ext>
            </p:extLst>
          </p:nvPr>
        </p:nvGraphicFramePr>
        <p:xfrm>
          <a:off x="3218814" y="1513840"/>
          <a:ext cx="7032625" cy="3187256"/>
        </p:xfrm>
        <a:graphic>
          <a:graphicData uri="http://schemas.openxmlformats.org/drawingml/2006/table">
            <a:tbl>
              <a:tblPr firstRow="1" firstCol="1" bandRow="1">
                <a:tableStyleId>{5C22544A-7EE6-4342-B048-85BDC9FD1C3A}</a:tableStyleId>
              </a:tblPr>
              <a:tblGrid>
                <a:gridCol w="1782602">
                  <a:extLst>
                    <a:ext uri="{9D8B030D-6E8A-4147-A177-3AD203B41FA5}">
                      <a16:colId xmlns:a16="http://schemas.microsoft.com/office/drawing/2014/main" val="3367494522"/>
                    </a:ext>
                  </a:extLst>
                </a:gridCol>
                <a:gridCol w="1780274">
                  <a:extLst>
                    <a:ext uri="{9D8B030D-6E8A-4147-A177-3AD203B41FA5}">
                      <a16:colId xmlns:a16="http://schemas.microsoft.com/office/drawing/2014/main" val="3662990134"/>
                    </a:ext>
                  </a:extLst>
                </a:gridCol>
                <a:gridCol w="1751560">
                  <a:extLst>
                    <a:ext uri="{9D8B030D-6E8A-4147-A177-3AD203B41FA5}">
                      <a16:colId xmlns:a16="http://schemas.microsoft.com/office/drawing/2014/main" val="3944991082"/>
                    </a:ext>
                  </a:extLst>
                </a:gridCol>
                <a:gridCol w="1718189">
                  <a:extLst>
                    <a:ext uri="{9D8B030D-6E8A-4147-A177-3AD203B41FA5}">
                      <a16:colId xmlns:a16="http://schemas.microsoft.com/office/drawing/2014/main" val="2477379656"/>
                    </a:ext>
                  </a:extLst>
                </a:gridCol>
              </a:tblGrid>
              <a:tr h="436517">
                <a:tc gridSpan="4">
                  <a:txBody>
                    <a:bodyPr/>
                    <a:lstStyle/>
                    <a:p>
                      <a:pPr algn="ctr">
                        <a:lnSpc>
                          <a:spcPct val="130000"/>
                        </a:lnSpc>
                      </a:pPr>
                      <a:r>
                        <a:rPr lang="vi-VN" sz="1300">
                          <a:effectLst/>
                        </a:rPr>
                        <a:t>Bảng 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401462"/>
                  </a:ext>
                </a:extLst>
              </a:tr>
              <a:tr h="436517">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47404049"/>
                  </a:ext>
                </a:extLst>
              </a:tr>
              <a:tr h="444056">
                <a:tc>
                  <a:txBody>
                    <a:bodyPr/>
                    <a:lstStyle/>
                    <a:p>
                      <a:pPr algn="just">
                        <a:lnSpc>
                          <a:spcPct val="130000"/>
                        </a:lnSpc>
                      </a:pPr>
                      <a:r>
                        <a:rPr lang="en-US" sz="1300">
                          <a:effectLst/>
                        </a:rPr>
                        <a:t>MaPhieuNhap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nhập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1698549"/>
                  </a:ext>
                </a:extLst>
              </a:tr>
              <a:tr h="444056">
                <a:tc>
                  <a:txBody>
                    <a:bodyPr/>
                    <a:lstStyle/>
                    <a:p>
                      <a:pPr algn="just">
                        <a:lnSpc>
                          <a:spcPct val="130000"/>
                        </a:lnSpc>
                      </a:pPr>
                      <a:r>
                        <a:rPr lang="en-US" sz="1300">
                          <a:effectLst/>
                        </a:rPr>
                        <a:t>NgayNhap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DATE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Ngày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2777951"/>
                  </a:ext>
                </a:extLst>
              </a:tr>
              <a:tr h="444056">
                <a:tc>
                  <a:txBody>
                    <a:bodyPr/>
                    <a:lstStyle/>
                    <a:p>
                      <a:pPr algn="just">
                        <a:lnSpc>
                          <a:spcPct val="130000"/>
                        </a:lnSpc>
                      </a:pPr>
                      <a:r>
                        <a:rPr lang="en-US" sz="1300">
                          <a:effectLst/>
                        </a:rPr>
                        <a:t>MaNhanVien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0689211"/>
                  </a:ext>
                </a:extLst>
              </a:tr>
              <a:tr h="537998">
                <a:tc>
                  <a:txBody>
                    <a:bodyPr/>
                    <a:lstStyle/>
                    <a:p>
                      <a:pPr algn="just">
                        <a:lnSpc>
                          <a:spcPct val="130000"/>
                        </a:lnSpc>
                      </a:pPr>
                      <a:r>
                        <a:rPr lang="en-US" sz="1300">
                          <a:effectLst/>
                        </a:rPr>
                        <a:t>MaNhaCungCap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FOREIGN KEY</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2547676"/>
                  </a:ext>
                </a:extLst>
              </a:tr>
              <a:tr h="444056">
                <a:tc>
                  <a:txBody>
                    <a:bodyPr/>
                    <a:lstStyle/>
                    <a:p>
                      <a:pPr algn="just">
                        <a:lnSpc>
                          <a:spcPct val="130000"/>
                        </a:lnSpc>
                      </a:pPr>
                      <a:r>
                        <a:rPr lang="en-US" sz="1300">
                          <a:effectLst/>
                        </a:rPr>
                        <a:t> 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kho</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54653103"/>
                  </a:ext>
                </a:extLst>
              </a:tr>
            </a:tbl>
          </a:graphicData>
        </a:graphic>
      </p:graphicFrame>
    </p:spTree>
    <p:extLst>
      <p:ext uri="{BB962C8B-B14F-4D97-AF65-F5344CB8AC3E}">
        <p14:creationId xmlns:p14="http://schemas.microsoft.com/office/powerpoint/2010/main" val="3277882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7. </a:t>
            </a:r>
            <a:r>
              <a:rPr lang="en-US" sz="2500" dirty="0" err="1"/>
              <a:t>Bảng</a:t>
            </a:r>
            <a:r>
              <a:rPr lang="en-US" sz="2500" dirty="0"/>
              <a:t> chi </a:t>
            </a:r>
            <a:r>
              <a:rPr lang="en-US" sz="2500" dirty="0" err="1"/>
              <a:t>tiết</a:t>
            </a:r>
            <a:r>
              <a:rPr lang="en-US" sz="2500" dirty="0"/>
              <a:t> </a:t>
            </a:r>
            <a:r>
              <a:rPr lang="en-US" sz="2500" dirty="0" err="1"/>
              <a:t>phiếu</a:t>
            </a:r>
            <a:r>
              <a:rPr lang="en-US" sz="2500" dirty="0"/>
              <a:t> </a:t>
            </a:r>
            <a:r>
              <a:rPr lang="en-US" sz="2500" dirty="0" err="1"/>
              <a:t>nhập</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37</a:t>
            </a:fld>
            <a:endParaRPr lang="en-US"/>
          </a:p>
        </p:txBody>
      </p:sp>
      <p:graphicFrame>
        <p:nvGraphicFramePr>
          <p:cNvPr id="5" name="Table 4">
            <a:extLst>
              <a:ext uri="{FF2B5EF4-FFF2-40B4-BE49-F238E27FC236}">
                <a16:creationId xmlns:a16="http://schemas.microsoft.com/office/drawing/2014/main" id="{328E8E74-B3EB-4084-703A-11FEDD33DCEC}"/>
              </a:ext>
            </a:extLst>
          </p:cNvPr>
          <p:cNvGraphicFramePr>
            <a:graphicFrameLocks noGrp="1"/>
          </p:cNvGraphicFramePr>
          <p:nvPr>
            <p:extLst>
              <p:ext uri="{D42A27DB-BD31-4B8C-83A1-F6EECF244321}">
                <p14:modId xmlns:p14="http://schemas.microsoft.com/office/powerpoint/2010/main" val="910973051"/>
              </p:ext>
            </p:extLst>
          </p:nvPr>
        </p:nvGraphicFramePr>
        <p:xfrm>
          <a:off x="3218814" y="1402080"/>
          <a:ext cx="6961505" cy="3309590"/>
        </p:xfrm>
        <a:graphic>
          <a:graphicData uri="http://schemas.openxmlformats.org/drawingml/2006/table">
            <a:tbl>
              <a:tblPr firstRow="1" firstCol="1" bandRow="1">
                <a:tableStyleId>{5C22544A-7EE6-4342-B048-85BDC9FD1C3A}</a:tableStyleId>
              </a:tblPr>
              <a:tblGrid>
                <a:gridCol w="1753052">
                  <a:extLst>
                    <a:ext uri="{9D8B030D-6E8A-4147-A177-3AD203B41FA5}">
                      <a16:colId xmlns:a16="http://schemas.microsoft.com/office/drawing/2014/main" val="2313810856"/>
                    </a:ext>
                  </a:extLst>
                </a:gridCol>
                <a:gridCol w="1763807">
                  <a:extLst>
                    <a:ext uri="{9D8B030D-6E8A-4147-A177-3AD203B41FA5}">
                      <a16:colId xmlns:a16="http://schemas.microsoft.com/office/drawing/2014/main" val="3861453557"/>
                    </a:ext>
                  </a:extLst>
                </a:gridCol>
                <a:gridCol w="1736919">
                  <a:extLst>
                    <a:ext uri="{9D8B030D-6E8A-4147-A177-3AD203B41FA5}">
                      <a16:colId xmlns:a16="http://schemas.microsoft.com/office/drawing/2014/main" val="3877087198"/>
                    </a:ext>
                  </a:extLst>
                </a:gridCol>
                <a:gridCol w="1707727">
                  <a:extLst>
                    <a:ext uri="{9D8B030D-6E8A-4147-A177-3AD203B41FA5}">
                      <a16:colId xmlns:a16="http://schemas.microsoft.com/office/drawing/2014/main" val="1496417203"/>
                    </a:ext>
                  </a:extLst>
                </a:gridCol>
              </a:tblGrid>
              <a:tr h="545319">
                <a:tc gridSpan="4">
                  <a:txBody>
                    <a:bodyPr/>
                    <a:lstStyle/>
                    <a:p>
                      <a:pPr algn="ctr">
                        <a:lnSpc>
                          <a:spcPct val="130000"/>
                        </a:lnSpc>
                      </a:pPr>
                      <a:r>
                        <a:rPr lang="vi-VN" sz="1300">
                          <a:effectLst/>
                        </a:rPr>
                        <a:t>Bảng 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1166493"/>
                  </a:ext>
                </a:extLst>
              </a:tr>
              <a:tr h="545319">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92804016"/>
                  </a:ext>
                </a:extLst>
              </a:tr>
              <a:tr h="554738">
                <a:tc>
                  <a:txBody>
                    <a:bodyPr/>
                    <a:lstStyle/>
                    <a:p>
                      <a:pPr algn="just">
                        <a:lnSpc>
                          <a:spcPct val="130000"/>
                        </a:lnSpc>
                      </a:pPr>
                      <a:r>
                        <a:rPr lang="en-US" sz="1300">
                          <a:effectLst/>
                        </a:rPr>
                        <a:t>MaChiTiet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96656257"/>
                  </a:ext>
                </a:extLst>
              </a:tr>
              <a:tr h="554738">
                <a:tc>
                  <a:txBody>
                    <a:bodyPr/>
                    <a:lstStyle/>
                    <a:p>
                      <a:pPr algn="just">
                        <a:lnSpc>
                          <a:spcPct val="130000"/>
                        </a:lnSpc>
                      </a:pPr>
                      <a:r>
                        <a:rPr lang="en-US" sz="1300">
                          <a:effectLst/>
                        </a:rPr>
                        <a:t>MaPhieuNhap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2054596"/>
                  </a:ext>
                </a:extLst>
              </a:tr>
              <a:tr h="554738">
                <a:tc>
                  <a:txBody>
                    <a:bodyPr/>
                    <a:lstStyle/>
                    <a:p>
                      <a:pPr algn="just">
                        <a:lnSpc>
                          <a:spcPct val="130000"/>
                        </a:lnSpc>
                      </a:pPr>
                      <a:r>
                        <a:rPr lang="en-US" sz="1300">
                          <a:effectLst/>
                        </a:rPr>
                        <a:t>MaHangHoa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9265025"/>
                  </a:ext>
                </a:extLst>
              </a:tr>
              <a:tr h="554738">
                <a:tc>
                  <a:txBody>
                    <a:bodyPr/>
                    <a:lstStyle/>
                    <a:p>
                      <a:pPr algn="just">
                        <a:lnSpc>
                          <a:spcPct val="130000"/>
                        </a:lnSpc>
                      </a:pPr>
                      <a:r>
                        <a:rPr lang="en-US" sz="1300">
                          <a:effectLst/>
                        </a:rPr>
                        <a:t>SoLuong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Số lượng nhập</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83600341"/>
                  </a:ext>
                </a:extLst>
              </a:tr>
            </a:tbl>
          </a:graphicData>
        </a:graphic>
      </p:graphicFrame>
    </p:spTree>
    <p:extLst>
      <p:ext uri="{BB962C8B-B14F-4D97-AF65-F5344CB8AC3E}">
        <p14:creationId xmlns:p14="http://schemas.microsoft.com/office/powerpoint/2010/main" val="1239630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8. </a:t>
            </a:r>
            <a:r>
              <a:rPr lang="en-US" sz="2500" dirty="0" err="1"/>
              <a:t>Bảng</a:t>
            </a:r>
            <a:r>
              <a:rPr lang="en-US" sz="2500" dirty="0"/>
              <a:t> </a:t>
            </a:r>
            <a:r>
              <a:rPr lang="en-US" sz="2500" dirty="0" err="1"/>
              <a:t>phiếu</a:t>
            </a:r>
            <a:r>
              <a:rPr lang="en-US" sz="2500" dirty="0"/>
              <a:t> </a:t>
            </a:r>
            <a:r>
              <a:rPr lang="en-US" sz="2500" dirty="0" err="1"/>
              <a:t>xuất</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38</a:t>
            </a:fld>
            <a:endParaRPr lang="en-US"/>
          </a:p>
        </p:txBody>
      </p:sp>
      <p:graphicFrame>
        <p:nvGraphicFramePr>
          <p:cNvPr id="5" name="Table 4">
            <a:extLst>
              <a:ext uri="{FF2B5EF4-FFF2-40B4-BE49-F238E27FC236}">
                <a16:creationId xmlns:a16="http://schemas.microsoft.com/office/drawing/2014/main" id="{EFEBCFAC-34AA-0015-1F22-ADE2BEDBDFFD}"/>
              </a:ext>
            </a:extLst>
          </p:cNvPr>
          <p:cNvGraphicFramePr>
            <a:graphicFrameLocks noGrp="1"/>
          </p:cNvGraphicFramePr>
          <p:nvPr>
            <p:extLst>
              <p:ext uri="{D42A27DB-BD31-4B8C-83A1-F6EECF244321}">
                <p14:modId xmlns:p14="http://schemas.microsoft.com/office/powerpoint/2010/main" val="2190330574"/>
              </p:ext>
            </p:extLst>
          </p:nvPr>
        </p:nvGraphicFramePr>
        <p:xfrm>
          <a:off x="3218814" y="1341120"/>
          <a:ext cx="7520306" cy="3370550"/>
        </p:xfrm>
        <a:graphic>
          <a:graphicData uri="http://schemas.openxmlformats.org/drawingml/2006/table">
            <a:tbl>
              <a:tblPr firstRow="1" firstCol="1" bandRow="1">
                <a:tableStyleId>{5C22544A-7EE6-4342-B048-85BDC9FD1C3A}</a:tableStyleId>
              </a:tblPr>
              <a:tblGrid>
                <a:gridCol w="1891280">
                  <a:extLst>
                    <a:ext uri="{9D8B030D-6E8A-4147-A177-3AD203B41FA5}">
                      <a16:colId xmlns:a16="http://schemas.microsoft.com/office/drawing/2014/main" val="383584947"/>
                    </a:ext>
                  </a:extLst>
                </a:gridCol>
                <a:gridCol w="1905387">
                  <a:extLst>
                    <a:ext uri="{9D8B030D-6E8A-4147-A177-3AD203B41FA5}">
                      <a16:colId xmlns:a16="http://schemas.microsoft.com/office/drawing/2014/main" val="120767185"/>
                    </a:ext>
                  </a:extLst>
                </a:gridCol>
                <a:gridCol w="1878002">
                  <a:extLst>
                    <a:ext uri="{9D8B030D-6E8A-4147-A177-3AD203B41FA5}">
                      <a16:colId xmlns:a16="http://schemas.microsoft.com/office/drawing/2014/main" val="3920067403"/>
                    </a:ext>
                  </a:extLst>
                </a:gridCol>
                <a:gridCol w="1845637">
                  <a:extLst>
                    <a:ext uri="{9D8B030D-6E8A-4147-A177-3AD203B41FA5}">
                      <a16:colId xmlns:a16="http://schemas.microsoft.com/office/drawing/2014/main" val="573993546"/>
                    </a:ext>
                  </a:extLst>
                </a:gridCol>
              </a:tblGrid>
              <a:tr h="555363">
                <a:tc gridSpan="4">
                  <a:txBody>
                    <a:bodyPr/>
                    <a:lstStyle/>
                    <a:p>
                      <a:pPr algn="ctr">
                        <a:lnSpc>
                          <a:spcPct val="130000"/>
                        </a:lnSpc>
                      </a:pPr>
                      <a:r>
                        <a:rPr lang="vi-VN" sz="1300">
                          <a:effectLst/>
                        </a:rPr>
                        <a:t>Bảng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23058126"/>
                  </a:ext>
                </a:extLst>
              </a:tr>
              <a:tr h="555363">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55188114"/>
                  </a:ext>
                </a:extLst>
              </a:tr>
              <a:tr h="564956">
                <a:tc>
                  <a:txBody>
                    <a:bodyPr/>
                    <a:lstStyle/>
                    <a:p>
                      <a:pPr algn="just">
                        <a:lnSpc>
                          <a:spcPct val="130000"/>
                        </a:lnSpc>
                      </a:pPr>
                      <a:r>
                        <a:rPr lang="en-US" sz="1300">
                          <a:effectLst/>
                        </a:rPr>
                        <a:t>MaPhieuXuat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09687542"/>
                  </a:ext>
                </a:extLst>
              </a:tr>
              <a:tr h="564956">
                <a:tc>
                  <a:txBody>
                    <a:bodyPr/>
                    <a:lstStyle/>
                    <a:p>
                      <a:pPr algn="just">
                        <a:lnSpc>
                          <a:spcPct val="130000"/>
                        </a:lnSpc>
                      </a:pPr>
                      <a:r>
                        <a:rPr lang="en-US" sz="1300">
                          <a:effectLst/>
                        </a:rPr>
                        <a:t>NgayXuat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DATE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Ngày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29521195"/>
                  </a:ext>
                </a:extLst>
              </a:tr>
              <a:tr h="564956">
                <a:tc>
                  <a:txBody>
                    <a:bodyPr/>
                    <a:lstStyle/>
                    <a:p>
                      <a:pPr algn="just">
                        <a:lnSpc>
                          <a:spcPct val="130000"/>
                        </a:lnSpc>
                      </a:pPr>
                      <a:r>
                        <a:rPr lang="en-US" sz="1300">
                          <a:effectLst/>
                        </a:rPr>
                        <a:t>MaNhanVien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nhân viên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0831848"/>
                  </a:ext>
                </a:extLst>
              </a:tr>
              <a:tr h="564956">
                <a:tc>
                  <a:txBody>
                    <a:bodyPr/>
                    <a:lstStyle/>
                    <a:p>
                      <a:pPr algn="just">
                        <a:lnSpc>
                          <a:spcPct val="130000"/>
                        </a:lnSpc>
                      </a:pPr>
                      <a:r>
                        <a:rPr lang="en-US" sz="1300">
                          <a:effectLst/>
                        </a:rPr>
                        <a:t>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kho</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1250494"/>
                  </a:ext>
                </a:extLst>
              </a:tr>
            </a:tbl>
          </a:graphicData>
        </a:graphic>
      </p:graphicFrame>
    </p:spTree>
    <p:extLst>
      <p:ext uri="{BB962C8B-B14F-4D97-AF65-F5344CB8AC3E}">
        <p14:creationId xmlns:p14="http://schemas.microsoft.com/office/powerpoint/2010/main" val="554881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9. </a:t>
            </a:r>
            <a:r>
              <a:rPr lang="en-US" sz="2500" dirty="0" err="1"/>
              <a:t>Bảng</a:t>
            </a:r>
            <a:r>
              <a:rPr lang="en-US" sz="2500" dirty="0"/>
              <a:t> chi </a:t>
            </a:r>
            <a:r>
              <a:rPr lang="en-US" sz="2500" dirty="0" err="1"/>
              <a:t>tiết</a:t>
            </a:r>
            <a:r>
              <a:rPr lang="en-US" sz="2500" dirty="0"/>
              <a:t> </a:t>
            </a:r>
            <a:r>
              <a:rPr lang="en-US" sz="2500" dirty="0" err="1"/>
              <a:t>phiếu</a:t>
            </a:r>
            <a:r>
              <a:rPr lang="en-US" sz="2500" dirty="0"/>
              <a:t> </a:t>
            </a:r>
            <a:r>
              <a:rPr lang="en-US" sz="2500" dirty="0" err="1"/>
              <a:t>xuất</a:t>
            </a: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39</a:t>
            </a:fld>
            <a:endParaRPr lang="en-US"/>
          </a:p>
        </p:txBody>
      </p:sp>
      <p:graphicFrame>
        <p:nvGraphicFramePr>
          <p:cNvPr id="5" name="Table 4">
            <a:extLst>
              <a:ext uri="{FF2B5EF4-FFF2-40B4-BE49-F238E27FC236}">
                <a16:creationId xmlns:a16="http://schemas.microsoft.com/office/drawing/2014/main" id="{EED22E1D-26A5-E6CA-4D49-2E9D446F862B}"/>
              </a:ext>
            </a:extLst>
          </p:cNvPr>
          <p:cNvGraphicFramePr>
            <a:graphicFrameLocks noGrp="1"/>
          </p:cNvGraphicFramePr>
          <p:nvPr>
            <p:extLst>
              <p:ext uri="{D42A27DB-BD31-4B8C-83A1-F6EECF244321}">
                <p14:modId xmlns:p14="http://schemas.microsoft.com/office/powerpoint/2010/main" val="1577803801"/>
              </p:ext>
            </p:extLst>
          </p:nvPr>
        </p:nvGraphicFramePr>
        <p:xfrm>
          <a:off x="3218814" y="1381760"/>
          <a:ext cx="7276465" cy="3329910"/>
        </p:xfrm>
        <a:graphic>
          <a:graphicData uri="http://schemas.openxmlformats.org/drawingml/2006/table">
            <a:tbl>
              <a:tblPr firstRow="1" firstCol="1" bandRow="1">
                <a:tableStyleId>{5C22544A-7EE6-4342-B048-85BDC9FD1C3A}</a:tableStyleId>
              </a:tblPr>
              <a:tblGrid>
                <a:gridCol w="1829956">
                  <a:extLst>
                    <a:ext uri="{9D8B030D-6E8A-4147-A177-3AD203B41FA5}">
                      <a16:colId xmlns:a16="http://schemas.microsoft.com/office/drawing/2014/main" val="3018421038"/>
                    </a:ext>
                  </a:extLst>
                </a:gridCol>
                <a:gridCol w="1843607">
                  <a:extLst>
                    <a:ext uri="{9D8B030D-6E8A-4147-A177-3AD203B41FA5}">
                      <a16:colId xmlns:a16="http://schemas.microsoft.com/office/drawing/2014/main" val="3544099988"/>
                    </a:ext>
                  </a:extLst>
                </a:gridCol>
                <a:gridCol w="1816306">
                  <a:extLst>
                    <a:ext uri="{9D8B030D-6E8A-4147-A177-3AD203B41FA5}">
                      <a16:colId xmlns:a16="http://schemas.microsoft.com/office/drawing/2014/main" val="3670802739"/>
                    </a:ext>
                  </a:extLst>
                </a:gridCol>
                <a:gridCol w="1786596">
                  <a:extLst>
                    <a:ext uri="{9D8B030D-6E8A-4147-A177-3AD203B41FA5}">
                      <a16:colId xmlns:a16="http://schemas.microsoft.com/office/drawing/2014/main" val="4019624256"/>
                    </a:ext>
                  </a:extLst>
                </a:gridCol>
              </a:tblGrid>
              <a:tr h="548667">
                <a:tc gridSpan="4">
                  <a:txBody>
                    <a:bodyPr/>
                    <a:lstStyle/>
                    <a:p>
                      <a:pPr algn="ctr">
                        <a:lnSpc>
                          <a:spcPct val="130000"/>
                        </a:lnSpc>
                      </a:pPr>
                      <a:r>
                        <a:rPr lang="vi-VN" sz="1300">
                          <a:effectLst/>
                        </a:rPr>
                        <a:t>Bảng chi tiết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55722816"/>
                  </a:ext>
                </a:extLst>
              </a:tr>
              <a:tr h="548667">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1231504"/>
                  </a:ext>
                </a:extLst>
              </a:tr>
              <a:tr h="558144">
                <a:tc>
                  <a:txBody>
                    <a:bodyPr/>
                    <a:lstStyle/>
                    <a:p>
                      <a:pPr algn="just">
                        <a:lnSpc>
                          <a:spcPct val="130000"/>
                        </a:lnSpc>
                      </a:pPr>
                      <a:r>
                        <a:rPr lang="en-US" sz="1300">
                          <a:effectLst/>
                        </a:rPr>
                        <a:t>MaChiTiet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chi tiết xuất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37072559"/>
                  </a:ext>
                </a:extLst>
              </a:tr>
              <a:tr h="558144">
                <a:tc>
                  <a:txBody>
                    <a:bodyPr/>
                    <a:lstStyle/>
                    <a:p>
                      <a:pPr algn="just">
                        <a:lnSpc>
                          <a:spcPct val="130000"/>
                        </a:lnSpc>
                      </a:pPr>
                      <a:r>
                        <a:rPr lang="en-US" sz="1300">
                          <a:effectLst/>
                        </a:rPr>
                        <a:t>MaPhieuXuat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5884232"/>
                  </a:ext>
                </a:extLst>
              </a:tr>
              <a:tr h="558144">
                <a:tc>
                  <a:txBody>
                    <a:bodyPr/>
                    <a:lstStyle/>
                    <a:p>
                      <a:pPr algn="just">
                        <a:lnSpc>
                          <a:spcPct val="130000"/>
                        </a:lnSpc>
                      </a:pPr>
                      <a:r>
                        <a:rPr lang="en-US" sz="1300">
                          <a:effectLst/>
                        </a:rPr>
                        <a:t>MaHangHoa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20191233"/>
                  </a:ext>
                </a:extLst>
              </a:tr>
              <a:tr h="558144">
                <a:tc>
                  <a:txBody>
                    <a:bodyPr/>
                    <a:lstStyle/>
                    <a:p>
                      <a:pPr algn="just">
                        <a:lnSpc>
                          <a:spcPct val="130000"/>
                        </a:lnSpc>
                      </a:pPr>
                      <a:r>
                        <a:rPr lang="en-US" sz="1300">
                          <a:effectLst/>
                        </a:rPr>
                        <a:t>SoLuong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Số lượng xuất</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9330329"/>
                  </a:ext>
                </a:extLst>
              </a:tr>
            </a:tbl>
          </a:graphicData>
        </a:graphic>
      </p:graphicFrame>
    </p:spTree>
    <p:extLst>
      <p:ext uri="{BB962C8B-B14F-4D97-AF65-F5344CB8AC3E}">
        <p14:creationId xmlns:p14="http://schemas.microsoft.com/office/powerpoint/2010/main" val="2072246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AD6C-92EF-E753-C769-8E87E0474C38}"/>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dirty="0"/>
          </a:p>
        </p:txBody>
      </p:sp>
      <p:sp>
        <p:nvSpPr>
          <p:cNvPr id="3" name="Content Placeholder 2">
            <a:extLst>
              <a:ext uri="{FF2B5EF4-FFF2-40B4-BE49-F238E27FC236}">
                <a16:creationId xmlns:a16="http://schemas.microsoft.com/office/drawing/2014/main" id="{63B0DFF4-F77A-A4E0-76E8-DBB02B4CB709}"/>
              </a:ext>
            </a:extLst>
          </p:cNvPr>
          <p:cNvSpPr>
            <a:spLocks noGrp="1"/>
          </p:cNvSpPr>
          <p:nvPr>
            <p:ph idx="1"/>
          </p:nvPr>
        </p:nvSpPr>
        <p:spPr/>
        <p:txBody>
          <a:bodyPr/>
          <a:lstStyle/>
          <a:p>
            <a:r>
              <a:rPr lang="en-US" dirty="0"/>
              <a:t> Giao </a:t>
            </a:r>
            <a:r>
              <a:rPr lang="en-US" dirty="0" err="1"/>
              <a:t>diện</a:t>
            </a:r>
            <a:r>
              <a:rPr lang="en-US" dirty="0"/>
              <a:t> </a:t>
            </a:r>
            <a:r>
              <a:rPr lang="en-US" dirty="0" err="1"/>
              <a:t>trang</a:t>
            </a:r>
            <a:r>
              <a:rPr lang="en-US" dirty="0"/>
              <a:t> </a:t>
            </a:r>
            <a:r>
              <a:rPr lang="en-US" dirty="0" err="1"/>
              <a:t>đăng</a:t>
            </a:r>
            <a:r>
              <a:rPr lang="en-US" dirty="0"/>
              <a:t> </a:t>
            </a:r>
            <a:r>
              <a:rPr lang="en-US" dirty="0" err="1"/>
              <a:t>nhập</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A6B775E-9CBF-99A4-C2F0-BD9102821035}"/>
              </a:ext>
            </a:extLst>
          </p:cNvPr>
          <p:cNvSpPr>
            <a:spLocks noGrp="1"/>
          </p:cNvSpPr>
          <p:nvPr>
            <p:ph type="sldNum" sz="quarter" idx="12"/>
          </p:nvPr>
        </p:nvSpPr>
        <p:spPr/>
        <p:txBody>
          <a:bodyPr/>
          <a:lstStyle/>
          <a:p>
            <a:fld id="{7ABBADF3-30DB-48D9-82C9-3A079DF6858D}" type="slidenum">
              <a:rPr lang="en-US" smtClean="0"/>
              <a:t>40</a:t>
            </a:fld>
            <a:endParaRPr lang="en-US"/>
          </a:p>
        </p:txBody>
      </p:sp>
      <p:pic>
        <p:nvPicPr>
          <p:cNvPr id="5" name="Picture 4">
            <a:extLst>
              <a:ext uri="{FF2B5EF4-FFF2-40B4-BE49-F238E27FC236}">
                <a16:creationId xmlns:a16="http://schemas.microsoft.com/office/drawing/2014/main" id="{AFDC9721-243B-2D09-8BB4-7AC1CDB2C073}"/>
              </a:ext>
            </a:extLst>
          </p:cNvPr>
          <p:cNvPicPr>
            <a:picLocks noChangeAspect="1"/>
          </p:cNvPicPr>
          <p:nvPr/>
        </p:nvPicPr>
        <p:blipFill>
          <a:blip r:embed="rId2"/>
          <a:srcRect l="21356" t="20034" r="21516" b="25394"/>
          <a:stretch>
            <a:fillRect/>
          </a:stretch>
        </p:blipFill>
        <p:spPr>
          <a:xfrm>
            <a:off x="1960880" y="1503680"/>
            <a:ext cx="8615680" cy="4094479"/>
          </a:xfrm>
          <a:prstGeom prst="rect">
            <a:avLst/>
          </a:prstGeom>
          <a:noFill/>
          <a:ln>
            <a:noFill/>
          </a:ln>
        </p:spPr>
      </p:pic>
    </p:spTree>
    <p:extLst>
      <p:ext uri="{BB962C8B-B14F-4D97-AF65-F5344CB8AC3E}">
        <p14:creationId xmlns:p14="http://schemas.microsoft.com/office/powerpoint/2010/main" val="19353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A22D-2955-6500-845E-6356736716F7}"/>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dirty="0"/>
          </a:p>
        </p:txBody>
      </p:sp>
      <p:sp>
        <p:nvSpPr>
          <p:cNvPr id="3" name="Content Placeholder 2">
            <a:extLst>
              <a:ext uri="{FF2B5EF4-FFF2-40B4-BE49-F238E27FC236}">
                <a16:creationId xmlns:a16="http://schemas.microsoft.com/office/drawing/2014/main" id="{8E584747-B555-66CC-2062-9C3EFA31AACC}"/>
              </a:ext>
            </a:extLst>
          </p:cNvPr>
          <p:cNvSpPr>
            <a:spLocks noGrp="1"/>
          </p:cNvSpPr>
          <p:nvPr>
            <p:ph idx="1"/>
          </p:nvPr>
        </p:nvSpPr>
        <p:spPr/>
        <p:txBody>
          <a:bodyPr/>
          <a:lstStyle/>
          <a:p>
            <a:r>
              <a:rPr lang="en-US" dirty="0"/>
              <a:t> Giao </a:t>
            </a:r>
            <a:r>
              <a:rPr lang="en-US" dirty="0" err="1"/>
              <a:t>diện</a:t>
            </a:r>
            <a:r>
              <a:rPr lang="en-US" dirty="0"/>
              <a:t> </a:t>
            </a:r>
            <a:r>
              <a:rPr lang="en-US" dirty="0" err="1"/>
              <a:t>trang</a:t>
            </a:r>
            <a:r>
              <a:rPr lang="en-US" dirty="0"/>
              <a:t> </a:t>
            </a:r>
            <a:r>
              <a:rPr lang="en-US" dirty="0" err="1"/>
              <a:t>chủ</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74363643-2026-2875-2E09-DD58DD22AD4C}"/>
              </a:ext>
            </a:extLst>
          </p:cNvPr>
          <p:cNvSpPr>
            <a:spLocks noGrp="1"/>
          </p:cNvSpPr>
          <p:nvPr>
            <p:ph type="sldNum" sz="quarter" idx="12"/>
          </p:nvPr>
        </p:nvSpPr>
        <p:spPr/>
        <p:txBody>
          <a:bodyPr/>
          <a:lstStyle/>
          <a:p>
            <a:fld id="{7ABBADF3-30DB-48D9-82C9-3A079DF6858D}" type="slidenum">
              <a:rPr lang="en-US" smtClean="0"/>
              <a:t>41</a:t>
            </a:fld>
            <a:endParaRPr lang="en-US"/>
          </a:p>
        </p:txBody>
      </p:sp>
      <p:pic>
        <p:nvPicPr>
          <p:cNvPr id="5" name="Picture 4">
            <a:extLst>
              <a:ext uri="{FF2B5EF4-FFF2-40B4-BE49-F238E27FC236}">
                <a16:creationId xmlns:a16="http://schemas.microsoft.com/office/drawing/2014/main" id="{0D5F36F8-ABC0-4EBA-EB7B-09AC09C56619}"/>
              </a:ext>
            </a:extLst>
          </p:cNvPr>
          <p:cNvPicPr>
            <a:picLocks noChangeAspect="1"/>
          </p:cNvPicPr>
          <p:nvPr/>
        </p:nvPicPr>
        <p:blipFill>
          <a:blip r:embed="rId2"/>
          <a:srcRect r="110" b="5283"/>
          <a:stretch>
            <a:fillRect/>
          </a:stretch>
        </p:blipFill>
        <p:spPr>
          <a:xfrm>
            <a:off x="1026160" y="1452880"/>
            <a:ext cx="10088879" cy="4519400"/>
          </a:xfrm>
          <a:prstGeom prst="rect">
            <a:avLst/>
          </a:prstGeom>
          <a:noFill/>
          <a:ln>
            <a:noFill/>
          </a:ln>
        </p:spPr>
      </p:pic>
    </p:spTree>
    <p:extLst>
      <p:ext uri="{BB962C8B-B14F-4D97-AF65-F5344CB8AC3E}">
        <p14:creationId xmlns:p14="http://schemas.microsoft.com/office/powerpoint/2010/main" val="24050912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684E-347D-4649-8801-39E2359F45AA}"/>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dirty="0"/>
          </a:p>
        </p:txBody>
      </p:sp>
      <p:sp>
        <p:nvSpPr>
          <p:cNvPr id="3" name="Content Placeholder 2">
            <a:extLst>
              <a:ext uri="{FF2B5EF4-FFF2-40B4-BE49-F238E27FC236}">
                <a16:creationId xmlns:a16="http://schemas.microsoft.com/office/drawing/2014/main" id="{FA37C954-743A-695B-65A2-55E1D757256B}"/>
              </a:ext>
            </a:extLst>
          </p:cNvPr>
          <p:cNvSpPr>
            <a:spLocks noGrp="1"/>
          </p:cNvSpPr>
          <p:nvPr>
            <p:ph idx="1"/>
          </p:nvPr>
        </p:nvSpPr>
        <p:spPr/>
        <p:txBody>
          <a:bodyPr/>
          <a:lstStyle/>
          <a:p>
            <a:r>
              <a:rPr lang="en-US" dirty="0"/>
              <a:t> Giao </a:t>
            </a:r>
            <a:r>
              <a:rPr lang="en-US" dirty="0" err="1"/>
              <a:t>diện</a:t>
            </a:r>
            <a:r>
              <a:rPr lang="en-US" dirty="0"/>
              <a:t> </a:t>
            </a:r>
            <a:r>
              <a:rPr lang="en-US" dirty="0" err="1"/>
              <a:t>thống</a:t>
            </a:r>
            <a:r>
              <a:rPr lang="en-US" dirty="0"/>
              <a:t> </a:t>
            </a:r>
            <a:r>
              <a:rPr lang="en-US" dirty="0" err="1"/>
              <a:t>kê</a:t>
            </a:r>
            <a:r>
              <a:rPr lang="en-US" dirty="0"/>
              <a:t> </a:t>
            </a:r>
            <a:r>
              <a:rPr lang="en-US" dirty="0" err="1"/>
              <a:t>báo</a:t>
            </a:r>
            <a:r>
              <a:rPr lang="en-US" dirty="0"/>
              <a:t> </a:t>
            </a:r>
            <a:r>
              <a:rPr lang="en-US" dirty="0" err="1"/>
              <a:t>cáo</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279D91A5-B06A-9FAF-F3D4-6DF279AD596B}"/>
              </a:ext>
            </a:extLst>
          </p:cNvPr>
          <p:cNvSpPr>
            <a:spLocks noGrp="1"/>
          </p:cNvSpPr>
          <p:nvPr>
            <p:ph type="sldNum" sz="quarter" idx="12"/>
          </p:nvPr>
        </p:nvSpPr>
        <p:spPr/>
        <p:txBody>
          <a:bodyPr/>
          <a:lstStyle/>
          <a:p>
            <a:fld id="{7ABBADF3-30DB-48D9-82C9-3A079DF6858D}" type="slidenum">
              <a:rPr lang="en-US" smtClean="0"/>
              <a:t>42</a:t>
            </a:fld>
            <a:endParaRPr lang="en-US"/>
          </a:p>
        </p:txBody>
      </p:sp>
      <p:pic>
        <p:nvPicPr>
          <p:cNvPr id="5" name="Picture 4">
            <a:extLst>
              <a:ext uri="{FF2B5EF4-FFF2-40B4-BE49-F238E27FC236}">
                <a16:creationId xmlns:a16="http://schemas.microsoft.com/office/drawing/2014/main" id="{468990D5-7C69-A8D1-FBCE-60F1BFC00CCF}"/>
              </a:ext>
            </a:extLst>
          </p:cNvPr>
          <p:cNvPicPr>
            <a:picLocks noChangeAspect="1"/>
          </p:cNvPicPr>
          <p:nvPr/>
        </p:nvPicPr>
        <p:blipFill>
          <a:blip r:embed="rId2"/>
          <a:srcRect r="232" b="7757"/>
          <a:stretch>
            <a:fillRect/>
          </a:stretch>
        </p:blipFill>
        <p:spPr>
          <a:xfrm>
            <a:off x="838200" y="1513840"/>
            <a:ext cx="10515600" cy="4458440"/>
          </a:xfrm>
          <a:prstGeom prst="rect">
            <a:avLst/>
          </a:prstGeom>
          <a:noFill/>
          <a:ln>
            <a:noFill/>
          </a:ln>
        </p:spPr>
      </p:pic>
    </p:spTree>
    <p:extLst>
      <p:ext uri="{BB962C8B-B14F-4D97-AF65-F5344CB8AC3E}">
        <p14:creationId xmlns:p14="http://schemas.microsoft.com/office/powerpoint/2010/main" val="4232914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err="1"/>
              <a:t>Cảm</a:t>
            </a:r>
            <a:r>
              <a:rPr lang="en-US" dirty="0"/>
              <a:t> ơn sự chú ý lắng nghe của các thầy cô và các </a:t>
            </a:r>
            <a:r>
              <a:rPr lang="en-US" dirty="0" err="1"/>
              <a:t>quý</a:t>
            </a:r>
            <a:r>
              <a:rPr lang="en-US" dirty="0"/>
              <a:t> </a:t>
            </a:r>
            <a:r>
              <a:rPr lang="en-US" dirty="0" err="1"/>
              <a:t>vị</a:t>
            </a:r>
            <a:r>
              <a:rPr lang="en-US" dirty="0"/>
              <a:t>!</a:t>
            </a:r>
            <a:endParaRPr lang="vi-VN" dirty="0"/>
          </a:p>
        </p:txBody>
      </p:sp>
      <p:sp>
        <p:nvSpPr>
          <p:cNvPr id="5" name="Text Placeholder 4"/>
          <p:cNvSpPr>
            <a:spLocks noGrp="1"/>
          </p:cNvSpPr>
          <p:nvPr>
            <p:ph type="body" idx="1"/>
          </p:nvPr>
        </p:nvSpPr>
        <p:spPr/>
        <p:txBody>
          <a:bodyPr/>
          <a:lstStyle/>
          <a:p>
            <a:endParaRPr lang="vi-VN" dirty="0"/>
          </a:p>
        </p:txBody>
      </p:sp>
    </p:spTree>
  </p:cSld>
  <p:clrMapOvr>
    <a:masterClrMapping/>
  </p:clrMapOvr>
</p:sld>
</file>

<file path=ppt/theme/theme1.xml><?xml version="1.0" encoding="utf-8"?>
<a:theme xmlns:a="http://schemas.openxmlformats.org/drawingml/2006/main" name="VIU_SlideTemplate_sim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VIU_SlideTemplate_simle</Template>
  <TotalTime>132</TotalTime>
  <Words>2272</Words>
  <Application>Microsoft Office PowerPoint</Application>
  <PresentationFormat>Widescreen</PresentationFormat>
  <Paragraphs>749</Paragraphs>
  <Slides>43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#9Slide03 Bebas Neue Bold</vt:lpstr>
      <vt:lpstr>.VnTime</vt:lpstr>
      <vt:lpstr>Arial</vt:lpstr>
      <vt:lpstr>Calibri</vt:lpstr>
      <vt:lpstr>Times New Roman</vt:lpstr>
      <vt:lpstr>Wingdings</vt:lpstr>
      <vt:lpstr>VIU_SlideTemplate_simle</vt:lpstr>
      <vt:lpstr>XÂY DỰNG ỨNG DỤNG QUẢN LÝ KHO HÀNG</vt:lpstr>
      <vt:lpstr>NỘI DUNG CHÍNH</vt:lpstr>
      <vt:lpstr>Đặt vấn đề</vt:lpstr>
      <vt:lpstr>Mục tiêu nghiên cứu</vt:lpstr>
      <vt:lpstr>Đối tượng và phạm vi nghiên cứu</vt:lpstr>
      <vt:lpstr>Phương pháp nghiên cứu</vt:lpstr>
      <vt:lpstr>Khảo sát </vt:lpstr>
      <vt:lpstr>Kết quả khảo sát</vt:lpstr>
      <vt:lpstr>Quy trình xử lý</vt:lpstr>
      <vt:lpstr>Đánh giá ưu, nhược điểm của hệ thống cũ</vt:lpstr>
      <vt:lpstr>Phân tích thiết kế hệ thống</vt:lpstr>
      <vt:lpstr>Sơ đồ phân rã chức năng</vt:lpstr>
      <vt:lpstr>Sơ đồ mức ngữ cảnh</vt:lpstr>
      <vt:lpstr>Sơ đồ mức đỉnh</vt:lpstr>
      <vt:lpstr>Sơ đồ mức dưới đỉnh với chức năng quản lý kệ, kho hàng</vt:lpstr>
      <vt:lpstr>Sơ đồ mức dưới đỉnh với chức năng quản lý hàng hóa</vt:lpstr>
      <vt:lpstr>Sơ đồ mức dưới đỉnh với chức năng quản lý phiếu nhập/xuất</vt:lpstr>
      <vt:lpstr>Sơ đồ mức dưới đỉnh với chức năng quản lý nhân viên</vt:lpstr>
      <vt:lpstr>Sơ đồ mức dưới đỉnh với chức năng thống kê báo cáo</vt:lpstr>
      <vt:lpstr>Phân tích thiết kế về dữ liệu</vt:lpstr>
      <vt:lpstr>Chuẩn hóa dữ liệu từ thông tin hàng hóa</vt:lpstr>
      <vt:lpstr>Chuẩn hóa dữ liệu từ thông tin nhân viên</vt:lpstr>
      <vt:lpstr>Chuẩn hóa dữ liệu từ thông tin nhà cung cấp</vt:lpstr>
      <vt:lpstr>Chuẩn hóa dữ liệu từ thông tin kho</vt:lpstr>
      <vt:lpstr>Chuẩn hóa dữ liệu từ thông tin kệ</vt:lpstr>
      <vt:lpstr>Chuẩn hóa dữ liệu từ thông tin phiếu nhập</vt:lpstr>
      <vt:lpstr>Chuẩn hóa dữ liệu từ thông tin phiếu xuất</vt:lpstr>
      <vt:lpstr>Ma trận thực thể</vt:lpstr>
      <vt:lpstr>Sơ đồ diagram</vt:lpstr>
      <vt:lpstr>Thiết kế hệ thống</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giao diện</vt:lpstr>
      <vt:lpstr>Thiết kế giao diện</vt:lpstr>
      <vt:lpstr>Thiết kế giao diện</vt:lpstr>
      <vt:lpstr>Cảm ơn sự chú ý lắng nghe của các thầy cô và các quý vị!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Hong-Quan Nguyen</dc:creator>
  <cp:lastModifiedBy>Cao Van Hung</cp:lastModifiedBy>
  <cp:revision>134</cp:revision>
  <dcterms:created xsi:type="dcterms:W3CDTF">2024-09-03T07:32:00Z</dcterms:created>
  <dcterms:modified xsi:type="dcterms:W3CDTF">2026-01-18T07:01:41Z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9BE7387377224F4596EB39FD296A00BE_13</vt:lpwstr>
  </property>
  <property fmtid="{D5CDD505-2E9C-101B-9397-08002B2CF9AE}" pid="3" name="KSOProductBuildVer">
    <vt:lpwstr>1033-12.2.0.23196</vt:lpwstr>
  </property>
</Properties>
</file>